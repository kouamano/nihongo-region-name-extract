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7" r:id="rId2"/>
    <p:sldId id="306"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12"/>
    <p:restoredTop sz="94658"/>
  </p:normalViewPr>
  <p:slideViewPr>
    <p:cSldViewPr snapToGrid="0">
      <p:cViewPr varScale="1">
        <p:scale>
          <a:sx n="116" d="100"/>
          <a:sy n="116" d="100"/>
        </p:scale>
        <p:origin x="216"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6A632-7A03-97D6-06E6-0EF0D62B34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3631936-173F-8F1F-D668-004CD4BB5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4E34DC1-EA52-6820-093B-3325DC9E835E}"/>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5" name="フッター プレースホルダー 4">
            <a:extLst>
              <a:ext uri="{FF2B5EF4-FFF2-40B4-BE49-F238E27FC236}">
                <a16:creationId xmlns:a16="http://schemas.microsoft.com/office/drawing/2014/main" id="{2F5292B1-1DB2-5D30-B95D-14114DB0C9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CB9934-3D96-5EE5-142C-4EA0B150B50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671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A1BD27-5452-BE2F-9511-48DA0408F6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5889CB-59F7-D6BC-9274-59C40BC94E9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41E0B9-ADE3-E0ED-5B61-CA0048BE1375}"/>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5" name="フッター プレースホルダー 4">
            <a:extLst>
              <a:ext uri="{FF2B5EF4-FFF2-40B4-BE49-F238E27FC236}">
                <a16:creationId xmlns:a16="http://schemas.microsoft.com/office/drawing/2014/main" id="{63C547F7-2590-90EB-A176-23C831FAB99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77F363-5620-E337-DC00-AF52392CAE5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314534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8AFB6-A320-CAF1-87A5-2D97163836B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374E81-70CC-4423-09AA-174A2CA6DD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7F7F049-9A50-CA53-D176-71EA34995C4D}"/>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5" name="フッター プレースホルダー 4">
            <a:extLst>
              <a:ext uri="{FF2B5EF4-FFF2-40B4-BE49-F238E27FC236}">
                <a16:creationId xmlns:a16="http://schemas.microsoft.com/office/drawing/2014/main" id="{D8DB405D-7621-CDB8-8048-A5A36E53D7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1DDDE3-36B9-E78A-839D-8B068ACF6DCE}"/>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192029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1A47A7-B89B-8076-6D9B-8D5AC1C60BE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A2E04C-91E5-75C9-81A6-E597A649C0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A6BC579-EA02-00FB-01CE-9BFDE251BF9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5C043F0-AC83-44E5-C367-AD3BCE55DFED}"/>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6" name="フッター プレースホルダー 5">
            <a:extLst>
              <a:ext uri="{FF2B5EF4-FFF2-40B4-BE49-F238E27FC236}">
                <a16:creationId xmlns:a16="http://schemas.microsoft.com/office/drawing/2014/main" id="{B98B8877-1693-FF2A-DD22-6072009E78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618FC4-731D-A3EA-E437-41947980846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1695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ACE69-5C3A-A8B0-69CA-FDDF79C02D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7F15CE-C0AA-A8EC-7450-6476E5F3B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00725B5-8E2B-041E-CB1A-EF3E8B70D24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12D8A55-5AD7-8454-060F-F3B928F7C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770827D-BE9F-C60D-0D4A-56BE066761B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4CAC34-A91B-913F-112C-1E98360A9B16}"/>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8" name="フッター プレースホルダー 7">
            <a:extLst>
              <a:ext uri="{FF2B5EF4-FFF2-40B4-BE49-F238E27FC236}">
                <a16:creationId xmlns:a16="http://schemas.microsoft.com/office/drawing/2014/main" id="{2C9ABD3C-1F40-5841-9942-FE91F313B1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27FB7E5-8B10-1FEF-9E45-ED225BF7177A}"/>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96875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37E24E-F998-488C-A967-E2384FC951D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A32024B-6100-9240-248B-CA2A43F426D1}"/>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4" name="フッター プレースホルダー 3">
            <a:extLst>
              <a:ext uri="{FF2B5EF4-FFF2-40B4-BE49-F238E27FC236}">
                <a16:creationId xmlns:a16="http://schemas.microsoft.com/office/drawing/2014/main" id="{FF2EA323-B1D3-A60C-169A-B086CB081EF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A34271-057B-10C7-132C-A4638553ED8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50477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35FA7A-93AD-D2B1-05D6-7FAF32A2C55F}"/>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3" name="フッター プレースホルダー 2">
            <a:extLst>
              <a:ext uri="{FF2B5EF4-FFF2-40B4-BE49-F238E27FC236}">
                <a16:creationId xmlns:a16="http://schemas.microsoft.com/office/drawing/2014/main" id="{CFE10980-D7A5-C75A-35A1-74922B872CE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98CCC2E-0372-7984-27A3-E7630330C95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768944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35452-6694-48B0-2F4B-D8613133BC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B5EA1B-7CB3-15AD-9339-95BED1FBE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6403982-7C57-B123-55F6-4EBCC487E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DE23125-1312-B43D-D08E-A33AEE702A2C}"/>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6" name="フッター プレースホルダー 5">
            <a:extLst>
              <a:ext uri="{FF2B5EF4-FFF2-40B4-BE49-F238E27FC236}">
                <a16:creationId xmlns:a16="http://schemas.microsoft.com/office/drawing/2014/main" id="{80C7F1C1-D5C2-78D7-ADF0-A07C094F4A8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4415F6-747E-12D7-7100-D414E765BC9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400988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B85E6-A594-1B2E-CBFB-9F5783A90A2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9F6E2E7-84FD-0A2C-CA9D-0147AC1AD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D9FF62D-1B1E-700E-34E0-7DF45DE18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D71ECEB-348F-8EA2-45B3-C830709818FE}"/>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6" name="フッター プレースホルダー 5">
            <a:extLst>
              <a:ext uri="{FF2B5EF4-FFF2-40B4-BE49-F238E27FC236}">
                <a16:creationId xmlns:a16="http://schemas.microsoft.com/office/drawing/2014/main" id="{53D40AEA-1771-3C1F-D38D-2AABEEB880B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A4CE8C9-A7E6-E91D-5202-34BC2A94AB71}"/>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73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AA0D9F-9CE3-D3D7-C4D8-34A0001011C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AACF51F-FE5C-6320-74D8-5117657B4E3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2519A4-5425-3161-51E4-E803C2735863}"/>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5" name="フッター プレースホルダー 4">
            <a:extLst>
              <a:ext uri="{FF2B5EF4-FFF2-40B4-BE49-F238E27FC236}">
                <a16:creationId xmlns:a16="http://schemas.microsoft.com/office/drawing/2014/main" id="{4DA9A69C-3E26-C307-7312-17E5AB5F55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78011B-4581-EE2A-FA4E-6DBD62712FB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199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DC0F4E0-25A5-D9D0-89A5-79A67F1DDD7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B8CFB4-DC17-7E0C-329E-736FD930325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E2CCDFC-48EB-123C-AE7C-FD40758CB4F3}"/>
              </a:ext>
            </a:extLst>
          </p:cNvPr>
          <p:cNvSpPr>
            <a:spLocks noGrp="1"/>
          </p:cNvSpPr>
          <p:nvPr>
            <p:ph type="dt" sz="half" idx="10"/>
          </p:nvPr>
        </p:nvSpPr>
        <p:spPr/>
        <p:txBody>
          <a:bodyPr/>
          <a:lstStyle/>
          <a:p>
            <a:fld id="{716789AD-CAC3-AD41-B5C9-BF5C62A1889D}" type="datetimeFigureOut">
              <a:rPr kumimoji="1" lang="ja-JP" altLang="en-US" smtClean="0"/>
              <a:t>2026/4/21</a:t>
            </a:fld>
            <a:endParaRPr kumimoji="1" lang="ja-JP" altLang="en-US"/>
          </a:p>
        </p:txBody>
      </p:sp>
      <p:sp>
        <p:nvSpPr>
          <p:cNvPr id="5" name="フッター プレースホルダー 4">
            <a:extLst>
              <a:ext uri="{FF2B5EF4-FFF2-40B4-BE49-F238E27FC236}">
                <a16:creationId xmlns:a16="http://schemas.microsoft.com/office/drawing/2014/main" id="{BD272EE4-2DDF-228C-8B9B-994A4AA454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D7B0FA-04F6-8EC7-E928-FC997B43EE9C}"/>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86231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C346513-02ED-46E1-E87A-2B3C36119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7899317-66E8-B955-B11F-CB6B16AE52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0442F6-8CF5-9167-1176-7168D75F03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6789AD-CAC3-AD41-B5C9-BF5C62A1889D}" type="datetimeFigureOut">
              <a:rPr kumimoji="1" lang="ja-JP" altLang="en-US" smtClean="0"/>
              <a:t>2026/4/21</a:t>
            </a:fld>
            <a:endParaRPr kumimoji="1" lang="ja-JP" altLang="en-US"/>
          </a:p>
        </p:txBody>
      </p:sp>
      <p:sp>
        <p:nvSpPr>
          <p:cNvPr id="5" name="フッター プレースホルダー 4">
            <a:extLst>
              <a:ext uri="{FF2B5EF4-FFF2-40B4-BE49-F238E27FC236}">
                <a16:creationId xmlns:a16="http://schemas.microsoft.com/office/drawing/2014/main" id="{7C368A6B-A177-5391-D0E1-6593606D2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5F73624-1AFB-ABE8-B3E2-ED7CE2B7F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723563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clanthology.org/C14-1147.pdf" TargetMode="External"/><Relationship Id="rId2" Type="http://schemas.openxmlformats.org/officeDocument/2006/relationships/hyperlink" Target="https://www.tandfonline.com/doi/full/10.1080/13658816.2024.240518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7EBDA6F-2E1E-1534-316C-91888CC6B51D}"/>
              </a:ext>
            </a:extLst>
          </p:cNvPr>
          <p:cNvSpPr txBox="1"/>
          <p:nvPr/>
        </p:nvSpPr>
        <p:spPr>
          <a:xfrm>
            <a:off x="4849505" y="159488"/>
            <a:ext cx="2492990" cy="369332"/>
          </a:xfrm>
          <a:prstGeom prst="rect">
            <a:avLst/>
          </a:prstGeom>
          <a:noFill/>
        </p:spPr>
        <p:txBody>
          <a:bodyPr wrap="none" rtlCol="0">
            <a:spAutoFit/>
          </a:bodyPr>
          <a:lstStyle/>
          <a:p>
            <a:r>
              <a:rPr kumimoji="1" lang="ja-JP" altLang="en-US"/>
              <a:t>先行研究調査のお願い</a:t>
            </a:r>
          </a:p>
        </p:txBody>
      </p:sp>
      <p:sp>
        <p:nvSpPr>
          <p:cNvPr id="5" name="テキスト ボックス 4">
            <a:extLst>
              <a:ext uri="{FF2B5EF4-FFF2-40B4-BE49-F238E27FC236}">
                <a16:creationId xmlns:a16="http://schemas.microsoft.com/office/drawing/2014/main" id="{4F20E6A3-D9FB-ECD3-2BC1-619CCFB569A4}"/>
              </a:ext>
            </a:extLst>
          </p:cNvPr>
          <p:cNvSpPr txBox="1"/>
          <p:nvPr/>
        </p:nvSpPr>
        <p:spPr>
          <a:xfrm>
            <a:off x="1733267" y="1425148"/>
            <a:ext cx="8725466" cy="3693319"/>
          </a:xfrm>
          <a:prstGeom prst="rect">
            <a:avLst/>
          </a:prstGeom>
          <a:noFill/>
          <a:ln>
            <a:solidFill>
              <a:schemeClr val="tx1"/>
            </a:solidFill>
          </a:ln>
        </p:spPr>
        <p:txBody>
          <a:bodyPr wrap="none" rtlCol="0">
            <a:spAutoFit/>
          </a:bodyPr>
          <a:lstStyle/>
          <a:p>
            <a:r>
              <a:rPr kumimoji="1" lang="ja-JP" altLang="en-US"/>
              <a:t>現在までの調査のまとめとして、次ページに代表的な研究をリストしてあります。</a:t>
            </a:r>
            <a:endParaRPr kumimoji="1" lang="en-US" altLang="ja-JP" dirty="0"/>
          </a:p>
          <a:p>
            <a:r>
              <a:rPr lang="ja-JP" altLang="en-US"/>
              <a:t>ほかの</a:t>
            </a:r>
            <a:r>
              <a:rPr kumimoji="1" lang="ja-JP" altLang="en-US"/>
              <a:t>方法等の存在も確認したいので追加の調査をお願いします。</a:t>
            </a:r>
            <a:endParaRPr kumimoji="1" lang="en-US" altLang="ja-JP" dirty="0"/>
          </a:p>
          <a:p>
            <a:endParaRPr lang="en-US" altLang="ja-JP" dirty="0"/>
          </a:p>
          <a:p>
            <a:r>
              <a:rPr kumimoji="1" lang="ja-JP" altLang="en-US"/>
              <a:t>・調査の観点</a:t>
            </a:r>
            <a:endParaRPr kumimoji="1" lang="en-US" altLang="ja-JP" dirty="0"/>
          </a:p>
          <a:p>
            <a:r>
              <a:rPr lang="ja-JP" altLang="en-US"/>
              <a:t>　　・より古いもの</a:t>
            </a:r>
            <a:endParaRPr lang="en-US" altLang="ja-JP" dirty="0"/>
          </a:p>
          <a:p>
            <a:r>
              <a:rPr kumimoji="1" lang="ja-JP" altLang="en-US"/>
              <a:t>　　・本研究と同じ手法をとるもの</a:t>
            </a:r>
            <a:endParaRPr kumimoji="1" lang="en-US" altLang="ja-JP" dirty="0"/>
          </a:p>
          <a:p>
            <a:r>
              <a:rPr lang="ja-JP" altLang="en-US"/>
              <a:t>　　・同様の目的でその他の手法を用いるもの</a:t>
            </a:r>
            <a:endParaRPr kumimoji="1" lang="en-US" altLang="ja-JP" dirty="0"/>
          </a:p>
          <a:p>
            <a:r>
              <a:rPr lang="ja-JP" altLang="en-US"/>
              <a:t>　　・日本語を対象としたもの</a:t>
            </a:r>
            <a:endParaRPr lang="en-US" altLang="ja-JP" dirty="0"/>
          </a:p>
          <a:p>
            <a:r>
              <a:rPr lang="ja-JP" altLang="en-US"/>
              <a:t>　　・その他紹介しておくと話が面白くなりそうなもの</a:t>
            </a:r>
            <a:endParaRPr lang="en-US" altLang="ja-JP" dirty="0"/>
          </a:p>
          <a:p>
            <a:endParaRPr kumimoji="1" lang="en-US" altLang="ja-JP" dirty="0"/>
          </a:p>
          <a:p>
            <a:r>
              <a:rPr lang="ja-JP" altLang="en-US"/>
              <a:t>・調査結果の型式</a:t>
            </a:r>
            <a:endParaRPr lang="en-US" altLang="ja-JP" dirty="0"/>
          </a:p>
          <a:p>
            <a:r>
              <a:rPr kumimoji="1" lang="ja-JP" altLang="en-US"/>
              <a:t>　テキストで書誌情報をまとめたものに、簡単な説明を付与してください。</a:t>
            </a:r>
            <a:endParaRPr kumimoji="1" lang="en-US" altLang="ja-JP" dirty="0"/>
          </a:p>
          <a:p>
            <a:r>
              <a:rPr lang="ja-JP" altLang="en-US"/>
              <a:t>　説明の付与は次ページを参考にしてください。</a:t>
            </a:r>
            <a:endParaRPr kumimoji="1" lang="ja-JP" altLang="en-US"/>
          </a:p>
        </p:txBody>
      </p:sp>
    </p:spTree>
    <p:extLst>
      <p:ext uri="{BB962C8B-B14F-4D97-AF65-F5344CB8AC3E}">
        <p14:creationId xmlns:p14="http://schemas.microsoft.com/office/powerpoint/2010/main" val="1776294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2D95-6BB5-08C4-6C52-791A0EAD6D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9F9B36-6E1B-F1B7-3CA0-607DD3CB503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先行研究</a:t>
            </a:r>
          </a:p>
        </p:txBody>
      </p:sp>
      <p:sp>
        <p:nvSpPr>
          <p:cNvPr id="5" name="テキスト ボックス 4">
            <a:extLst>
              <a:ext uri="{FF2B5EF4-FFF2-40B4-BE49-F238E27FC236}">
                <a16:creationId xmlns:a16="http://schemas.microsoft.com/office/drawing/2014/main" id="{A11988AF-0076-B539-AA4D-FB9D86D4B661}"/>
              </a:ext>
            </a:extLst>
          </p:cNvPr>
          <p:cNvSpPr txBox="1"/>
          <p:nvPr/>
        </p:nvSpPr>
        <p:spPr>
          <a:xfrm>
            <a:off x="0" y="577517"/>
            <a:ext cx="12192000" cy="3970318"/>
          </a:xfrm>
          <a:prstGeom prst="rect">
            <a:avLst/>
          </a:prstGeom>
          <a:noFill/>
        </p:spPr>
        <p:txBody>
          <a:bodyPr wrap="square" rtlCol="0">
            <a:spAutoFit/>
          </a:bodyPr>
          <a:lstStyle/>
          <a:p>
            <a:pPr marL="285750" indent="-285750">
              <a:buFont typeface="Arial" panose="020B0604020202020204" pitchFamily="34" charset="0"/>
              <a:buChar char="•"/>
            </a:pPr>
            <a:r>
              <a:rPr lang="en" altLang="ja-JP" dirty="0"/>
              <a:t>Toponym resolution leveraging lightweight and open-source large language models and geo-knowledge. 2024.  (</a:t>
            </a:r>
            <a:r>
              <a:rPr lang="en" altLang="ja-JP" dirty="0">
                <a:hlinkClick r:id="rId2"/>
              </a:rPr>
              <a:t>https://www.tandfonline.com/doi/full/10.1080/13658816.2024.2405182</a:t>
            </a:r>
            <a:r>
              <a:rPr lang="en" altLang="ja-JP" dirty="0"/>
              <a:t>)</a:t>
            </a:r>
          </a:p>
          <a:p>
            <a:pPr marL="742950" lvl="1" indent="-285750">
              <a:buFont typeface="Arial" panose="020B0604020202020204" pitchFamily="34" charset="0"/>
              <a:buChar char="•"/>
            </a:pPr>
            <a:r>
              <a:rPr lang="ja-JP" altLang="en-US"/>
              <a:t>地名から地理的な位置を推定する</a:t>
            </a:r>
            <a:endParaRPr lang="en-US" altLang="ja-JP" dirty="0"/>
          </a:p>
          <a:p>
            <a:pPr marL="742950" lvl="1" indent="-285750">
              <a:buFont typeface="Arial" panose="020B0604020202020204" pitchFamily="34" charset="0"/>
              <a:buChar char="•"/>
            </a:pPr>
            <a:r>
              <a:rPr lang="en-US" altLang="ja-JP" dirty="0"/>
              <a:t>GIS</a:t>
            </a:r>
            <a:r>
              <a:rPr lang="ja-JP" altLang="en-US"/>
              <a:t>情報を使う</a:t>
            </a:r>
            <a:endParaRPr lang="en-US" altLang="ja-JP" dirty="0"/>
          </a:p>
          <a:p>
            <a:pPr marL="742950" lvl="1" indent="-285750">
              <a:buFont typeface="Arial" panose="020B0604020202020204" pitchFamily="34" charset="0"/>
              <a:buChar char="•"/>
            </a:pPr>
            <a:r>
              <a:rPr lang="ja-JP" altLang="en-US"/>
              <a:t>既存</a:t>
            </a:r>
            <a:r>
              <a:rPr lang="en-US" altLang="ja-JP" dirty="0"/>
              <a:t>LLM</a:t>
            </a:r>
            <a:r>
              <a:rPr lang="ja-JP" altLang="en-US"/>
              <a:t>を利用</a:t>
            </a:r>
            <a:endParaRPr lang="en-US" altLang="ja-JP" dirty="0"/>
          </a:p>
          <a:p>
            <a:pPr marL="285750" indent="-285750">
              <a:buFont typeface="Arial" panose="020B0604020202020204" pitchFamily="34" charset="0"/>
              <a:buChar char="•"/>
            </a:pPr>
            <a:r>
              <a:rPr lang="en" altLang="ja-JP" dirty="0"/>
              <a:t>Collective Named Entity Disambiguation using Graph Ranking and Clique Partitioning Approaches. 2014. (</a:t>
            </a:r>
            <a:r>
              <a:rPr lang="en" altLang="ja-JP" dirty="0">
                <a:hlinkClick r:id="rId3"/>
              </a:rPr>
              <a:t>https://aclanthology.org/C14-1147.pdf</a:t>
            </a:r>
            <a:r>
              <a:rPr lang="en" altLang="ja-JP" dirty="0"/>
              <a:t>)</a:t>
            </a:r>
          </a:p>
          <a:p>
            <a:pPr marL="742950" lvl="1" indent="-285750">
              <a:buFont typeface="Arial" panose="020B0604020202020204" pitchFamily="34" charset="0"/>
              <a:buChar char="•"/>
            </a:pPr>
            <a:r>
              <a:rPr lang="en-US" altLang="ja-JP" dirty="0"/>
              <a:t>Knowledge Base</a:t>
            </a:r>
            <a:r>
              <a:rPr lang="ja-JP" altLang="en-US"/>
              <a:t>（辞書）を利用</a:t>
            </a:r>
            <a:endParaRPr lang="en-US" altLang="ja-JP" dirty="0"/>
          </a:p>
          <a:p>
            <a:pPr marL="742950" lvl="1" indent="-285750">
              <a:buFont typeface="Arial" panose="020B0604020202020204" pitchFamily="34" charset="0"/>
              <a:buChar char="•"/>
            </a:pPr>
            <a:r>
              <a:rPr lang="ja-JP" altLang="en-US"/>
              <a:t>グラフ構造を解析（ノードが地名）</a:t>
            </a:r>
            <a:endParaRPr lang="en-US" altLang="ja-JP" dirty="0"/>
          </a:p>
          <a:p>
            <a:pPr marL="742950" lvl="1" indent="-285750">
              <a:buFont typeface="Arial" panose="020B0604020202020204" pitchFamily="34" charset="0"/>
              <a:buChar char="•"/>
            </a:pPr>
            <a:r>
              <a:rPr lang="ja-JP" altLang="en-US"/>
              <a:t>既存</a:t>
            </a:r>
            <a:r>
              <a:rPr lang="en-US" altLang="ja-JP" dirty="0"/>
              <a:t>LLM</a:t>
            </a:r>
            <a:r>
              <a:rPr lang="ja-JP" altLang="en-US"/>
              <a:t>を利用しない</a:t>
            </a:r>
            <a:endParaRPr lang="en-US" altLang="ja-JP" dirty="0"/>
          </a:p>
          <a:p>
            <a:pPr marL="285750" indent="-285750">
              <a:buFont typeface="Arial" panose="020B0604020202020204" pitchFamily="34" charset="0"/>
              <a:buChar char="•"/>
            </a:pPr>
            <a:r>
              <a:rPr lang="ja-JP" altLang="en-US"/>
              <a:t>歴史災害史料からの自動地名抽出に向けた自然言語処理システムの性能評価</a:t>
            </a:r>
            <a:r>
              <a:rPr lang="en-US" altLang="ja-JP" dirty="0"/>
              <a:t>. 2023. (https://</a:t>
            </a:r>
            <a:r>
              <a:rPr lang="en-US" altLang="ja-JP" dirty="0" err="1"/>
              <a:t>ipsj.ixsq.nii.ac.jp</a:t>
            </a:r>
            <a:r>
              <a:rPr lang="en-US" altLang="ja-JP" dirty="0"/>
              <a:t>/record/231338/files/IPSJ-CH2023003.pdf)</a:t>
            </a:r>
          </a:p>
          <a:p>
            <a:pPr marL="742950" lvl="1" indent="-285750">
              <a:buFont typeface="Arial" panose="020B0604020202020204" pitchFamily="34" charset="0"/>
              <a:buChar char="•"/>
            </a:pPr>
            <a:r>
              <a:rPr lang="ja-JP" altLang="en-US"/>
              <a:t>固有表現抽出と</a:t>
            </a:r>
            <a:r>
              <a:rPr lang="en-US" altLang="ja-JP" dirty="0"/>
              <a:t>LLM</a:t>
            </a:r>
            <a:r>
              <a:rPr lang="ja-JP" altLang="en-US"/>
              <a:t>に対して評価（連結利用は行なっていない）</a:t>
            </a:r>
            <a:endParaRPr lang="en-US" altLang="ja-JP" dirty="0"/>
          </a:p>
          <a:p>
            <a:pPr marL="742950" lvl="1" indent="-285750">
              <a:buFont typeface="Arial" panose="020B0604020202020204" pitchFamily="34" charset="0"/>
              <a:buChar char="•"/>
            </a:pPr>
            <a:r>
              <a:rPr lang="ja-JP" altLang="en-US"/>
              <a:t>「正解」に対する正答の評価</a:t>
            </a:r>
            <a:endParaRPr lang="en-US" altLang="ja-JP" dirty="0"/>
          </a:p>
        </p:txBody>
      </p:sp>
      <p:sp>
        <p:nvSpPr>
          <p:cNvPr id="3" name="テキスト ボックス 2">
            <a:extLst>
              <a:ext uri="{FF2B5EF4-FFF2-40B4-BE49-F238E27FC236}">
                <a16:creationId xmlns:a16="http://schemas.microsoft.com/office/drawing/2014/main" id="{AACCC8C1-61CC-DBD3-10A4-7D171D5FF268}"/>
              </a:ext>
            </a:extLst>
          </p:cNvPr>
          <p:cNvSpPr txBox="1"/>
          <p:nvPr/>
        </p:nvSpPr>
        <p:spPr>
          <a:xfrm>
            <a:off x="0" y="4803155"/>
            <a:ext cx="12192000" cy="1754326"/>
          </a:xfrm>
          <a:prstGeom prst="rect">
            <a:avLst/>
          </a:prstGeom>
          <a:noFill/>
        </p:spPr>
        <p:txBody>
          <a:bodyPr wrap="square" rtlCol="0">
            <a:spAutoFit/>
          </a:bodyPr>
          <a:lstStyle/>
          <a:p>
            <a:pPr marL="285750" indent="-285750">
              <a:buFont typeface="Wingdings" pitchFamily="2" charset="2"/>
              <a:buChar char="Ø"/>
            </a:pPr>
            <a:r>
              <a:rPr kumimoji="1" lang="ja-JP" altLang="en-US"/>
              <a:t>海外では地名から地理的な位置を特定する研究は典型的（</a:t>
            </a:r>
            <a:r>
              <a:rPr kumimoji="1" lang="en-US" altLang="ja-JP" dirty="0"/>
              <a:t>toponym</a:t>
            </a:r>
            <a:r>
              <a:rPr kumimoji="1" lang="ja-JP" altLang="en-US"/>
              <a:t>）</a:t>
            </a:r>
            <a:endParaRPr lang="en-US" altLang="ja-JP" dirty="0"/>
          </a:p>
          <a:p>
            <a:pPr marL="285750" indent="-285750">
              <a:buFont typeface="Wingdings" pitchFamily="2" charset="2"/>
              <a:buChar char="Ø"/>
            </a:pPr>
            <a:r>
              <a:rPr kumimoji="1" lang="ja-JP" altLang="en-US"/>
              <a:t>曖昧性解決においても地理情報と結びつけて行うものがほとんど</a:t>
            </a:r>
            <a:endParaRPr kumimoji="1" lang="en-US" altLang="ja-JP" dirty="0"/>
          </a:p>
          <a:p>
            <a:pPr marL="285750" indent="-285750">
              <a:buFont typeface="Wingdings" pitchFamily="2" charset="2"/>
              <a:buChar char="Ø"/>
            </a:pPr>
            <a:r>
              <a:rPr lang="ja-JP" altLang="en-US"/>
              <a:t>地理情報を利用しない曖昧性解決においては、近年には独自</a:t>
            </a:r>
            <a:r>
              <a:rPr lang="en-US" altLang="ja-JP" dirty="0"/>
              <a:t>NN</a:t>
            </a:r>
            <a:r>
              <a:rPr lang="ja-JP" altLang="en-US"/>
              <a:t>開発によるものが見受けられる</a:t>
            </a:r>
            <a:endParaRPr lang="en-US" altLang="ja-JP" dirty="0"/>
          </a:p>
          <a:p>
            <a:pPr marL="285750" indent="-285750">
              <a:buFont typeface="Wingdings" pitchFamily="2" charset="2"/>
              <a:buChar char="Ø"/>
            </a:pPr>
            <a:r>
              <a:rPr lang="ja-JP" altLang="en-US"/>
              <a:t>曖昧性解決において</a:t>
            </a:r>
            <a:r>
              <a:rPr kumimoji="1" lang="ja-JP" altLang="en-US"/>
              <a:t>一般的な</a:t>
            </a:r>
            <a:r>
              <a:rPr kumimoji="1" lang="en-US" altLang="ja-JP" dirty="0"/>
              <a:t>LLM</a:t>
            </a:r>
            <a:r>
              <a:rPr lang="ja-JP" altLang="en-US"/>
              <a:t>が用いられはじめたのはごく最近</a:t>
            </a:r>
            <a:endParaRPr lang="en-US" altLang="ja-JP" dirty="0"/>
          </a:p>
          <a:p>
            <a:pPr marL="285750" indent="-285750">
              <a:buFont typeface="Wingdings" pitchFamily="2" charset="2"/>
              <a:buChar char="Ø"/>
            </a:pPr>
            <a:r>
              <a:rPr lang="ja-JP" altLang="en-US"/>
              <a:t>地名と地名以外を含む幅広い固有表現の曖昧性解決も行われている</a:t>
            </a:r>
            <a:endParaRPr lang="en-US" altLang="ja-JP" dirty="0"/>
          </a:p>
          <a:p>
            <a:pPr marL="285750" indent="-285750">
              <a:buFont typeface="Wingdings" pitchFamily="2" charset="2"/>
              <a:buChar char="Ø"/>
            </a:pPr>
            <a:r>
              <a:rPr kumimoji="1" lang="ja-JP" altLang="en-US"/>
              <a:t>日本語における事例はほぼ見られない</a:t>
            </a:r>
            <a:endParaRPr kumimoji="1" lang="en-US" altLang="ja-JP" dirty="0"/>
          </a:p>
        </p:txBody>
      </p:sp>
    </p:spTree>
    <p:extLst>
      <p:ext uri="{BB962C8B-B14F-4D97-AF65-F5344CB8AC3E}">
        <p14:creationId xmlns:p14="http://schemas.microsoft.com/office/powerpoint/2010/main" val="25136169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422</TotalTime>
  <Words>375</Words>
  <Application>Microsoft Macintosh PowerPoint</Application>
  <PresentationFormat>ワイド画面</PresentationFormat>
  <Paragraphs>32</Paragraphs>
  <Slides>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游ゴシック</vt:lpstr>
      <vt:lpstr>游ゴシック Light</vt:lpstr>
      <vt:lpstr>Arial</vt:lpstr>
      <vt:lpstr>Wingdings</vt:lpstr>
      <vt:lpstr>Office テーマ</vt:lpstr>
      <vt:lpstr>PowerPoint プレゼンテーション</vt:lpstr>
      <vt:lpstr>先行研究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天野　晃</dc:creator>
  <cp:lastModifiedBy>天野　晃</cp:lastModifiedBy>
  <cp:revision>57</cp:revision>
  <dcterms:created xsi:type="dcterms:W3CDTF">2026-03-04T23:37:53Z</dcterms:created>
  <dcterms:modified xsi:type="dcterms:W3CDTF">2026-04-21T00:41:03Z</dcterms:modified>
</cp:coreProperties>
</file>