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320" r:id="rId3"/>
    <p:sldId id="321" r:id="rId4"/>
    <p:sldId id="304" r:id="rId5"/>
    <p:sldId id="306" r:id="rId6"/>
    <p:sldId id="313" r:id="rId7"/>
    <p:sldId id="305" r:id="rId8"/>
    <p:sldId id="307" r:id="rId9"/>
    <p:sldId id="318" r:id="rId10"/>
    <p:sldId id="309" r:id="rId11"/>
    <p:sldId id="310" r:id="rId12"/>
    <p:sldId id="308" r:id="rId13"/>
    <p:sldId id="312" r:id="rId14"/>
    <p:sldId id="317" r:id="rId15"/>
    <p:sldId id="314" r:id="rId16"/>
    <p:sldId id="315" r:id="rId17"/>
    <p:sldId id="316" r:id="rId18"/>
    <p:sldId id="319" r:id="rId19"/>
    <p:sldId id="322" r:id="rId20"/>
    <p:sldId id="296" r:id="rId21"/>
    <p:sldId id="303"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45"/>
    <p:restoredTop sz="94658"/>
  </p:normalViewPr>
  <p:slideViewPr>
    <p:cSldViewPr snapToGrid="0">
      <p:cViewPr varScale="1">
        <p:scale>
          <a:sx n="120" d="100"/>
          <a:sy n="120" d="100"/>
        </p:scale>
        <p:origin x="8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858D78-C21E-6D4A-8EB0-1034401A7884}" type="datetimeFigureOut">
              <a:rPr kumimoji="1" lang="ja-JP" altLang="en-US" smtClean="0"/>
              <a:t>2026/5/14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21AD6E-4550-3C43-945D-BD5179E945F6}" type="slidenum">
              <a:rPr kumimoji="1" lang="ja-JP" altLang="en-US" smtClean="0"/>
              <a:t>‹#›</a:t>
            </a:fld>
            <a:endParaRPr kumimoji="1" lang="ja-JP" altLang="en-US"/>
          </a:p>
        </p:txBody>
      </p:sp>
    </p:spTree>
    <p:extLst>
      <p:ext uri="{BB962C8B-B14F-4D97-AF65-F5344CB8AC3E}">
        <p14:creationId xmlns:p14="http://schemas.microsoft.com/office/powerpoint/2010/main" val="42530570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D21AD6E-4550-3C43-945D-BD5179E945F6}" type="slidenum">
              <a:rPr kumimoji="1" lang="ja-JP" altLang="en-US" smtClean="0"/>
              <a:t>14</a:t>
            </a:fld>
            <a:endParaRPr kumimoji="1" lang="ja-JP" altLang="en-US"/>
          </a:p>
        </p:txBody>
      </p:sp>
    </p:spTree>
    <p:extLst>
      <p:ext uri="{BB962C8B-B14F-4D97-AF65-F5344CB8AC3E}">
        <p14:creationId xmlns:p14="http://schemas.microsoft.com/office/powerpoint/2010/main" val="3075617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6A632-7A03-97D6-06E6-0EF0D62B341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3631936-173F-8F1F-D668-004CD4BB5C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4E34DC1-EA52-6820-093B-3325DC9E835E}"/>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2F5292B1-1DB2-5D30-B95D-14114DB0C9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CCB9934-3D96-5EE5-142C-4EA0B150B50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6719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A1BD27-5452-BE2F-9511-48DA0408F69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B5889CB-59F7-D6BC-9274-59C40BC94E9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41E0B9-ADE3-E0ED-5B61-CA0048BE1375}"/>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63C547F7-2590-90EB-A176-23C831FAB99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77F363-5620-E337-DC00-AF52392CAE50}"/>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314534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38AFB6-A320-CAF1-87A5-2D97163836B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374E81-70CC-4423-09AA-174A2CA6DD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7F7F049-9A50-CA53-D176-71EA34995C4D}"/>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D8DB405D-7621-CDB8-8048-A5A36E53D71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1DDDE3-36B9-E78A-839D-8B068ACF6DCE}"/>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192029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1A47A7-B89B-8076-6D9B-8D5AC1C60BE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A2E04C-91E5-75C9-81A6-E597A649C0A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A6BC579-EA02-00FB-01CE-9BFDE251BF9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5C043F0-AC83-44E5-C367-AD3BCE55DFED}"/>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6" name="フッター プレースホルダー 5">
            <a:extLst>
              <a:ext uri="{FF2B5EF4-FFF2-40B4-BE49-F238E27FC236}">
                <a16:creationId xmlns:a16="http://schemas.microsoft.com/office/drawing/2014/main" id="{B98B8877-1693-FF2A-DD22-6072009E785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8618FC4-731D-A3EA-E437-41947980846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416950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5ACE69-5C3A-A8B0-69CA-FDDF79C02DB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37F15CE-C0AA-A8EC-7450-6476E5F3B0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00725B5-8E2B-041E-CB1A-EF3E8B70D24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12D8A55-5AD7-8454-060F-F3B928F7C5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770827D-BE9F-C60D-0D4A-56BE066761B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84CAC34-A91B-913F-112C-1E98360A9B16}"/>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8" name="フッター プレースホルダー 7">
            <a:extLst>
              <a:ext uri="{FF2B5EF4-FFF2-40B4-BE49-F238E27FC236}">
                <a16:creationId xmlns:a16="http://schemas.microsoft.com/office/drawing/2014/main" id="{2C9ABD3C-1F40-5841-9942-FE91F313B16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27FB7E5-8B10-1FEF-9E45-ED225BF7177A}"/>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496875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37E24E-F998-488C-A967-E2384FC951D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A32024B-6100-9240-248B-CA2A43F426D1}"/>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4" name="フッター プレースホルダー 3">
            <a:extLst>
              <a:ext uri="{FF2B5EF4-FFF2-40B4-BE49-F238E27FC236}">
                <a16:creationId xmlns:a16="http://schemas.microsoft.com/office/drawing/2014/main" id="{FF2EA323-B1D3-A60C-169A-B086CB081EF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4A34271-057B-10C7-132C-A4638553ED80}"/>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504779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635FA7A-93AD-D2B1-05D6-7FAF32A2C55F}"/>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3" name="フッター プレースホルダー 2">
            <a:extLst>
              <a:ext uri="{FF2B5EF4-FFF2-40B4-BE49-F238E27FC236}">
                <a16:creationId xmlns:a16="http://schemas.microsoft.com/office/drawing/2014/main" id="{CFE10980-D7A5-C75A-35A1-74922B872CE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98CCC2E-0372-7984-27A3-E7630330C95D}"/>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768944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635452-6694-48B0-2F4B-D8613133BC2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B5EA1B-7CB3-15AD-9339-95BED1FBE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6403982-7C57-B123-55F6-4EBCC487E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DE23125-1312-B43D-D08E-A33AEE702A2C}"/>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6" name="フッター プレースホルダー 5">
            <a:extLst>
              <a:ext uri="{FF2B5EF4-FFF2-40B4-BE49-F238E27FC236}">
                <a16:creationId xmlns:a16="http://schemas.microsoft.com/office/drawing/2014/main" id="{80C7F1C1-D5C2-78D7-ADF0-A07C094F4A8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4415F6-747E-12D7-7100-D414E765BC9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400988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BB85E6-A594-1B2E-CBFB-9F5783A90A2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9F6E2E7-84FD-0A2C-CA9D-0147AC1AD6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D9FF62D-1B1E-700E-34E0-7DF45DE18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D71ECEB-348F-8EA2-45B3-C830709818FE}"/>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6" name="フッター プレースホルダー 5">
            <a:extLst>
              <a:ext uri="{FF2B5EF4-FFF2-40B4-BE49-F238E27FC236}">
                <a16:creationId xmlns:a16="http://schemas.microsoft.com/office/drawing/2014/main" id="{53D40AEA-1771-3C1F-D38D-2AABEEB880B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A4CE8C9-A7E6-E91D-5202-34BC2A94AB71}"/>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5173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AA0D9F-9CE3-D3D7-C4D8-34A0001011C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AACF51F-FE5C-6320-74D8-5117657B4E3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2519A4-5425-3161-51E4-E803C2735863}"/>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4DA9A69C-3E26-C307-7312-17E5AB5F55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678011B-4581-EE2A-FA4E-6DBD62712FBD}"/>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51199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DC0F4E0-25A5-D9D0-89A5-79A67F1DDD7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3B8CFB4-DC17-7E0C-329E-736FD930325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E2CCDFC-48EB-123C-AE7C-FD40758CB4F3}"/>
              </a:ext>
            </a:extLst>
          </p:cNvPr>
          <p:cNvSpPr>
            <a:spLocks noGrp="1"/>
          </p:cNvSpPr>
          <p:nvPr>
            <p:ph type="dt" sz="half" idx="10"/>
          </p:nvPr>
        </p:nvSpPr>
        <p:spPr/>
        <p:txBody>
          <a:bodyPr/>
          <a:lstStyle/>
          <a:p>
            <a:fld id="{716789AD-CAC3-AD41-B5C9-BF5C62A1889D}"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BD272EE4-2DDF-228C-8B9B-994A4AA454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D7B0FA-04F6-8EC7-E928-FC997B43EE9C}"/>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862313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C346513-02ED-46E1-E87A-2B3C36119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7899317-66E8-B955-B11F-CB6B16AE52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0442F6-8CF5-9167-1176-7168D75F03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6789AD-CAC3-AD41-B5C9-BF5C62A1889D}"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7C368A6B-A177-5391-D0E1-6593606D2A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5F73624-1AFB-ABE8-B3E2-ED7CE2B7F0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723563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nlp.jp/proceedings/annual_meeting/2024/pdf_dir/C8-5.pdf" TargetMode="External"/><Relationship Id="rId2" Type="http://schemas.openxmlformats.org/officeDocument/2006/relationships/hyperlink" Target="https://www.tandfonline.com/doi/full/10.1080/13658816.2024.2405182" TargetMode="External"/><Relationship Id="rId1" Type="http://schemas.openxmlformats.org/officeDocument/2006/relationships/slideLayout" Target="../slideLayouts/slideLayout2.xml"/><Relationship Id="rId5" Type="http://schemas.openxmlformats.org/officeDocument/2006/relationships/hyperlink" Target="https://aclanthology.org/C14-1147.pdf" TargetMode="External"/><Relationship Id="rId4" Type="http://schemas.openxmlformats.org/officeDocument/2006/relationships/hyperlink" Target="https://ir.library.osaka-u.ac.jp/repo/ouka/all/93281/IPSJ-JNL_63_2_310.pdf"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kanadas.com/search-papers/extract2.pdf" TargetMode="External"/><Relationship Id="rId2" Type="http://schemas.openxmlformats.org/officeDocument/2006/relationships/hyperlink" Target="https://nlp.cs.nyu.edu/sekine/papers/skeiji_nlp06.pdf" TargetMode="External"/><Relationship Id="rId1" Type="http://schemas.openxmlformats.org/officeDocument/2006/relationships/slideLayout" Target="../slideLayouts/slideLayout2.xml"/><Relationship Id="rId4" Type="http://schemas.openxmlformats.org/officeDocument/2006/relationships/hyperlink" Target="https://dl.acm.org/doi/abs/10.1002/asi.2149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80A9DCA-9619-8B3E-E697-76FFCC1CE46B}"/>
              </a:ext>
            </a:extLst>
          </p:cNvPr>
          <p:cNvSpPr txBox="1"/>
          <p:nvPr/>
        </p:nvSpPr>
        <p:spPr>
          <a:xfrm>
            <a:off x="3313828" y="66522"/>
            <a:ext cx="5564344" cy="584775"/>
          </a:xfrm>
          <a:prstGeom prst="rect">
            <a:avLst/>
          </a:prstGeom>
          <a:noFill/>
        </p:spPr>
        <p:txBody>
          <a:bodyPr wrap="none" rtlCol="0">
            <a:spAutoFit/>
          </a:bodyPr>
          <a:lstStyle/>
          <a:p>
            <a:r>
              <a:rPr lang="ja-JP" altLang="en-US" sz="3200"/>
              <a:t>情報知識学会第</a:t>
            </a:r>
            <a:r>
              <a:rPr lang="en-US" altLang="ja-JP" sz="3200" dirty="0"/>
              <a:t>34</a:t>
            </a:r>
            <a:r>
              <a:rPr lang="ja-JP" altLang="en-US" sz="3200"/>
              <a:t>回年次大会</a:t>
            </a:r>
            <a:endParaRPr kumimoji="1" lang="ja-JP" altLang="en-US" sz="3200"/>
          </a:p>
        </p:txBody>
      </p:sp>
      <p:sp>
        <p:nvSpPr>
          <p:cNvPr id="2" name="テキスト ボックス 1">
            <a:extLst>
              <a:ext uri="{FF2B5EF4-FFF2-40B4-BE49-F238E27FC236}">
                <a16:creationId xmlns:a16="http://schemas.microsoft.com/office/drawing/2014/main" id="{1D49ED0E-D194-025B-4205-E0CEB22CB619}"/>
              </a:ext>
            </a:extLst>
          </p:cNvPr>
          <p:cNvSpPr txBox="1"/>
          <p:nvPr/>
        </p:nvSpPr>
        <p:spPr>
          <a:xfrm>
            <a:off x="1990871" y="3850097"/>
            <a:ext cx="8210254" cy="461665"/>
          </a:xfrm>
          <a:prstGeom prst="rect">
            <a:avLst/>
          </a:prstGeom>
          <a:noFill/>
        </p:spPr>
        <p:txBody>
          <a:bodyPr wrap="square" rtlCol="0">
            <a:spAutoFit/>
          </a:bodyPr>
          <a:lstStyle/>
          <a:p>
            <a:r>
              <a:rPr lang="ja-JP" altLang="en-US" sz="2400"/>
              <a:t>○黄秋実</a:t>
            </a:r>
            <a:r>
              <a:rPr lang="en-US" altLang="ja-JP" sz="2400" baseline="30000" dirty="0"/>
              <a:t>1</a:t>
            </a:r>
            <a:r>
              <a:rPr lang="en-US" altLang="ja-JP" sz="2400" dirty="0"/>
              <a:t>, </a:t>
            </a:r>
            <a:r>
              <a:rPr lang="ja-JP" altLang="en-US" sz="2400"/>
              <a:t>寺田将春</a:t>
            </a:r>
            <a:r>
              <a:rPr lang="en-US" altLang="ja-JP" sz="2400" baseline="30000" dirty="0"/>
              <a:t>1</a:t>
            </a:r>
            <a:r>
              <a:rPr lang="en-US" altLang="ja-JP" sz="2400" dirty="0"/>
              <a:t>, </a:t>
            </a:r>
            <a:r>
              <a:rPr lang="ja-JP" altLang="en-US" sz="2400"/>
              <a:t>上村麻里亜</a:t>
            </a:r>
            <a:r>
              <a:rPr lang="en-US" altLang="ja-JP" sz="2400" baseline="30000" dirty="0"/>
              <a:t>1</a:t>
            </a:r>
            <a:r>
              <a:rPr lang="en-US" altLang="ja-JP" sz="2400" dirty="0"/>
              <a:t>, </a:t>
            </a:r>
            <a:r>
              <a:rPr lang="ja-JP" altLang="en-US" sz="2400"/>
              <a:t>船守美穂</a:t>
            </a:r>
            <a:r>
              <a:rPr lang="en-US" altLang="ja-JP" sz="2400" baseline="30000" dirty="0"/>
              <a:t>1,2</a:t>
            </a:r>
            <a:r>
              <a:rPr lang="en-US" altLang="ja-JP" sz="2400" dirty="0"/>
              <a:t>, </a:t>
            </a:r>
            <a:r>
              <a:rPr lang="ja-JP" altLang="en-US" sz="2400"/>
              <a:t>天野晃</a:t>
            </a:r>
            <a:r>
              <a:rPr lang="en-US" altLang="ja-JP" sz="2400" baseline="30000" dirty="0"/>
              <a:t>1*†</a:t>
            </a:r>
          </a:p>
        </p:txBody>
      </p:sp>
      <p:sp>
        <p:nvSpPr>
          <p:cNvPr id="3" name="テキスト ボックス 2">
            <a:extLst>
              <a:ext uri="{FF2B5EF4-FFF2-40B4-BE49-F238E27FC236}">
                <a16:creationId xmlns:a16="http://schemas.microsoft.com/office/drawing/2014/main" id="{D07DC189-35F8-7991-589D-C950D4DB5F1C}"/>
              </a:ext>
            </a:extLst>
          </p:cNvPr>
          <p:cNvSpPr txBox="1"/>
          <p:nvPr/>
        </p:nvSpPr>
        <p:spPr>
          <a:xfrm>
            <a:off x="4205994" y="4557722"/>
            <a:ext cx="3780008" cy="1200329"/>
          </a:xfrm>
          <a:prstGeom prst="rect">
            <a:avLst/>
          </a:prstGeom>
          <a:noFill/>
        </p:spPr>
        <p:txBody>
          <a:bodyPr wrap="square" rtlCol="0">
            <a:spAutoFit/>
          </a:bodyPr>
          <a:lstStyle/>
          <a:p>
            <a:pPr algn="ctr"/>
            <a:r>
              <a:rPr lang="en-US" altLang="ja-JP" sz="2400" baseline="30000" dirty="0"/>
              <a:t>1</a:t>
            </a:r>
            <a:r>
              <a:rPr lang="en-US" altLang="ja-JP" sz="2400" dirty="0"/>
              <a:t> </a:t>
            </a:r>
            <a:r>
              <a:rPr lang="ja-JP" altLang="en-US" sz="2400"/>
              <a:t>鹿児島大学</a:t>
            </a:r>
            <a:endParaRPr lang="en-US" altLang="ja-JP" sz="2400" dirty="0"/>
          </a:p>
          <a:p>
            <a:pPr algn="ctr"/>
            <a:r>
              <a:rPr lang="en-US" altLang="ja-JP" sz="2400" baseline="30000" dirty="0"/>
              <a:t>2</a:t>
            </a:r>
            <a:r>
              <a:rPr lang="en-US" altLang="ja-JP" sz="2400" dirty="0"/>
              <a:t> </a:t>
            </a:r>
            <a:r>
              <a:rPr lang="ja-JP" altLang="en-US" sz="2400"/>
              <a:t>国立情報学研究所</a:t>
            </a:r>
            <a:endParaRPr lang="en-US" altLang="ja-JP" sz="2400" dirty="0"/>
          </a:p>
          <a:p>
            <a:pPr algn="ctr"/>
            <a:r>
              <a:rPr lang="en-US" altLang="ja-JP" sz="2400" baseline="30000" dirty="0"/>
              <a:t>*</a:t>
            </a:r>
            <a:r>
              <a:rPr lang="en-US" altLang="ja-JP" sz="2400" dirty="0"/>
              <a:t> </a:t>
            </a:r>
            <a:r>
              <a:rPr lang="ja-JP" altLang="en-US" sz="2400" dirty="0"/>
              <a:t>連絡先著者</a:t>
            </a:r>
            <a:endParaRPr lang="en-US" altLang="ja-JP" sz="2400" baseline="30000" dirty="0"/>
          </a:p>
        </p:txBody>
      </p:sp>
      <p:sp>
        <p:nvSpPr>
          <p:cNvPr id="5" name="テキスト ボックス 4">
            <a:extLst>
              <a:ext uri="{FF2B5EF4-FFF2-40B4-BE49-F238E27FC236}">
                <a16:creationId xmlns:a16="http://schemas.microsoft.com/office/drawing/2014/main" id="{A6301F3E-0169-C649-7BBD-7EFDC9ABEFFE}"/>
              </a:ext>
            </a:extLst>
          </p:cNvPr>
          <p:cNvSpPr txBox="1"/>
          <p:nvPr/>
        </p:nvSpPr>
        <p:spPr>
          <a:xfrm>
            <a:off x="2925900" y="2526919"/>
            <a:ext cx="6340197" cy="1077218"/>
          </a:xfrm>
          <a:prstGeom prst="rect">
            <a:avLst/>
          </a:prstGeom>
          <a:noFill/>
        </p:spPr>
        <p:txBody>
          <a:bodyPr wrap="none" rtlCol="0">
            <a:spAutoFit/>
          </a:bodyPr>
          <a:lstStyle/>
          <a:p>
            <a:pPr algn="ctr"/>
            <a:r>
              <a:rPr lang="ja-JP" altLang="en-US" sz="3200"/>
              <a:t>地域研究活動の指標開発にむけて</a:t>
            </a:r>
          </a:p>
          <a:p>
            <a:pPr algn="ctr"/>
            <a:r>
              <a:rPr lang="en-US" altLang="ja-JP" sz="3200" dirty="0"/>
              <a:t>- </a:t>
            </a:r>
            <a:r>
              <a:rPr lang="ja-JP" altLang="en-US" sz="3200"/>
              <a:t>文書からの地名抽出</a:t>
            </a:r>
            <a:r>
              <a:rPr lang="en-US" altLang="ja-JP" sz="3200" dirty="0"/>
              <a:t>-</a:t>
            </a:r>
          </a:p>
        </p:txBody>
      </p:sp>
      <p:sp>
        <p:nvSpPr>
          <p:cNvPr id="7" name="テキスト ボックス 6">
            <a:extLst>
              <a:ext uri="{FF2B5EF4-FFF2-40B4-BE49-F238E27FC236}">
                <a16:creationId xmlns:a16="http://schemas.microsoft.com/office/drawing/2014/main" id="{915C563C-151C-A16C-32B7-9AB353C5D587}"/>
              </a:ext>
            </a:extLst>
          </p:cNvPr>
          <p:cNvSpPr txBox="1"/>
          <p:nvPr/>
        </p:nvSpPr>
        <p:spPr>
          <a:xfrm>
            <a:off x="5349640" y="6236043"/>
            <a:ext cx="1492716" cy="369332"/>
          </a:xfrm>
          <a:prstGeom prst="rect">
            <a:avLst/>
          </a:prstGeom>
          <a:noFill/>
        </p:spPr>
        <p:txBody>
          <a:bodyPr wrap="none" rtlCol="0">
            <a:spAutoFit/>
          </a:bodyPr>
          <a:lstStyle/>
          <a:p>
            <a:r>
              <a:rPr lang="en-US" altLang="ja-JP" baseline="30000" dirty="0"/>
              <a:t>†</a:t>
            </a:r>
            <a:r>
              <a:rPr lang="ja-JP" altLang="en-US" dirty="0"/>
              <a:t>代理発表者</a:t>
            </a:r>
            <a:endParaRPr lang="en-US" altLang="ja-JP" baseline="30000" dirty="0"/>
          </a:p>
        </p:txBody>
      </p:sp>
    </p:spTree>
    <p:extLst>
      <p:ext uri="{BB962C8B-B14F-4D97-AF65-F5344CB8AC3E}">
        <p14:creationId xmlns:p14="http://schemas.microsoft.com/office/powerpoint/2010/main" val="615996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64894-CE9F-00B8-15E7-F46738BD46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0813A6-2A40-7505-3C92-84A0AC349D2B}"/>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dirty="0"/>
              <a:t>背景（</a:t>
            </a:r>
            <a:r>
              <a:rPr kumimoji="1" lang="en-US" altLang="ja-JP" sz="3600" dirty="0"/>
              <a:t>1</a:t>
            </a:r>
            <a:r>
              <a:rPr kumimoji="1" lang="ja-JP" altLang="en-US" sz="3600" dirty="0"/>
              <a:t>）</a:t>
            </a:r>
          </a:p>
        </p:txBody>
      </p:sp>
      <p:sp>
        <p:nvSpPr>
          <p:cNvPr id="5" name="テキスト ボックス 4">
            <a:extLst>
              <a:ext uri="{FF2B5EF4-FFF2-40B4-BE49-F238E27FC236}">
                <a16:creationId xmlns:a16="http://schemas.microsoft.com/office/drawing/2014/main" id="{FC072985-171F-5D77-276A-30C4206B2E62}"/>
              </a:ext>
            </a:extLst>
          </p:cNvPr>
          <p:cNvSpPr txBox="1"/>
          <p:nvPr/>
        </p:nvSpPr>
        <p:spPr>
          <a:xfrm>
            <a:off x="-1" y="577517"/>
            <a:ext cx="12192000" cy="6463308"/>
          </a:xfrm>
          <a:prstGeom prst="rect">
            <a:avLst/>
          </a:prstGeom>
          <a:noFill/>
        </p:spPr>
        <p:txBody>
          <a:bodyPr wrap="square" rtlCol="0">
            <a:spAutoFit/>
          </a:bodyPr>
          <a:lstStyle/>
          <a:p>
            <a:r>
              <a:rPr lang="ja-JP" altLang="en-US" b="1" dirty="0"/>
              <a:t>◾️日本の高等教育を取り巻く外部環境</a:t>
            </a:r>
            <a:endParaRPr lang="en-US" altLang="ja-JP" b="1" dirty="0"/>
          </a:p>
          <a:p>
            <a:r>
              <a:rPr lang="ja-JP" altLang="en-US" dirty="0"/>
              <a:t>・少子化に伴う高等教育入学人口の減少</a:t>
            </a:r>
            <a:endParaRPr lang="en-US" altLang="ja-JP" dirty="0"/>
          </a:p>
          <a:p>
            <a:r>
              <a:rPr lang="ja-JP" altLang="en-US" dirty="0"/>
              <a:t>・国際的な研究競争力強化の必要性</a:t>
            </a:r>
            <a:endParaRPr lang="en-US" altLang="ja-JP" dirty="0"/>
          </a:p>
          <a:p>
            <a:r>
              <a:rPr lang="ja-JP" altLang="en-US" dirty="0"/>
              <a:t>・地域における活力の低下</a:t>
            </a:r>
            <a:endParaRPr lang="en-US" altLang="ja-JP" dirty="0"/>
          </a:p>
          <a:p>
            <a:endParaRPr lang="en-US" altLang="ja-JP" dirty="0"/>
          </a:p>
          <a:p>
            <a:r>
              <a:rPr lang="ja-JP" altLang="en-US" b="1" dirty="0"/>
              <a:t>◾️国の高等教育政策</a:t>
            </a:r>
            <a:endParaRPr lang="en-US" altLang="ja-JP" b="1" dirty="0"/>
          </a:p>
          <a:p>
            <a:r>
              <a:rPr lang="ja-JP" altLang="en-US" dirty="0"/>
              <a:t>・大学の再編統合による規模縮小</a:t>
            </a:r>
            <a:endParaRPr lang="en-US" altLang="ja-JP" dirty="0"/>
          </a:p>
          <a:p>
            <a:r>
              <a:rPr lang="ja-JP" altLang="en-US" dirty="0"/>
              <a:t>・大学の機能分化（</a:t>
            </a:r>
            <a:r>
              <a:rPr lang="en-US" altLang="ja-JP" dirty="0"/>
              <a:t>SGU</a:t>
            </a:r>
            <a:r>
              <a:rPr lang="ja-JP" altLang="en-US" dirty="0"/>
              <a:t>、地域の知の中核、専門大学）</a:t>
            </a:r>
            <a:endParaRPr lang="en-US" altLang="ja-JP" dirty="0"/>
          </a:p>
          <a:p>
            <a:r>
              <a:rPr lang="ja-JP" altLang="en-US" dirty="0"/>
              <a:t>によるメリハリある高等教育発展の構想</a:t>
            </a:r>
            <a:endParaRPr lang="en-US" altLang="ja-JP" dirty="0"/>
          </a:p>
          <a:p>
            <a:endParaRPr lang="en-US" altLang="ja-JP" dirty="0"/>
          </a:p>
          <a:p>
            <a:r>
              <a:rPr lang="ja-JP" altLang="en-US" b="1" dirty="0"/>
              <a:t>◾️大学評価における課題</a:t>
            </a:r>
            <a:endParaRPr lang="en-US" altLang="ja-JP" b="1" dirty="0"/>
          </a:p>
          <a:p>
            <a:r>
              <a:rPr lang="ja-JP" altLang="en-US" dirty="0"/>
              <a:t>・論文の被引用状況に基づく評価指標の過大視</a:t>
            </a:r>
            <a:endParaRPr lang="en-US" altLang="ja-JP" dirty="0"/>
          </a:p>
          <a:p>
            <a:r>
              <a:rPr lang="ja-JP" altLang="en-US" dirty="0"/>
              <a:t>・大学の地域力を計量化可能な評価指標の不在</a:t>
            </a:r>
            <a:endParaRPr lang="en-US" altLang="ja-JP" dirty="0"/>
          </a:p>
          <a:p>
            <a:r>
              <a:rPr lang="ja-JP" altLang="en-US" dirty="0"/>
              <a:t>→結果として、「地域の知の中核」として発展すべき大学を抽出し、評価、資金投下できない。</a:t>
            </a:r>
            <a:endParaRPr lang="en-US" altLang="ja-JP" dirty="0"/>
          </a:p>
          <a:p>
            <a:endParaRPr lang="en-US" altLang="ja-JP" dirty="0"/>
          </a:p>
          <a:p>
            <a:r>
              <a:rPr lang="ja-JP" altLang="en-US" b="1" dirty="0"/>
              <a:t>◾️鹿児島県の高等教育の現状</a:t>
            </a:r>
            <a:endParaRPr lang="en-US" altLang="ja-JP" b="1" dirty="0"/>
          </a:p>
          <a:p>
            <a:r>
              <a:rPr lang="ja-JP" altLang="en-US" dirty="0"/>
              <a:t>・県内に６総合大学（国立大２（鹿大、鹿屋体育大）、私立大４）</a:t>
            </a:r>
            <a:endParaRPr lang="en-US" altLang="ja-JP" dirty="0"/>
          </a:p>
          <a:p>
            <a:r>
              <a:rPr lang="ja-JP" altLang="en-US" dirty="0"/>
              <a:t>・鹿児島大学は、県内唯一の国立総合大学として既に「地域の知の拠点」として機能</a:t>
            </a:r>
            <a:endParaRPr lang="en-US" altLang="ja-JP" dirty="0"/>
          </a:p>
          <a:p>
            <a:r>
              <a:rPr lang="ja-JP" altLang="en-US" dirty="0"/>
              <a:t>・鹿大教員は、幅広く地域活動や地域に関わる研究を展開</a:t>
            </a:r>
            <a:endParaRPr lang="en-US" altLang="ja-JP" dirty="0"/>
          </a:p>
          <a:p>
            <a:r>
              <a:rPr lang="ja-JP" altLang="en-US" dirty="0"/>
              <a:t>→ただし、その地域活動は十分に評価されていない。</a:t>
            </a:r>
            <a:endParaRPr lang="en-US" altLang="ja-JP" dirty="0"/>
          </a:p>
          <a:p>
            <a:endParaRPr lang="en-US" altLang="ja-JP" dirty="0"/>
          </a:p>
          <a:p>
            <a:r>
              <a:rPr lang="ja-JP" altLang="en-US" dirty="0"/>
              <a:t>⇒ </a:t>
            </a:r>
            <a:r>
              <a:rPr lang="ja-JP" altLang="en-US" sz="2000" u="sng" dirty="0"/>
              <a:t>大学の地域活動の見える化、評価指標の形成が必要</a:t>
            </a:r>
            <a:endParaRPr lang="en-US" altLang="ja-JP" sz="2000" u="sng" dirty="0"/>
          </a:p>
          <a:p>
            <a:endParaRPr lang="ja-JP" altLang="en-US" dirty="0"/>
          </a:p>
        </p:txBody>
      </p:sp>
    </p:spTree>
    <p:extLst>
      <p:ext uri="{BB962C8B-B14F-4D97-AF65-F5344CB8AC3E}">
        <p14:creationId xmlns:p14="http://schemas.microsoft.com/office/powerpoint/2010/main" val="4253336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D288E-8D25-E767-CF91-F0E1E3BC78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A9E296-D053-E27A-BC76-DA005600C348}"/>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dirty="0"/>
              <a:t>背景（</a:t>
            </a:r>
            <a:r>
              <a:rPr kumimoji="1" lang="en-US" altLang="ja-JP" sz="3600" dirty="0"/>
              <a:t>2</a:t>
            </a:r>
            <a:r>
              <a:rPr kumimoji="1" lang="ja-JP" altLang="en-US" sz="3600" dirty="0"/>
              <a:t>）</a:t>
            </a:r>
          </a:p>
        </p:txBody>
      </p:sp>
      <p:sp>
        <p:nvSpPr>
          <p:cNvPr id="5" name="テキスト ボックス 4">
            <a:extLst>
              <a:ext uri="{FF2B5EF4-FFF2-40B4-BE49-F238E27FC236}">
                <a16:creationId xmlns:a16="http://schemas.microsoft.com/office/drawing/2014/main" id="{97088CE3-A990-F39F-3F9E-9AA86B5F5979}"/>
              </a:ext>
            </a:extLst>
          </p:cNvPr>
          <p:cNvSpPr txBox="1"/>
          <p:nvPr/>
        </p:nvSpPr>
        <p:spPr>
          <a:xfrm>
            <a:off x="-1" y="577517"/>
            <a:ext cx="12192000" cy="4247317"/>
          </a:xfrm>
          <a:prstGeom prst="rect">
            <a:avLst/>
          </a:prstGeom>
          <a:noFill/>
        </p:spPr>
        <p:txBody>
          <a:bodyPr wrap="square" rtlCol="0">
            <a:spAutoFit/>
          </a:bodyPr>
          <a:lstStyle/>
          <a:p>
            <a:r>
              <a:rPr lang="ja-JP" altLang="en-US" b="1" dirty="0"/>
              <a:t>◾️大学の地域活動の評価指標形成のアプローチ</a:t>
            </a:r>
          </a:p>
          <a:p>
            <a:r>
              <a:rPr lang="ja-JP" altLang="en-US" dirty="0"/>
              <a:t>・大学の研究業績からの地域に関わる研究の抽出</a:t>
            </a:r>
            <a:endParaRPr lang="en-US" altLang="ja-JP" dirty="0"/>
          </a:p>
          <a:p>
            <a:endParaRPr lang="en-US" altLang="ja-JP" dirty="0"/>
          </a:p>
          <a:p>
            <a:r>
              <a:rPr lang="ja-JP" altLang="en-US" b="1" dirty="0"/>
              <a:t>◾️地域に関係する文献抽出のステップ</a:t>
            </a:r>
            <a:endParaRPr lang="en-US" altLang="ja-JP" b="1" dirty="0"/>
          </a:p>
          <a:p>
            <a:pPr marL="342900" indent="-342900">
              <a:buAutoNum type="arabicPeriod"/>
            </a:pPr>
            <a:r>
              <a:rPr lang="ja-JP" altLang="en-US" dirty="0"/>
              <a:t>文献の形態素解析</a:t>
            </a:r>
            <a:endParaRPr lang="en-US" altLang="ja-JP" dirty="0"/>
          </a:p>
          <a:p>
            <a:pPr marL="342900" indent="-342900">
              <a:buAutoNum type="arabicPeriod"/>
            </a:pPr>
            <a:r>
              <a:rPr lang="ja-JP" altLang="en-US" dirty="0"/>
              <a:t>地名、人名等の固有表現の抽出</a:t>
            </a:r>
            <a:endParaRPr lang="en-US" altLang="ja-JP" dirty="0"/>
          </a:p>
          <a:p>
            <a:pPr marL="342900" indent="-342900">
              <a:buAutoNum type="arabicPeriod"/>
            </a:pPr>
            <a:r>
              <a:rPr lang="ja-JP" altLang="en-US" dirty="0"/>
              <a:t>抽出された固有表現の精度評価</a:t>
            </a:r>
            <a:endParaRPr lang="en-US" altLang="ja-JP" dirty="0"/>
          </a:p>
          <a:p>
            <a:pPr marL="342900" indent="-342900">
              <a:buAutoNum type="arabicPeriod"/>
            </a:pPr>
            <a:r>
              <a:rPr lang="ja-JP" altLang="en-US" dirty="0"/>
              <a:t>精度向上に繋がる固有表現抽出手法の改良→３．に戻る</a:t>
            </a:r>
            <a:endParaRPr lang="en-US" altLang="ja-JP" dirty="0"/>
          </a:p>
          <a:p>
            <a:pPr marL="342900" indent="-342900">
              <a:buAutoNum type="arabicPeriod"/>
            </a:pPr>
            <a:r>
              <a:rPr lang="ja-JP" altLang="en-US" dirty="0"/>
              <a:t>十分</a:t>
            </a:r>
            <a:r>
              <a:rPr lang="ja-JP" altLang="en-US"/>
              <a:t>な精度を持つ固有</a:t>
            </a:r>
            <a:r>
              <a:rPr lang="ja-JP" altLang="en-US" dirty="0"/>
              <a:t>表現抽出手法の確定</a:t>
            </a:r>
            <a:endParaRPr lang="en-US" altLang="ja-JP" dirty="0"/>
          </a:p>
          <a:p>
            <a:endParaRPr lang="en-US" altLang="ja-JP" dirty="0"/>
          </a:p>
          <a:p>
            <a:r>
              <a:rPr lang="ja-JP" altLang="en-US" b="1" dirty="0"/>
              <a:t>◾️大学の地域活動指標モデルの形成</a:t>
            </a:r>
            <a:endParaRPr lang="en-US" altLang="ja-JP" b="1" dirty="0"/>
          </a:p>
          <a:p>
            <a:pPr marL="342900" indent="-342900">
              <a:buFont typeface="+mj-lt"/>
              <a:buAutoNum type="arabicPeriod"/>
            </a:pPr>
            <a:r>
              <a:rPr lang="ja-JP" altLang="en-US"/>
              <a:t>大学の地域活動にかかる指標の作成</a:t>
            </a:r>
            <a:endParaRPr lang="en-US" altLang="ja-JP" dirty="0"/>
          </a:p>
          <a:p>
            <a:pPr marL="342900" indent="-342900">
              <a:buFont typeface="+mj-lt"/>
              <a:buAutoNum type="arabicPeriod"/>
            </a:pPr>
            <a:r>
              <a:rPr lang="ja-JP" altLang="en-US"/>
              <a:t>指標を用いた個別の地域活動分析・成果発信</a:t>
            </a:r>
            <a:endParaRPr lang="en-US" altLang="ja-JP" dirty="0"/>
          </a:p>
          <a:p>
            <a:pPr marL="342900" indent="-342900">
              <a:buFont typeface="+mj-lt"/>
              <a:buAutoNum type="arabicPeriod"/>
            </a:pPr>
            <a:r>
              <a:rPr lang="ja-JP" altLang="en-US"/>
              <a:t>より統括的な地域活動・研究の発信とフィードバック</a:t>
            </a:r>
            <a:endParaRPr lang="en-US" altLang="ja-JP" dirty="0"/>
          </a:p>
          <a:p>
            <a:pPr marL="342900" indent="-342900">
              <a:buFont typeface="+mj-lt"/>
              <a:buAutoNum type="arabicPeriod"/>
            </a:pPr>
            <a:r>
              <a:rPr lang="ja-JP" altLang="en-US"/>
              <a:t>地域活動や地域に関わる研究のさらなる展開</a:t>
            </a:r>
            <a:endParaRPr lang="en-US" altLang="ja-JP" dirty="0"/>
          </a:p>
        </p:txBody>
      </p:sp>
    </p:spTree>
    <p:extLst>
      <p:ext uri="{BB962C8B-B14F-4D97-AF65-F5344CB8AC3E}">
        <p14:creationId xmlns:p14="http://schemas.microsoft.com/office/powerpoint/2010/main" val="1930175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671A9-9140-BC61-8FE0-C9F73551141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8D1088F-6712-10D9-D4B3-64DB271BE0A1}"/>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背景（</a:t>
            </a:r>
            <a:r>
              <a:rPr kumimoji="1" lang="en-US" altLang="ja-JP" sz="3600" dirty="0"/>
              <a:t>3</a:t>
            </a:r>
            <a:r>
              <a:rPr kumimoji="1" lang="ja-JP" altLang="en-US" sz="3600"/>
              <a:t>）</a:t>
            </a:r>
          </a:p>
        </p:txBody>
      </p:sp>
      <p:sp>
        <p:nvSpPr>
          <p:cNvPr id="5" name="テキスト ボックス 4">
            <a:extLst>
              <a:ext uri="{FF2B5EF4-FFF2-40B4-BE49-F238E27FC236}">
                <a16:creationId xmlns:a16="http://schemas.microsoft.com/office/drawing/2014/main" id="{4358CD7E-D579-6162-C3F7-79BD53BBD0DB}"/>
              </a:ext>
            </a:extLst>
          </p:cNvPr>
          <p:cNvSpPr txBox="1"/>
          <p:nvPr/>
        </p:nvSpPr>
        <p:spPr>
          <a:xfrm>
            <a:off x="-1" y="577517"/>
            <a:ext cx="12192000" cy="4801314"/>
          </a:xfrm>
          <a:prstGeom prst="rect">
            <a:avLst/>
          </a:prstGeom>
          <a:noFill/>
        </p:spPr>
        <p:txBody>
          <a:bodyPr wrap="square" rtlCol="0">
            <a:spAutoFit/>
          </a:bodyPr>
          <a:lstStyle/>
          <a:p>
            <a:r>
              <a:rPr lang="ja-JP" altLang="en-US"/>
              <a:t>文書（特に日本語）からの固有表現の抽出・判定に関して、</a:t>
            </a:r>
            <a:endParaRPr lang="en-US" altLang="ja-JP" dirty="0"/>
          </a:p>
          <a:p>
            <a:endParaRPr lang="en-US" altLang="ja-JP" b="1" dirty="0"/>
          </a:p>
          <a:p>
            <a:r>
              <a:rPr lang="ja-JP" altLang="en-US" b="1"/>
              <a:t>◾️</a:t>
            </a:r>
            <a:r>
              <a:rPr lang="en-US" altLang="ja-JP" b="1" dirty="0"/>
              <a:t>NER</a:t>
            </a:r>
            <a:r>
              <a:rPr lang="ja-JP" altLang="en-US" b="1"/>
              <a:t>の技術的課題</a:t>
            </a:r>
            <a:endParaRPr lang="en-US" altLang="ja-JP" b="1" dirty="0"/>
          </a:p>
          <a:p>
            <a:pPr marL="285750" indent="-285750">
              <a:buFont typeface="Arial" panose="020B0604020202020204" pitchFamily="34" charset="0"/>
              <a:buChar char="•"/>
            </a:pPr>
            <a:r>
              <a:rPr lang="ja-JP" altLang="en-US"/>
              <a:t>「地名」、「人名」、「固有現象名」等にかかる記述の解析（形態素の特徴量が正しいか・十分か）</a:t>
            </a:r>
            <a:endParaRPr lang="en-US" altLang="ja-JP" dirty="0"/>
          </a:p>
          <a:p>
            <a:pPr marL="742950" lvl="1" indent="-285750">
              <a:buFont typeface="Arial" panose="020B0604020202020204" pitchFamily="34" charset="0"/>
              <a:buChar char="•"/>
            </a:pPr>
            <a:r>
              <a:rPr lang="ja-JP" altLang="en-US"/>
              <a:t>例</a:t>
            </a:r>
            <a:r>
              <a:rPr lang="en-US" altLang="ja-JP" dirty="0"/>
              <a:t>: </a:t>
            </a:r>
            <a:r>
              <a:rPr lang="ja-JP" altLang="en-US"/>
              <a:t>地名を人名や組織名と特定する可能性</a:t>
            </a:r>
            <a:endParaRPr lang="en-US" altLang="ja-JP" dirty="0"/>
          </a:p>
          <a:p>
            <a:pPr marL="742950" lvl="1" indent="-285750">
              <a:buFont typeface="Arial" panose="020B0604020202020204" pitchFamily="34" charset="0"/>
              <a:buChar char="•"/>
            </a:pPr>
            <a:r>
              <a:rPr lang="ja-JP" altLang="en-US"/>
              <a:t>例</a:t>
            </a:r>
            <a:r>
              <a:rPr lang="en-US" altLang="ja-JP" dirty="0"/>
              <a:t>: </a:t>
            </a:r>
            <a:r>
              <a:rPr lang="ja-JP" altLang="en-US"/>
              <a:t>下のようなより上位の判定に十分な情報を提供しているか</a:t>
            </a:r>
            <a:endParaRPr lang="en-US" altLang="ja-JP" dirty="0"/>
          </a:p>
          <a:p>
            <a:pPr marL="285750" indent="-285750">
              <a:buFont typeface="Arial" panose="020B0604020202020204" pitchFamily="34" charset="0"/>
              <a:buChar char="•"/>
            </a:pPr>
            <a:r>
              <a:rPr lang="ja-JP" altLang="en-US"/>
              <a:t>特定したい記述にレベル（複合語等）がある</a:t>
            </a:r>
            <a:endParaRPr lang="en-US" altLang="ja-JP" dirty="0"/>
          </a:p>
          <a:p>
            <a:pPr marL="742950" lvl="1" indent="-285750">
              <a:buFont typeface="Arial" panose="020B0604020202020204" pitchFamily="34" charset="0"/>
              <a:buChar char="•"/>
            </a:pPr>
            <a:r>
              <a:rPr lang="ja-JP" altLang="en-US"/>
              <a:t>トークンの上位判定（特定のトークン列を一つのトークンとして扱うか）</a:t>
            </a:r>
            <a:endParaRPr lang="en-US" altLang="ja-JP" dirty="0"/>
          </a:p>
          <a:p>
            <a:pPr marL="742950" lvl="1" indent="-285750">
              <a:buFont typeface="Arial" panose="020B0604020202020204" pitchFamily="34" charset="0"/>
              <a:buChar char="•"/>
            </a:pPr>
            <a:r>
              <a:rPr lang="ja-JP" altLang="en-US"/>
              <a:t>クラス付与（従来の</a:t>
            </a:r>
            <a:r>
              <a:rPr lang="en-US" altLang="ja-JP" dirty="0"/>
              <a:t>NER</a:t>
            </a:r>
            <a:r>
              <a:rPr lang="ja-JP" altLang="en-US"/>
              <a:t>にはないさらに上位の概念の付与）</a:t>
            </a:r>
            <a:endParaRPr lang="en-US" altLang="ja-JP" dirty="0"/>
          </a:p>
          <a:p>
            <a:r>
              <a:rPr lang="en-US" altLang="ja-JP" dirty="0"/>
              <a:t>※</a:t>
            </a:r>
            <a:r>
              <a:rPr lang="ja-JP" altLang="en-US"/>
              <a:t>形態素解析というより構文解析の課題にまで発展してきている</a:t>
            </a:r>
            <a:endParaRPr lang="en-US" altLang="ja-JP" dirty="0"/>
          </a:p>
          <a:p>
            <a:endParaRPr lang="en-US" altLang="ja-JP" dirty="0"/>
          </a:p>
          <a:p>
            <a:r>
              <a:rPr lang="ja-JP" altLang="en-US" b="1"/>
              <a:t>◾️同一表現の曖昧性（特に地名）</a:t>
            </a:r>
            <a:endParaRPr lang="en-US" altLang="ja-JP" dirty="0"/>
          </a:p>
          <a:p>
            <a:pPr marL="285750" indent="-285750">
              <a:buFont typeface="Arial" panose="020B0604020202020204" pitchFamily="34" charset="0"/>
              <a:buChar char="•"/>
            </a:pPr>
            <a:r>
              <a:rPr lang="ja-JP" altLang="en-US"/>
              <a:t>複数の同一の地名（ただし地理的な場所が異なる）の分離（曖昧性解決）</a:t>
            </a:r>
            <a:endParaRPr lang="en-US" altLang="ja-JP" dirty="0"/>
          </a:p>
          <a:p>
            <a:r>
              <a:rPr lang="ja-JP" altLang="en-US" b="1"/>
              <a:t>▪️名称の関係性を用いた解決</a:t>
            </a:r>
            <a:endParaRPr lang="en-US" altLang="ja-JP" b="1" dirty="0"/>
          </a:p>
          <a:p>
            <a:pPr marL="285750" indent="-285750">
              <a:buFont typeface="Arial" panose="020B0604020202020204" pitchFamily="34" charset="0"/>
              <a:buChar char="•"/>
            </a:pPr>
            <a:r>
              <a:rPr lang="ja-JP" altLang="en-US"/>
              <a:t>文脈による関係性</a:t>
            </a:r>
            <a:endParaRPr lang="en-US" altLang="ja-JP" dirty="0"/>
          </a:p>
          <a:p>
            <a:pPr marL="285750" indent="-285750">
              <a:buFont typeface="Arial" panose="020B0604020202020204" pitchFamily="34" charset="0"/>
              <a:buChar char="•"/>
            </a:pPr>
            <a:r>
              <a:rPr lang="ja-JP" altLang="en-US"/>
              <a:t>地理的な関係性</a:t>
            </a:r>
            <a:endParaRPr lang="en-US" altLang="ja-JP" dirty="0"/>
          </a:p>
          <a:p>
            <a:r>
              <a:rPr lang="en-US" altLang="ja-JP" dirty="0"/>
              <a:t>※</a:t>
            </a:r>
            <a:r>
              <a:rPr lang="ja-JP" altLang="en-US"/>
              <a:t>人名の同姓同名問題は言わずもがな</a:t>
            </a:r>
            <a:endParaRPr lang="en-US" altLang="ja-JP" dirty="0"/>
          </a:p>
        </p:txBody>
      </p:sp>
    </p:spTree>
    <p:extLst>
      <p:ext uri="{BB962C8B-B14F-4D97-AF65-F5344CB8AC3E}">
        <p14:creationId xmlns:p14="http://schemas.microsoft.com/office/powerpoint/2010/main" val="3383124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62D95-6BB5-08C4-6C52-791A0EAD6D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9F9B36-6E1B-F1B7-3CA0-607DD3CB503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関連</a:t>
            </a:r>
            <a:r>
              <a:rPr kumimoji="1" lang="ja-JP" altLang="en-US" sz="3600"/>
              <a:t>研究（</a:t>
            </a:r>
            <a:r>
              <a:rPr kumimoji="1" lang="en-US" altLang="ja-JP" sz="3600" dirty="0"/>
              <a:t>1</a:t>
            </a:r>
            <a:r>
              <a:rPr kumimoji="1" lang="ja-JP" altLang="en-US" sz="3600"/>
              <a:t>）</a:t>
            </a:r>
          </a:p>
        </p:txBody>
      </p:sp>
      <p:sp>
        <p:nvSpPr>
          <p:cNvPr id="5" name="テキスト ボックス 4">
            <a:extLst>
              <a:ext uri="{FF2B5EF4-FFF2-40B4-BE49-F238E27FC236}">
                <a16:creationId xmlns:a16="http://schemas.microsoft.com/office/drawing/2014/main" id="{A11988AF-0076-B539-AA4D-FB9D86D4B661}"/>
              </a:ext>
            </a:extLst>
          </p:cNvPr>
          <p:cNvSpPr txBox="1"/>
          <p:nvPr/>
        </p:nvSpPr>
        <p:spPr>
          <a:xfrm>
            <a:off x="0" y="577517"/>
            <a:ext cx="12192000" cy="6186309"/>
          </a:xfrm>
          <a:prstGeom prst="rect">
            <a:avLst/>
          </a:prstGeom>
          <a:noFill/>
        </p:spPr>
        <p:txBody>
          <a:bodyPr wrap="square" rtlCol="0">
            <a:spAutoFit/>
          </a:bodyPr>
          <a:lstStyle/>
          <a:p>
            <a:pPr marL="285750" indent="-285750">
              <a:buFont typeface="Arial" panose="020B0604020202020204" pitchFamily="34" charset="0"/>
              <a:buChar char="•"/>
            </a:pPr>
            <a:r>
              <a:rPr lang="en" altLang="ja-JP" dirty="0"/>
              <a:t>Toponym resolution leveraging lightweight and open-source large language models and geo-knowledge. 2024.  (</a:t>
            </a:r>
            <a:r>
              <a:rPr lang="en" altLang="ja-JP" dirty="0">
                <a:hlinkClick r:id="rId2"/>
              </a:rPr>
              <a:t>https://www.tandfonline.com/doi/full/10.1080/13658816.2024.2405182</a:t>
            </a:r>
            <a:r>
              <a:rPr lang="en" altLang="ja-JP" dirty="0"/>
              <a:t>)</a:t>
            </a:r>
          </a:p>
          <a:p>
            <a:pPr marL="742950" lvl="1" indent="-285750">
              <a:buFont typeface="Arial" panose="020B0604020202020204" pitchFamily="34" charset="0"/>
              <a:buChar char="•"/>
            </a:pPr>
            <a:r>
              <a:rPr lang="ja-JP" altLang="en-US"/>
              <a:t>地名から地理的な位置を推定する</a:t>
            </a:r>
            <a:endParaRPr lang="en-US" altLang="ja-JP" dirty="0"/>
          </a:p>
          <a:p>
            <a:pPr marL="742950" lvl="1" indent="-285750">
              <a:buFont typeface="Arial" panose="020B0604020202020204" pitchFamily="34" charset="0"/>
              <a:buChar char="•"/>
            </a:pPr>
            <a:r>
              <a:rPr lang="en-US" altLang="ja-JP" dirty="0"/>
              <a:t>GIS</a:t>
            </a:r>
            <a:r>
              <a:rPr lang="ja-JP" altLang="en-US"/>
              <a:t>情報を使う</a:t>
            </a:r>
            <a:endParaRPr lang="en-US" altLang="ja-JP" dirty="0"/>
          </a:p>
          <a:p>
            <a:pPr marL="742950" lvl="1" indent="-285750">
              <a:buFont typeface="Arial" panose="020B0604020202020204" pitchFamily="34" charset="0"/>
              <a:buChar char="•"/>
            </a:pPr>
            <a:r>
              <a:rPr lang="ja-JP" altLang="en-US"/>
              <a:t>既存</a:t>
            </a:r>
            <a:r>
              <a:rPr lang="en-US" altLang="ja-JP" dirty="0"/>
              <a:t>LLM</a:t>
            </a:r>
            <a:r>
              <a:rPr lang="ja-JP" altLang="en-US"/>
              <a:t>を利用</a:t>
            </a:r>
            <a:endParaRPr lang="en-US" altLang="ja-JP" dirty="0"/>
          </a:p>
          <a:p>
            <a:pPr marL="285750" indent="-285750">
              <a:buFont typeface="Arial" panose="020B0604020202020204" pitchFamily="34" charset="0"/>
              <a:buChar char="•"/>
            </a:pPr>
            <a:r>
              <a:rPr lang="ja-JP" altLang="en-US"/>
              <a:t>固有表現抽出における大規模言語モデルを用いた自動アノテーション</a:t>
            </a:r>
            <a:r>
              <a:rPr lang="en-US" altLang="ja-JP" dirty="0"/>
              <a:t>. 2024. (</a:t>
            </a:r>
            <a:r>
              <a:rPr lang="en-US" altLang="ja-JP" dirty="0">
                <a:hlinkClick r:id="rId3"/>
              </a:rPr>
              <a:t>https://www.anlp.jp/proceedings/annual_meeting/2024/pdf_dir/C8-5.pdf</a:t>
            </a:r>
            <a:r>
              <a:rPr lang="en-US" altLang="ja-JP" dirty="0"/>
              <a:t>)</a:t>
            </a:r>
          </a:p>
          <a:p>
            <a:pPr marL="742950" lvl="1" indent="-285750">
              <a:buFont typeface="Arial" panose="020B0604020202020204" pitchFamily="34" charset="0"/>
              <a:buChar char="•"/>
            </a:pPr>
            <a:r>
              <a:rPr lang="en-US" altLang="ja-JP" dirty="0"/>
              <a:t>LLM</a:t>
            </a:r>
            <a:r>
              <a:rPr lang="ja-JP" altLang="en-US"/>
              <a:t>のみよる</a:t>
            </a:r>
            <a:r>
              <a:rPr lang="en-US" altLang="ja-JP" dirty="0"/>
              <a:t>NER</a:t>
            </a:r>
            <a:r>
              <a:rPr lang="ja-JP" altLang="en-US"/>
              <a:t>へのチャレンジ</a:t>
            </a:r>
            <a:endParaRPr lang="en-US" altLang="ja-JP" dirty="0"/>
          </a:p>
          <a:p>
            <a:pPr marL="285750" indent="-285750">
              <a:buFont typeface="Arial" panose="020B0604020202020204" pitchFamily="34" charset="0"/>
              <a:buChar char="•"/>
            </a:pPr>
            <a:r>
              <a:rPr lang="ja-JP" altLang="en-US"/>
              <a:t>歴史災害史料からの自動地名抽出に向けた自然言語処理システムの性能評価</a:t>
            </a:r>
            <a:r>
              <a:rPr lang="en-US" altLang="ja-JP" dirty="0"/>
              <a:t>. 2023. (https://</a:t>
            </a:r>
            <a:r>
              <a:rPr lang="en-US" altLang="ja-JP" dirty="0" err="1"/>
              <a:t>ipsj.ixsq.nii.ac.jp</a:t>
            </a:r>
            <a:r>
              <a:rPr lang="en-US" altLang="ja-JP" dirty="0"/>
              <a:t>/record/231338/files/IPSJ-CH2023003.pdf)</a:t>
            </a:r>
          </a:p>
          <a:p>
            <a:pPr marL="742950" lvl="1" indent="-285750">
              <a:buFont typeface="Arial" panose="020B0604020202020204" pitchFamily="34" charset="0"/>
              <a:buChar char="•"/>
            </a:pPr>
            <a:r>
              <a:rPr lang="ja-JP" altLang="en-US"/>
              <a:t>固有表現抽出と</a:t>
            </a:r>
            <a:r>
              <a:rPr lang="en-US" altLang="ja-JP" dirty="0"/>
              <a:t>LLM</a:t>
            </a:r>
            <a:r>
              <a:rPr lang="ja-JP" altLang="en-US"/>
              <a:t>に対して評価（連結利用は行なっていない）</a:t>
            </a:r>
            <a:endParaRPr lang="en-US" altLang="ja-JP" dirty="0"/>
          </a:p>
          <a:p>
            <a:pPr marL="742950" lvl="1" indent="-285750">
              <a:buFont typeface="Arial" panose="020B0604020202020204" pitchFamily="34" charset="0"/>
              <a:buChar char="•"/>
            </a:pPr>
            <a:r>
              <a:rPr lang="ja-JP" altLang="en-US"/>
              <a:t>「正解」に対する正答の評価</a:t>
            </a:r>
            <a:endParaRPr lang="en-US" altLang="ja-JP" dirty="0"/>
          </a:p>
          <a:p>
            <a:pPr marL="285750" indent="-285750">
              <a:buFont typeface="Arial" panose="020B0604020202020204" pitchFamily="34" charset="0"/>
              <a:buChar char="•"/>
            </a:pPr>
            <a:r>
              <a:rPr lang="ja-JP" altLang="en-US"/>
              <a:t>郷土に残存する江戸期古記録の機械可読化を目的とした市民参加および機械学習による固有表現抽出</a:t>
            </a:r>
            <a:r>
              <a:rPr lang="en-US" altLang="ja-JP" dirty="0"/>
              <a:t>. 2022. (</a:t>
            </a:r>
            <a:r>
              <a:rPr lang="en-US" altLang="ja-JP" dirty="0">
                <a:hlinkClick r:id="rId4"/>
              </a:rPr>
              <a:t>https://ir.library.osaka-u.ac.jp/repo/ouka/all/93281/IPSJ-JNL_63_2_310.pdf</a:t>
            </a:r>
            <a:r>
              <a:rPr lang="en-US" altLang="ja-JP" dirty="0"/>
              <a:t>)</a:t>
            </a:r>
          </a:p>
          <a:p>
            <a:pPr marL="742950" lvl="1" indent="-285750">
              <a:buFont typeface="Arial" panose="020B0604020202020204" pitchFamily="34" charset="0"/>
              <a:buChar char="•"/>
            </a:pPr>
            <a:r>
              <a:rPr lang="ja-JP" altLang="en-US"/>
              <a:t>人と機械学習による混成方法</a:t>
            </a:r>
            <a:endParaRPr lang="en-US" altLang="ja-JP" dirty="0"/>
          </a:p>
          <a:p>
            <a:pPr marL="742950" lvl="1" indent="-285750">
              <a:buFont typeface="Arial" panose="020B0604020202020204" pitchFamily="34" charset="0"/>
              <a:buChar char="•"/>
            </a:pPr>
            <a:r>
              <a:rPr lang="en-US" altLang="ja-JP" dirty="0"/>
              <a:t>LLM</a:t>
            </a:r>
            <a:r>
              <a:rPr lang="ja-JP" altLang="en-US"/>
              <a:t>を用いない独自ディープラーニング</a:t>
            </a:r>
            <a:endParaRPr lang="en-US" altLang="ja-JP" dirty="0"/>
          </a:p>
          <a:p>
            <a:pPr marL="742950" lvl="1" indent="-285750">
              <a:buFont typeface="Arial" panose="020B0604020202020204" pitchFamily="34" charset="0"/>
              <a:buChar char="•"/>
            </a:pPr>
            <a:r>
              <a:rPr lang="ja-JP" altLang="en-US"/>
              <a:t>手法としては本研究に最も近い</a:t>
            </a:r>
            <a:endParaRPr lang="en-US" altLang="ja-JP" dirty="0"/>
          </a:p>
          <a:p>
            <a:pPr marL="285750" indent="-285750">
              <a:buFont typeface="Arial" panose="020B0604020202020204" pitchFamily="34" charset="0"/>
              <a:buChar char="•"/>
            </a:pPr>
            <a:r>
              <a:rPr lang="en" altLang="ja-JP" dirty="0"/>
              <a:t>Collective Named Entity Disambiguation using Graph Ranking and Clique Partitioning Approaches. 2014. (</a:t>
            </a:r>
            <a:r>
              <a:rPr lang="en" altLang="ja-JP" dirty="0">
                <a:hlinkClick r:id="rId5"/>
              </a:rPr>
              <a:t>https://aclanthology.org/C14-1147.pdf</a:t>
            </a:r>
            <a:r>
              <a:rPr lang="en" altLang="ja-JP" dirty="0"/>
              <a:t>)</a:t>
            </a:r>
          </a:p>
          <a:p>
            <a:pPr marL="742950" lvl="1" indent="-285750">
              <a:buFont typeface="Arial" panose="020B0604020202020204" pitchFamily="34" charset="0"/>
              <a:buChar char="•"/>
            </a:pPr>
            <a:r>
              <a:rPr lang="en-US" altLang="ja-JP" dirty="0"/>
              <a:t>Knowledge Base</a:t>
            </a:r>
            <a:r>
              <a:rPr lang="ja-JP" altLang="en-US"/>
              <a:t>（辞書）を利用</a:t>
            </a:r>
            <a:endParaRPr lang="en-US" altLang="ja-JP" dirty="0"/>
          </a:p>
          <a:p>
            <a:pPr marL="742950" lvl="1" indent="-285750">
              <a:buFont typeface="Arial" panose="020B0604020202020204" pitchFamily="34" charset="0"/>
              <a:buChar char="•"/>
            </a:pPr>
            <a:r>
              <a:rPr lang="ja-JP" altLang="en-US"/>
              <a:t>グラフ構造を解析（ノードが地名）</a:t>
            </a:r>
            <a:endParaRPr lang="en-US" altLang="ja-JP" dirty="0"/>
          </a:p>
          <a:p>
            <a:pPr marL="742950" lvl="1" indent="-285750">
              <a:buFont typeface="Arial" panose="020B0604020202020204" pitchFamily="34" charset="0"/>
              <a:buChar char="•"/>
            </a:pPr>
            <a:r>
              <a:rPr lang="ja-JP" altLang="en-US"/>
              <a:t>既存</a:t>
            </a:r>
            <a:r>
              <a:rPr lang="en-US" altLang="ja-JP" dirty="0"/>
              <a:t>LLM</a:t>
            </a:r>
            <a:r>
              <a:rPr lang="ja-JP" altLang="en-US"/>
              <a:t>を利用しない</a:t>
            </a:r>
            <a:endParaRPr lang="en-US" altLang="ja-JP" dirty="0"/>
          </a:p>
        </p:txBody>
      </p:sp>
    </p:spTree>
    <p:extLst>
      <p:ext uri="{BB962C8B-B14F-4D97-AF65-F5344CB8AC3E}">
        <p14:creationId xmlns:p14="http://schemas.microsoft.com/office/powerpoint/2010/main" val="2513616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4F9E-3F09-C08E-EB47-DE59F5A4D8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74EB11D-EFD8-8D35-040C-6F65EFF3F86C}"/>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関連</a:t>
            </a:r>
            <a:r>
              <a:rPr kumimoji="1" lang="ja-JP" altLang="en-US" sz="3600"/>
              <a:t>研究（</a:t>
            </a:r>
            <a:r>
              <a:rPr lang="en-US" altLang="ja-JP" sz="3600" dirty="0"/>
              <a:t>2</a:t>
            </a:r>
            <a:r>
              <a:rPr kumimoji="1" lang="ja-JP" altLang="en-US" sz="3600"/>
              <a:t>）</a:t>
            </a:r>
          </a:p>
        </p:txBody>
      </p:sp>
      <p:sp>
        <p:nvSpPr>
          <p:cNvPr id="5" name="テキスト ボックス 4">
            <a:extLst>
              <a:ext uri="{FF2B5EF4-FFF2-40B4-BE49-F238E27FC236}">
                <a16:creationId xmlns:a16="http://schemas.microsoft.com/office/drawing/2014/main" id="{EF54C506-1C32-91B0-EC44-EF52233526FE}"/>
              </a:ext>
            </a:extLst>
          </p:cNvPr>
          <p:cNvSpPr txBox="1"/>
          <p:nvPr/>
        </p:nvSpPr>
        <p:spPr>
          <a:xfrm>
            <a:off x="0" y="577517"/>
            <a:ext cx="12192000" cy="3139321"/>
          </a:xfrm>
          <a:prstGeom prst="rect">
            <a:avLst/>
          </a:prstGeom>
          <a:noFill/>
        </p:spPr>
        <p:txBody>
          <a:bodyPr wrap="square" rtlCol="0">
            <a:spAutoFit/>
          </a:bodyPr>
          <a:lstStyle/>
          <a:p>
            <a:pPr marL="285750" indent="-285750">
              <a:buFont typeface="Arial" panose="020B0604020202020204" pitchFamily="34" charset="0"/>
              <a:buChar char="•"/>
            </a:pPr>
            <a:r>
              <a:rPr lang="ja-JP" altLang="en-US"/>
              <a:t>固有表現抽出手法を用いたレストラン属性情報の自動認識</a:t>
            </a:r>
            <a:r>
              <a:rPr lang="en-US" altLang="ja-JP" dirty="0"/>
              <a:t>. 2006. (</a:t>
            </a:r>
            <a:r>
              <a:rPr lang="en-US" altLang="ja-JP" dirty="0">
                <a:hlinkClick r:id="rId2"/>
              </a:rPr>
              <a:t>https://nlp.cs.nyu.edu/sekine/papers/skeiji_nlp06.pdf</a:t>
            </a:r>
            <a:r>
              <a:rPr lang="en-US" altLang="ja-JP" dirty="0"/>
              <a:t>)</a:t>
            </a:r>
          </a:p>
          <a:p>
            <a:pPr marL="742950" lvl="1" indent="-285750">
              <a:buFont typeface="Arial" panose="020B0604020202020204" pitchFamily="34" charset="0"/>
              <a:buChar char="•"/>
            </a:pPr>
            <a:r>
              <a:rPr lang="en-US" altLang="ja-JP" dirty="0"/>
              <a:t>SVM</a:t>
            </a:r>
            <a:r>
              <a:rPr lang="ja-JP" altLang="en-US"/>
              <a:t>を利用</a:t>
            </a:r>
            <a:endParaRPr lang="en-US" altLang="ja-JP" dirty="0"/>
          </a:p>
          <a:p>
            <a:pPr marL="285750" indent="-285750">
              <a:buFont typeface="Arial" panose="020B0604020202020204" pitchFamily="34" charset="0"/>
              <a:buChar char="•"/>
            </a:pPr>
            <a:r>
              <a:rPr lang="ja-JP" altLang="en-US"/>
              <a:t>検索結果を地域で整理する百科事典テキスト検索のための地名情報抽出法</a:t>
            </a:r>
            <a:r>
              <a:rPr lang="en" altLang="ja-JP" dirty="0"/>
              <a:t>. 2002.     (</a:t>
            </a:r>
            <a:r>
              <a:rPr lang="en-US" altLang="ja-JP" dirty="0">
                <a:hlinkClick r:id="rId3"/>
              </a:rPr>
              <a:t>https://kanadas.com/search-papers/extract2.pdf</a:t>
            </a:r>
            <a:r>
              <a:rPr lang="en" altLang="ja-JP" dirty="0"/>
              <a:t>)</a:t>
            </a:r>
          </a:p>
          <a:p>
            <a:pPr marL="742950" lvl="1" indent="-285750">
              <a:buFont typeface="Arial" panose="020B0604020202020204" pitchFamily="34" charset="0"/>
              <a:buChar char="•"/>
            </a:pPr>
            <a:r>
              <a:rPr lang="ja-JP" altLang="en-US">
                <a:solidFill>
                  <a:srgbClr val="333333"/>
                </a:solidFill>
                <a:latin typeface="Hiragino Kaku Gothic ProN"/>
              </a:rPr>
              <a:t>大規模な百科事典データを利用</a:t>
            </a:r>
            <a:endParaRPr lang="en-US" altLang="ja-JP" dirty="0"/>
          </a:p>
          <a:p>
            <a:pPr marL="742950" lvl="1" indent="-285750">
              <a:buFont typeface="Arial" panose="020B0604020202020204" pitchFamily="34" charset="0"/>
              <a:buChar char="•"/>
            </a:pPr>
            <a:r>
              <a:rPr lang="ja-JP" altLang="en-US">
                <a:solidFill>
                  <a:srgbClr val="333333"/>
                </a:solidFill>
                <a:latin typeface="Hiragino Kaku Gothic ProN"/>
              </a:rPr>
              <a:t>ルールベース・辞書ベース</a:t>
            </a:r>
            <a:endParaRPr lang="en-US" altLang="ja-JP" dirty="0">
              <a:solidFill>
                <a:srgbClr val="333333"/>
              </a:solidFill>
              <a:latin typeface="Hiragino Kaku Gothic ProN"/>
            </a:endParaRPr>
          </a:p>
          <a:p>
            <a:pPr marL="742950" lvl="1" indent="-285750">
              <a:buFont typeface="Arial" panose="020B0604020202020204" pitchFamily="34" charset="0"/>
              <a:buChar char="•"/>
            </a:pPr>
            <a:r>
              <a:rPr lang="ja-JP" altLang="en-US">
                <a:solidFill>
                  <a:srgbClr val="333333"/>
                </a:solidFill>
                <a:latin typeface="Hiragino Kaku Gothic ProN"/>
              </a:rPr>
              <a:t>機械学習を用いていない</a:t>
            </a:r>
            <a:endParaRPr lang="en-US" altLang="ja-JP" dirty="0">
              <a:solidFill>
                <a:srgbClr val="333333"/>
              </a:solidFill>
              <a:latin typeface="Hiragino Kaku Gothic ProN"/>
            </a:endParaRPr>
          </a:p>
          <a:p>
            <a:pPr marL="285750" indent="-285750">
              <a:buFont typeface="Arial" panose="020B0604020202020204" pitchFamily="34" charset="0"/>
              <a:buChar char="•"/>
            </a:pPr>
            <a:r>
              <a:rPr lang="en" altLang="ja-JP" dirty="0"/>
              <a:t>A Method for Eliminating Articles by Homonymous Authors from the Large Number of Articles Retrieved by Author Search. 2011. (</a:t>
            </a:r>
            <a:r>
              <a:rPr lang="en" altLang="ja-JP" dirty="0">
                <a:hlinkClick r:id="rId4"/>
              </a:rPr>
              <a:t>https://dl.acm.org/doi/abs/10.1002/asi.21491</a:t>
            </a:r>
            <a:r>
              <a:rPr lang="en" altLang="ja-JP" dirty="0"/>
              <a:t>)</a:t>
            </a:r>
          </a:p>
          <a:p>
            <a:pPr marL="742950" lvl="1" indent="-285750">
              <a:buFont typeface="Arial" panose="020B0604020202020204" pitchFamily="34" charset="0"/>
              <a:buChar char="•"/>
            </a:pPr>
            <a:r>
              <a:rPr lang="ja-JP" altLang="en-US"/>
              <a:t>地名ではなく人名の同姓同イニシアル問題にアプローチ</a:t>
            </a:r>
            <a:endParaRPr lang="en-US" altLang="ja-JP" dirty="0"/>
          </a:p>
        </p:txBody>
      </p:sp>
      <p:sp>
        <p:nvSpPr>
          <p:cNvPr id="3" name="テキスト ボックス 2">
            <a:extLst>
              <a:ext uri="{FF2B5EF4-FFF2-40B4-BE49-F238E27FC236}">
                <a16:creationId xmlns:a16="http://schemas.microsoft.com/office/drawing/2014/main" id="{753B2B7B-2EF3-8A48-2C6E-B6E35F666F68}"/>
              </a:ext>
            </a:extLst>
          </p:cNvPr>
          <p:cNvSpPr txBox="1"/>
          <p:nvPr/>
        </p:nvSpPr>
        <p:spPr>
          <a:xfrm>
            <a:off x="860854" y="4306906"/>
            <a:ext cx="10332382" cy="1754326"/>
          </a:xfrm>
          <a:prstGeom prst="rect">
            <a:avLst/>
          </a:prstGeom>
          <a:noFill/>
          <a:ln w="12700">
            <a:solidFill>
              <a:schemeClr val="tx1"/>
            </a:solidFill>
          </a:ln>
        </p:spPr>
        <p:txBody>
          <a:bodyPr wrap="square" rtlCol="0">
            <a:spAutoFit/>
          </a:bodyPr>
          <a:lstStyle/>
          <a:p>
            <a:pPr marL="285750" indent="-285750">
              <a:buFont typeface="Wingdings" pitchFamily="2" charset="2"/>
              <a:buChar char="Ø"/>
            </a:pPr>
            <a:r>
              <a:rPr kumimoji="1" lang="ja-JP" altLang="en-US"/>
              <a:t>海外では地名から地理的な位置を特定する研究は典型的（</a:t>
            </a:r>
            <a:r>
              <a:rPr kumimoji="1" lang="en-US" altLang="ja-JP" dirty="0"/>
              <a:t>toponym</a:t>
            </a:r>
            <a:r>
              <a:rPr kumimoji="1" lang="ja-JP" altLang="en-US" dirty="0"/>
              <a:t>研究</a:t>
            </a:r>
            <a:r>
              <a:rPr kumimoji="1" lang="ja-JP" altLang="en-US"/>
              <a:t>）</a:t>
            </a:r>
            <a:endParaRPr lang="en-US" altLang="ja-JP" dirty="0"/>
          </a:p>
          <a:p>
            <a:pPr marL="285750" indent="-285750">
              <a:buFont typeface="Wingdings" pitchFamily="2" charset="2"/>
              <a:buChar char="Ø"/>
            </a:pPr>
            <a:r>
              <a:rPr kumimoji="1" lang="ja-JP" altLang="en-US"/>
              <a:t>曖昧性解決においても地理情報と結びつけて行うものが多い</a:t>
            </a:r>
            <a:endParaRPr kumimoji="1" lang="en-US" altLang="ja-JP" dirty="0"/>
          </a:p>
          <a:p>
            <a:pPr marL="285750" indent="-285750">
              <a:buFont typeface="Wingdings" pitchFamily="2" charset="2"/>
              <a:buChar char="Ø"/>
            </a:pPr>
            <a:r>
              <a:rPr lang="ja-JP" altLang="en-US"/>
              <a:t>地理情報を利用しない曖昧性解決においては、近年に独自</a:t>
            </a:r>
            <a:r>
              <a:rPr lang="en-US" altLang="ja-JP" dirty="0"/>
              <a:t>NN</a:t>
            </a:r>
            <a:r>
              <a:rPr lang="ja-JP" altLang="en-US"/>
              <a:t>開発によるものが見受けられる</a:t>
            </a:r>
            <a:endParaRPr lang="en-US" altLang="ja-JP" dirty="0"/>
          </a:p>
          <a:p>
            <a:pPr marL="285750" indent="-285750">
              <a:buFont typeface="Wingdings" pitchFamily="2" charset="2"/>
              <a:buChar char="Ø"/>
            </a:pPr>
            <a:r>
              <a:rPr lang="ja-JP" altLang="en-US"/>
              <a:t>曖昧性解決において</a:t>
            </a:r>
            <a:r>
              <a:rPr kumimoji="1" lang="ja-JP" altLang="en-US"/>
              <a:t>一般的な</a:t>
            </a:r>
            <a:r>
              <a:rPr kumimoji="1" lang="en-US" altLang="ja-JP" dirty="0"/>
              <a:t>LLM</a:t>
            </a:r>
            <a:r>
              <a:rPr lang="ja-JP" altLang="en-US"/>
              <a:t>が用いられはじめたのはさらにごく最近</a:t>
            </a:r>
            <a:endParaRPr lang="en-US" altLang="ja-JP" dirty="0"/>
          </a:p>
          <a:p>
            <a:pPr marL="285750" indent="-285750">
              <a:buFont typeface="Wingdings" pitchFamily="2" charset="2"/>
              <a:buChar char="Ø"/>
            </a:pPr>
            <a:r>
              <a:rPr lang="ja-JP" altLang="en-US"/>
              <a:t>地名と地名以外を含む幅広い固有表現の曖昧性解決も行われている</a:t>
            </a:r>
            <a:endParaRPr lang="en-US" altLang="ja-JP" dirty="0"/>
          </a:p>
          <a:p>
            <a:pPr marL="285750" indent="-285750">
              <a:buFont typeface="Wingdings" pitchFamily="2" charset="2"/>
              <a:buChar char="Ø"/>
            </a:pPr>
            <a:r>
              <a:rPr kumimoji="1" lang="ja-JP" altLang="en-US"/>
              <a:t>日本語における事例は少ないが、辞書ベース・ルールベースのものが</a:t>
            </a:r>
            <a:r>
              <a:rPr kumimoji="1" lang="en-US" altLang="ja-JP"/>
              <a:t>2000</a:t>
            </a:r>
            <a:r>
              <a:rPr kumimoji="1" lang="ja-JP" altLang="en-US"/>
              <a:t>年頃までは見られる</a:t>
            </a:r>
            <a:endParaRPr kumimoji="1" lang="en-US" altLang="ja-JP" dirty="0"/>
          </a:p>
        </p:txBody>
      </p:sp>
    </p:spTree>
    <p:extLst>
      <p:ext uri="{BB962C8B-B14F-4D97-AF65-F5344CB8AC3E}">
        <p14:creationId xmlns:p14="http://schemas.microsoft.com/office/powerpoint/2010/main" val="1521976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7BAEF-ED48-AA28-A78E-6C00572771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31DFBF-5A22-D82C-DA39-238E0C1A317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目的</a:t>
            </a:r>
            <a:endParaRPr kumimoji="1" lang="ja-JP" altLang="en-US" sz="3600"/>
          </a:p>
        </p:txBody>
      </p:sp>
      <p:sp>
        <p:nvSpPr>
          <p:cNvPr id="5" name="テキスト ボックス 4">
            <a:extLst>
              <a:ext uri="{FF2B5EF4-FFF2-40B4-BE49-F238E27FC236}">
                <a16:creationId xmlns:a16="http://schemas.microsoft.com/office/drawing/2014/main" id="{2F2E5C55-83E2-107E-1378-E92140D4C437}"/>
              </a:ext>
            </a:extLst>
          </p:cNvPr>
          <p:cNvSpPr txBox="1"/>
          <p:nvPr/>
        </p:nvSpPr>
        <p:spPr>
          <a:xfrm>
            <a:off x="-1" y="615617"/>
            <a:ext cx="12192000" cy="2308324"/>
          </a:xfrm>
          <a:prstGeom prst="rect">
            <a:avLst/>
          </a:prstGeom>
          <a:noFill/>
        </p:spPr>
        <p:txBody>
          <a:bodyPr wrap="square" rtlCol="0">
            <a:spAutoFit/>
          </a:bodyPr>
          <a:lstStyle/>
          <a:p>
            <a:r>
              <a:rPr lang="ja-JP" altLang="en-US" b="1"/>
              <a:t>◾️文書からの地名の抽出に関して、技術的な課題を検討する</a:t>
            </a:r>
            <a:endParaRPr lang="en-US" altLang="ja-JP" b="1" dirty="0"/>
          </a:p>
          <a:p>
            <a:r>
              <a:rPr lang="ja-JP" altLang="en-US" b="1"/>
              <a:t>▪️その一つ、</a:t>
            </a:r>
            <a:r>
              <a:rPr lang="en-US" altLang="ja-JP" b="1" dirty="0"/>
              <a:t>NER</a:t>
            </a:r>
            <a:r>
              <a:rPr lang="ja-JP" altLang="en-US" b="1"/>
              <a:t>と</a:t>
            </a:r>
            <a:r>
              <a:rPr lang="en-US" altLang="ja-JP" b="1" dirty="0"/>
              <a:t>LLM</a:t>
            </a:r>
            <a:r>
              <a:rPr lang="ja-JP" altLang="en-US" b="1"/>
              <a:t>の併用を実施・評価する</a:t>
            </a:r>
            <a:endParaRPr lang="en-US" altLang="ja-JP" b="1" dirty="0"/>
          </a:p>
          <a:p>
            <a:pPr marL="285750" indent="-285750">
              <a:buFont typeface="Arial" panose="020B0604020202020204" pitchFamily="34" charset="0"/>
              <a:buChar char="•"/>
            </a:pPr>
            <a:r>
              <a:rPr lang="ja-JP" altLang="en-US"/>
              <a:t>具体的には、日本語に対する</a:t>
            </a:r>
            <a:endParaRPr lang="en-US" altLang="ja-JP" dirty="0"/>
          </a:p>
          <a:p>
            <a:pPr marL="742950" lvl="1" indent="-285750">
              <a:buFont typeface="Arial" panose="020B0604020202020204" pitchFamily="34" charset="0"/>
              <a:buChar char="•"/>
            </a:pPr>
            <a:r>
              <a:rPr lang="ja-JP" altLang="en-US"/>
              <a:t>固有表現抽出の試行</a:t>
            </a:r>
            <a:endParaRPr lang="en-US" altLang="ja-JP" dirty="0"/>
          </a:p>
          <a:p>
            <a:pPr marL="742950" lvl="1" indent="-285750">
              <a:buFont typeface="Arial" panose="020B0604020202020204" pitchFamily="34" charset="0"/>
              <a:buChar char="•"/>
            </a:pPr>
            <a:r>
              <a:rPr lang="ja-JP" altLang="en-US"/>
              <a:t>抽出された固有表現の判定の試行</a:t>
            </a:r>
            <a:endParaRPr lang="en-US" altLang="ja-JP" dirty="0"/>
          </a:p>
          <a:p>
            <a:pPr marL="742950" lvl="1" indent="-285750">
              <a:buFont typeface="Arial" panose="020B0604020202020204" pitchFamily="34" charset="0"/>
              <a:buChar char="•"/>
            </a:pPr>
            <a:r>
              <a:rPr lang="ja-JP" altLang="en-US"/>
              <a:t>判定における問題の整理</a:t>
            </a:r>
            <a:endParaRPr lang="en-US" altLang="ja-JP" dirty="0"/>
          </a:p>
          <a:p>
            <a:pPr marL="285750" indent="-285750">
              <a:buFont typeface="Arial" panose="020B0604020202020204" pitchFamily="34" charset="0"/>
              <a:buChar char="•"/>
            </a:pPr>
            <a:r>
              <a:rPr lang="ja-JP" altLang="en-US"/>
              <a:t>近年利用しやすくなった学習済み</a:t>
            </a:r>
            <a:r>
              <a:rPr lang="en-US" altLang="ja-JP" dirty="0"/>
              <a:t>LLM</a:t>
            </a:r>
            <a:r>
              <a:rPr lang="ja-JP" altLang="en-US"/>
              <a:t>を用いることにより簡易な方法を模索する</a:t>
            </a:r>
            <a:endParaRPr lang="en-US" altLang="ja-JP" dirty="0"/>
          </a:p>
          <a:p>
            <a:pPr marL="285750" indent="-285750">
              <a:buFont typeface="Arial" panose="020B0604020202020204" pitchFamily="34" charset="0"/>
              <a:buChar char="•"/>
            </a:pPr>
            <a:r>
              <a:rPr lang="ja-JP" altLang="en-US"/>
              <a:t>曖昧性解決にまで踏み込んでいない</a:t>
            </a:r>
            <a:endParaRPr lang="en-US" altLang="ja-JP" dirty="0"/>
          </a:p>
        </p:txBody>
      </p:sp>
    </p:spTree>
    <p:extLst>
      <p:ext uri="{BB962C8B-B14F-4D97-AF65-F5344CB8AC3E}">
        <p14:creationId xmlns:p14="http://schemas.microsoft.com/office/powerpoint/2010/main" val="2396115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A69AA-1FF6-E35B-D5AD-EF3CD81445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D666D7-9F06-2E12-DB10-5A1262FC6390}"/>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マテリアル・方法（概要）</a:t>
            </a:r>
          </a:p>
        </p:txBody>
      </p:sp>
      <p:sp>
        <p:nvSpPr>
          <p:cNvPr id="3" name="テキスト ボックス 2">
            <a:extLst>
              <a:ext uri="{FF2B5EF4-FFF2-40B4-BE49-F238E27FC236}">
                <a16:creationId xmlns:a16="http://schemas.microsoft.com/office/drawing/2014/main" id="{6BB50100-A622-8930-2A37-AA9F2F67F023}"/>
              </a:ext>
            </a:extLst>
          </p:cNvPr>
          <p:cNvSpPr txBox="1"/>
          <p:nvPr/>
        </p:nvSpPr>
        <p:spPr>
          <a:xfrm>
            <a:off x="2264575" y="708325"/>
            <a:ext cx="1364476" cy="369332"/>
          </a:xfrm>
          <a:prstGeom prst="rect">
            <a:avLst/>
          </a:prstGeom>
          <a:noFill/>
          <a:ln>
            <a:solidFill>
              <a:schemeClr val="tx1"/>
            </a:solidFill>
          </a:ln>
        </p:spPr>
        <p:txBody>
          <a:bodyPr wrap="none" rtlCol="0" anchor="ctr">
            <a:spAutoFit/>
          </a:bodyPr>
          <a:lstStyle/>
          <a:p>
            <a:r>
              <a:rPr kumimoji="1" lang="en-US" altLang="ja-JP" dirty="0"/>
              <a:t>KAKEN DB</a:t>
            </a:r>
            <a:endParaRPr kumimoji="1" lang="ja-JP" altLang="en-US"/>
          </a:p>
        </p:txBody>
      </p:sp>
      <p:sp>
        <p:nvSpPr>
          <p:cNvPr id="4" name="テキスト ボックス 3">
            <a:extLst>
              <a:ext uri="{FF2B5EF4-FFF2-40B4-BE49-F238E27FC236}">
                <a16:creationId xmlns:a16="http://schemas.microsoft.com/office/drawing/2014/main" id="{50B5646A-820F-E60C-8230-4D0E4A410F3A}"/>
              </a:ext>
            </a:extLst>
          </p:cNvPr>
          <p:cNvSpPr txBox="1"/>
          <p:nvPr/>
        </p:nvSpPr>
        <p:spPr>
          <a:xfrm>
            <a:off x="1931151" y="1440873"/>
            <a:ext cx="2031325" cy="369332"/>
          </a:xfrm>
          <a:prstGeom prst="rect">
            <a:avLst/>
          </a:prstGeom>
          <a:noFill/>
          <a:ln>
            <a:solidFill>
              <a:schemeClr val="tx1"/>
            </a:solidFill>
          </a:ln>
        </p:spPr>
        <p:txBody>
          <a:bodyPr wrap="none" rtlCol="0" anchor="ctr">
            <a:spAutoFit/>
          </a:bodyPr>
          <a:lstStyle/>
          <a:p>
            <a:r>
              <a:rPr lang="ja-JP" altLang="en-US"/>
              <a:t>国立大学の報告書</a:t>
            </a:r>
            <a:endParaRPr lang="en-US" altLang="ja-JP" dirty="0"/>
          </a:p>
        </p:txBody>
      </p:sp>
      <p:sp>
        <p:nvSpPr>
          <p:cNvPr id="6" name="テキスト ボックス 5">
            <a:extLst>
              <a:ext uri="{FF2B5EF4-FFF2-40B4-BE49-F238E27FC236}">
                <a16:creationId xmlns:a16="http://schemas.microsoft.com/office/drawing/2014/main" id="{4AAEC8DF-7497-1AA4-07B3-498D72BB2882}"/>
              </a:ext>
            </a:extLst>
          </p:cNvPr>
          <p:cNvSpPr txBox="1"/>
          <p:nvPr/>
        </p:nvSpPr>
        <p:spPr>
          <a:xfrm>
            <a:off x="3103267" y="1763449"/>
            <a:ext cx="1199367" cy="369332"/>
          </a:xfrm>
          <a:prstGeom prst="rect">
            <a:avLst/>
          </a:prstGeom>
          <a:noFill/>
        </p:spPr>
        <p:txBody>
          <a:bodyPr wrap="none" rtlCol="0">
            <a:spAutoFit/>
          </a:bodyPr>
          <a:lstStyle/>
          <a:p>
            <a:r>
              <a:rPr kumimoji="1" lang="ja-JP" altLang="en-US"/>
              <a:t>大学数</a:t>
            </a:r>
            <a:r>
              <a:rPr kumimoji="1" lang="en-US" altLang="ja-JP" dirty="0"/>
              <a:t>:89</a:t>
            </a:r>
            <a:endParaRPr kumimoji="1" lang="ja-JP" altLang="en-US"/>
          </a:p>
        </p:txBody>
      </p:sp>
      <p:sp>
        <p:nvSpPr>
          <p:cNvPr id="7" name="テキスト ボックス 6">
            <a:extLst>
              <a:ext uri="{FF2B5EF4-FFF2-40B4-BE49-F238E27FC236}">
                <a16:creationId xmlns:a16="http://schemas.microsoft.com/office/drawing/2014/main" id="{8E09B076-FFAF-2715-DBD3-50DFFF469A70}"/>
              </a:ext>
            </a:extLst>
          </p:cNvPr>
          <p:cNvSpPr txBox="1"/>
          <p:nvPr/>
        </p:nvSpPr>
        <p:spPr>
          <a:xfrm>
            <a:off x="2559528" y="2173421"/>
            <a:ext cx="774571" cy="369332"/>
          </a:xfrm>
          <a:prstGeom prst="rect">
            <a:avLst/>
          </a:prstGeom>
          <a:noFill/>
          <a:ln>
            <a:solidFill>
              <a:schemeClr val="tx1"/>
            </a:solidFill>
          </a:ln>
        </p:spPr>
        <p:txBody>
          <a:bodyPr wrap="none" rtlCol="0" anchor="ctr">
            <a:spAutoFit/>
          </a:bodyPr>
          <a:lstStyle/>
          <a:p>
            <a:r>
              <a:rPr lang="en-US" altLang="ja-JP" dirty="0"/>
              <a:t>4</a:t>
            </a:r>
            <a:r>
              <a:rPr lang="ja-JP" altLang="en-US"/>
              <a:t>大学</a:t>
            </a:r>
            <a:endParaRPr lang="en-US" altLang="ja-JP" dirty="0"/>
          </a:p>
        </p:txBody>
      </p:sp>
      <p:sp>
        <p:nvSpPr>
          <p:cNvPr id="8" name="テキスト ボックス 7">
            <a:extLst>
              <a:ext uri="{FF2B5EF4-FFF2-40B4-BE49-F238E27FC236}">
                <a16:creationId xmlns:a16="http://schemas.microsoft.com/office/drawing/2014/main" id="{7860D382-58A5-C995-8FE8-E78F8C1B6F65}"/>
              </a:ext>
            </a:extLst>
          </p:cNvPr>
          <p:cNvSpPr txBox="1"/>
          <p:nvPr/>
        </p:nvSpPr>
        <p:spPr>
          <a:xfrm>
            <a:off x="1936761" y="2905969"/>
            <a:ext cx="2020105" cy="369332"/>
          </a:xfrm>
          <a:prstGeom prst="rect">
            <a:avLst/>
          </a:prstGeom>
          <a:noFill/>
          <a:ln>
            <a:solidFill>
              <a:schemeClr val="tx1"/>
            </a:solidFill>
          </a:ln>
        </p:spPr>
        <p:txBody>
          <a:bodyPr wrap="none" rtlCol="0" anchor="ctr">
            <a:spAutoFit/>
          </a:bodyPr>
          <a:lstStyle/>
          <a:p>
            <a:r>
              <a:rPr lang="en-US" altLang="ja-JP" dirty="0"/>
              <a:t>4</a:t>
            </a:r>
            <a:r>
              <a:rPr lang="ja-JP" altLang="en-US"/>
              <a:t>大学</a:t>
            </a:r>
            <a:r>
              <a:rPr lang="en-US" altLang="ja-JP" dirty="0"/>
              <a:t> </a:t>
            </a:r>
            <a:r>
              <a:rPr lang="ja-JP" altLang="en-US"/>
              <a:t>各</a:t>
            </a:r>
            <a:r>
              <a:rPr lang="en-US" altLang="ja-JP" dirty="0"/>
              <a:t>50</a:t>
            </a:r>
            <a:r>
              <a:rPr lang="ja-JP" altLang="en-US"/>
              <a:t>報告書</a:t>
            </a:r>
            <a:endParaRPr lang="en-US" altLang="ja-JP" dirty="0"/>
          </a:p>
        </p:txBody>
      </p:sp>
      <p:sp>
        <p:nvSpPr>
          <p:cNvPr id="9" name="テキスト ボックス 8">
            <a:extLst>
              <a:ext uri="{FF2B5EF4-FFF2-40B4-BE49-F238E27FC236}">
                <a16:creationId xmlns:a16="http://schemas.microsoft.com/office/drawing/2014/main" id="{F89577F0-2089-00FE-EA03-21ED65B32693}"/>
              </a:ext>
            </a:extLst>
          </p:cNvPr>
          <p:cNvSpPr txBox="1"/>
          <p:nvPr/>
        </p:nvSpPr>
        <p:spPr>
          <a:xfrm>
            <a:off x="892405" y="3638517"/>
            <a:ext cx="4108817" cy="369332"/>
          </a:xfrm>
          <a:prstGeom prst="rect">
            <a:avLst/>
          </a:prstGeom>
          <a:noFill/>
          <a:ln>
            <a:solidFill>
              <a:schemeClr val="tx1"/>
            </a:solidFill>
          </a:ln>
        </p:spPr>
        <p:txBody>
          <a:bodyPr wrap="none" rtlCol="0" anchor="ctr">
            <a:spAutoFit/>
          </a:bodyPr>
          <a:lstStyle/>
          <a:p>
            <a:r>
              <a:rPr lang="ja-JP" altLang="en-US" dirty="0"/>
              <a:t>研究課題名・本文からの地名抽出結果</a:t>
            </a:r>
            <a:endParaRPr lang="en-US" altLang="ja-JP" dirty="0"/>
          </a:p>
        </p:txBody>
      </p:sp>
      <p:sp>
        <p:nvSpPr>
          <p:cNvPr id="10" name="テキスト ボックス 9">
            <a:extLst>
              <a:ext uri="{FF2B5EF4-FFF2-40B4-BE49-F238E27FC236}">
                <a16:creationId xmlns:a16="http://schemas.microsoft.com/office/drawing/2014/main" id="{32B48DCF-93FC-2971-C8C3-F07C62E80660}"/>
              </a:ext>
            </a:extLst>
          </p:cNvPr>
          <p:cNvSpPr txBox="1"/>
          <p:nvPr/>
        </p:nvSpPr>
        <p:spPr>
          <a:xfrm>
            <a:off x="784202" y="4371065"/>
            <a:ext cx="4325223" cy="369332"/>
          </a:xfrm>
          <a:prstGeom prst="rect">
            <a:avLst/>
          </a:prstGeom>
          <a:noFill/>
          <a:ln>
            <a:solidFill>
              <a:schemeClr val="tx1"/>
            </a:solidFill>
          </a:ln>
        </p:spPr>
        <p:txBody>
          <a:bodyPr wrap="none" rtlCol="0" anchor="ctr">
            <a:spAutoFit/>
          </a:bodyPr>
          <a:lstStyle/>
          <a:p>
            <a:r>
              <a:rPr lang="en-US" altLang="ja-JP" dirty="0"/>
              <a:t>AI</a:t>
            </a:r>
            <a:r>
              <a:rPr lang="ja-JP" altLang="en-US" dirty="0"/>
              <a:t>、人による地名抽出に対する判定結果</a:t>
            </a:r>
            <a:endParaRPr lang="en-US" altLang="ja-JP" dirty="0"/>
          </a:p>
        </p:txBody>
      </p:sp>
      <p:sp>
        <p:nvSpPr>
          <p:cNvPr id="12" name="テキスト ボックス 11">
            <a:extLst>
              <a:ext uri="{FF2B5EF4-FFF2-40B4-BE49-F238E27FC236}">
                <a16:creationId xmlns:a16="http://schemas.microsoft.com/office/drawing/2014/main" id="{E1C3C056-DB92-8A69-40B4-0B7693A57EB5}"/>
              </a:ext>
            </a:extLst>
          </p:cNvPr>
          <p:cNvSpPr txBox="1"/>
          <p:nvPr/>
        </p:nvSpPr>
        <p:spPr>
          <a:xfrm>
            <a:off x="3103267" y="3213854"/>
            <a:ext cx="1624163" cy="369332"/>
          </a:xfrm>
          <a:prstGeom prst="rect">
            <a:avLst/>
          </a:prstGeom>
          <a:noFill/>
        </p:spPr>
        <p:txBody>
          <a:bodyPr wrap="none" rtlCol="0">
            <a:spAutoFit/>
          </a:bodyPr>
          <a:lstStyle/>
          <a:p>
            <a:r>
              <a:rPr lang="ja-JP" altLang="en-US"/>
              <a:t>報告書数</a:t>
            </a:r>
            <a:r>
              <a:rPr lang="en-US" altLang="ja-JP" dirty="0"/>
              <a:t>:</a:t>
            </a:r>
            <a:r>
              <a:rPr kumimoji="1" lang="en-US" altLang="ja-JP" dirty="0"/>
              <a:t>200 </a:t>
            </a:r>
            <a:endParaRPr kumimoji="1" lang="ja-JP" altLang="en-US"/>
          </a:p>
        </p:txBody>
      </p:sp>
      <p:sp>
        <p:nvSpPr>
          <p:cNvPr id="13" name="テキスト ボックス 12">
            <a:extLst>
              <a:ext uri="{FF2B5EF4-FFF2-40B4-BE49-F238E27FC236}">
                <a16:creationId xmlns:a16="http://schemas.microsoft.com/office/drawing/2014/main" id="{69A38594-91FB-000C-4611-09AD2E102CDF}"/>
              </a:ext>
            </a:extLst>
          </p:cNvPr>
          <p:cNvSpPr txBox="1"/>
          <p:nvPr/>
        </p:nvSpPr>
        <p:spPr>
          <a:xfrm>
            <a:off x="1167319" y="5103613"/>
            <a:ext cx="3558988" cy="369332"/>
          </a:xfrm>
          <a:prstGeom prst="rect">
            <a:avLst/>
          </a:prstGeom>
          <a:noFill/>
          <a:ln>
            <a:solidFill>
              <a:schemeClr val="tx1"/>
            </a:solidFill>
          </a:ln>
        </p:spPr>
        <p:txBody>
          <a:bodyPr wrap="none" rtlCol="0">
            <a:spAutoFit/>
          </a:bodyPr>
          <a:lstStyle/>
          <a:p>
            <a:r>
              <a:rPr lang="en-US" altLang="ja-JP" dirty="0"/>
              <a:t>2 AI</a:t>
            </a:r>
            <a:r>
              <a:rPr lang="ja-JP" altLang="en-US" dirty="0"/>
              <a:t>、</a:t>
            </a:r>
            <a:r>
              <a:rPr lang="en-US" altLang="ja-JP" dirty="0"/>
              <a:t>3 </a:t>
            </a:r>
            <a:r>
              <a:rPr lang="ja-JP" altLang="en-US" dirty="0"/>
              <a:t>名による</a:t>
            </a:r>
            <a:r>
              <a:rPr lang="ja-JP" altLang="en-US"/>
              <a:t>判定結果の選抜</a:t>
            </a:r>
            <a:endParaRPr lang="en-US" altLang="ja-JP" dirty="0"/>
          </a:p>
        </p:txBody>
      </p:sp>
      <p:sp>
        <p:nvSpPr>
          <p:cNvPr id="17" name="テキスト ボックス 16">
            <a:extLst>
              <a:ext uri="{FF2B5EF4-FFF2-40B4-BE49-F238E27FC236}">
                <a16:creationId xmlns:a16="http://schemas.microsoft.com/office/drawing/2014/main" id="{0DB18FA9-66C9-A4BF-0B34-3A705D79ED9C}"/>
              </a:ext>
            </a:extLst>
          </p:cNvPr>
          <p:cNvSpPr txBox="1"/>
          <p:nvPr/>
        </p:nvSpPr>
        <p:spPr>
          <a:xfrm>
            <a:off x="3103267" y="4689583"/>
            <a:ext cx="2175596" cy="369332"/>
          </a:xfrm>
          <a:prstGeom prst="rect">
            <a:avLst/>
          </a:prstGeom>
          <a:noFill/>
        </p:spPr>
        <p:txBody>
          <a:bodyPr wrap="none" rtlCol="0">
            <a:spAutoFit/>
          </a:bodyPr>
          <a:lstStyle/>
          <a:p>
            <a:r>
              <a:rPr kumimoji="1" lang="en-US" altLang="ja-JP" dirty="0"/>
              <a:t>n=1200 </a:t>
            </a:r>
            <a:r>
              <a:rPr kumimoji="1" lang="ja-JP" altLang="en-US" dirty="0"/>
              <a:t>→</a:t>
            </a:r>
            <a:r>
              <a:rPr kumimoji="1" lang="en-US" altLang="ja-JP" dirty="0"/>
              <a:t> n=1000</a:t>
            </a:r>
            <a:endParaRPr kumimoji="1" lang="ja-JP" altLang="en-US"/>
          </a:p>
        </p:txBody>
      </p:sp>
      <p:sp>
        <p:nvSpPr>
          <p:cNvPr id="18" name="テキスト ボックス 17">
            <a:extLst>
              <a:ext uri="{FF2B5EF4-FFF2-40B4-BE49-F238E27FC236}">
                <a16:creationId xmlns:a16="http://schemas.microsoft.com/office/drawing/2014/main" id="{DC038396-2409-3E57-A5A4-ADDB31A3F81E}"/>
              </a:ext>
            </a:extLst>
          </p:cNvPr>
          <p:cNvSpPr txBox="1"/>
          <p:nvPr/>
        </p:nvSpPr>
        <p:spPr>
          <a:xfrm>
            <a:off x="3103266" y="5422131"/>
            <a:ext cx="870751" cy="369332"/>
          </a:xfrm>
          <a:prstGeom prst="rect">
            <a:avLst/>
          </a:prstGeom>
          <a:noFill/>
        </p:spPr>
        <p:txBody>
          <a:bodyPr wrap="none" rtlCol="0">
            <a:spAutoFit/>
          </a:bodyPr>
          <a:lstStyle/>
          <a:p>
            <a:r>
              <a:rPr kumimoji="1" lang="en-US" altLang="ja-JP" dirty="0"/>
              <a:t>n=495</a:t>
            </a:r>
          </a:p>
        </p:txBody>
      </p:sp>
      <p:sp>
        <p:nvSpPr>
          <p:cNvPr id="19" name="テキスト ボックス 18">
            <a:extLst>
              <a:ext uri="{FF2B5EF4-FFF2-40B4-BE49-F238E27FC236}">
                <a16:creationId xmlns:a16="http://schemas.microsoft.com/office/drawing/2014/main" id="{789180A8-A51B-BD41-8770-60FBEF30712F}"/>
              </a:ext>
            </a:extLst>
          </p:cNvPr>
          <p:cNvSpPr txBox="1"/>
          <p:nvPr/>
        </p:nvSpPr>
        <p:spPr>
          <a:xfrm>
            <a:off x="2946813" y="5678743"/>
            <a:ext cx="3982180" cy="369332"/>
          </a:xfrm>
          <a:prstGeom prst="rect">
            <a:avLst/>
          </a:prstGeom>
          <a:noFill/>
        </p:spPr>
        <p:txBody>
          <a:bodyPr wrap="none" rtlCol="0">
            <a:spAutoFit/>
          </a:bodyPr>
          <a:lstStyle/>
          <a:p>
            <a:r>
              <a:rPr lang="ja-JP" altLang="en-US"/>
              <a:t>（</a:t>
            </a:r>
            <a:r>
              <a:rPr lang="en-US" altLang="ja-JP" dirty="0"/>
              <a:t>99</a:t>
            </a:r>
            <a:r>
              <a:rPr lang="ja-JP" altLang="en-US"/>
              <a:t>報告書</a:t>
            </a:r>
            <a:r>
              <a:rPr lang="en-US" altLang="ja-JP" dirty="0"/>
              <a:t>(</a:t>
            </a:r>
            <a:r>
              <a:rPr lang="ja-JP" altLang="en-US"/>
              <a:t>判定箇所</a:t>
            </a:r>
            <a:r>
              <a:rPr lang="en-US" altLang="ja-JP" dirty="0"/>
              <a:t>:415) x 5</a:t>
            </a:r>
            <a:r>
              <a:rPr lang="ja-JP" altLang="en-US"/>
              <a:t>判定）</a:t>
            </a:r>
            <a:endParaRPr kumimoji="1" lang="en-US" altLang="ja-JP" dirty="0"/>
          </a:p>
        </p:txBody>
      </p:sp>
      <p:cxnSp>
        <p:nvCxnSpPr>
          <p:cNvPr id="21" name="直線コネクタ 20">
            <a:extLst>
              <a:ext uri="{FF2B5EF4-FFF2-40B4-BE49-F238E27FC236}">
                <a16:creationId xmlns:a16="http://schemas.microsoft.com/office/drawing/2014/main" id="{30156B95-4ECD-9152-E110-735989CE0A84}"/>
              </a:ext>
            </a:extLst>
          </p:cNvPr>
          <p:cNvCxnSpPr>
            <a:stCxn id="3" idx="2"/>
            <a:endCxn id="4" idx="0"/>
          </p:cNvCxnSpPr>
          <p:nvPr/>
        </p:nvCxnSpPr>
        <p:spPr>
          <a:xfrm>
            <a:off x="2946813" y="1077657"/>
            <a:ext cx="1" cy="363216"/>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56F3E1CC-92BA-CA38-599C-064D6BA98C5D}"/>
              </a:ext>
            </a:extLst>
          </p:cNvPr>
          <p:cNvCxnSpPr>
            <a:stCxn id="4" idx="2"/>
            <a:endCxn id="7" idx="0"/>
          </p:cNvCxnSpPr>
          <p:nvPr/>
        </p:nvCxnSpPr>
        <p:spPr>
          <a:xfrm>
            <a:off x="2946814" y="1810205"/>
            <a:ext cx="0" cy="363216"/>
          </a:xfrm>
          <a:prstGeom prst="line">
            <a:avLst/>
          </a:prstGeom>
        </p:spPr>
        <p:style>
          <a:lnRef idx="2">
            <a:schemeClr val="dk1"/>
          </a:lnRef>
          <a:fillRef idx="0">
            <a:schemeClr val="dk1"/>
          </a:fillRef>
          <a:effectRef idx="1">
            <a:schemeClr val="dk1"/>
          </a:effectRef>
          <a:fontRef idx="minor">
            <a:schemeClr val="tx1"/>
          </a:fontRef>
        </p:style>
      </p:cxnSp>
      <p:cxnSp>
        <p:nvCxnSpPr>
          <p:cNvPr id="25" name="直線コネクタ 24">
            <a:extLst>
              <a:ext uri="{FF2B5EF4-FFF2-40B4-BE49-F238E27FC236}">
                <a16:creationId xmlns:a16="http://schemas.microsoft.com/office/drawing/2014/main" id="{49002F55-4D49-BD09-DBCE-6BB2C828947F}"/>
              </a:ext>
            </a:extLst>
          </p:cNvPr>
          <p:cNvCxnSpPr>
            <a:stCxn id="7" idx="2"/>
            <a:endCxn id="8" idx="0"/>
          </p:cNvCxnSpPr>
          <p:nvPr/>
        </p:nvCxnSpPr>
        <p:spPr>
          <a:xfrm>
            <a:off x="2946814" y="2542753"/>
            <a:ext cx="0" cy="363216"/>
          </a:xfrm>
          <a:prstGeom prst="line">
            <a:avLst/>
          </a:prstGeom>
        </p:spPr>
        <p:style>
          <a:lnRef idx="2">
            <a:schemeClr val="dk1"/>
          </a:lnRef>
          <a:fillRef idx="0">
            <a:schemeClr val="dk1"/>
          </a:fillRef>
          <a:effectRef idx="1">
            <a:schemeClr val="dk1"/>
          </a:effectRef>
          <a:fontRef idx="minor">
            <a:schemeClr val="tx1"/>
          </a:fontRef>
        </p:style>
      </p:cxnSp>
      <p:cxnSp>
        <p:nvCxnSpPr>
          <p:cNvPr id="26" name="直線コネクタ 25">
            <a:extLst>
              <a:ext uri="{FF2B5EF4-FFF2-40B4-BE49-F238E27FC236}">
                <a16:creationId xmlns:a16="http://schemas.microsoft.com/office/drawing/2014/main" id="{A3FB6594-FF6C-A8BC-C53A-719D46560A30}"/>
              </a:ext>
            </a:extLst>
          </p:cNvPr>
          <p:cNvCxnSpPr>
            <a:cxnSpLocks/>
            <a:stCxn id="8" idx="2"/>
            <a:endCxn id="9" idx="0"/>
          </p:cNvCxnSpPr>
          <p:nvPr/>
        </p:nvCxnSpPr>
        <p:spPr>
          <a:xfrm>
            <a:off x="2946814" y="3275301"/>
            <a:ext cx="0" cy="363216"/>
          </a:xfrm>
          <a:prstGeom prst="line">
            <a:avLst/>
          </a:prstGeom>
        </p:spPr>
        <p:style>
          <a:lnRef idx="2">
            <a:schemeClr val="dk1"/>
          </a:lnRef>
          <a:fillRef idx="0">
            <a:schemeClr val="dk1"/>
          </a:fillRef>
          <a:effectRef idx="1">
            <a:schemeClr val="dk1"/>
          </a:effectRef>
          <a:fontRef idx="minor">
            <a:schemeClr val="tx1"/>
          </a:fontRef>
        </p:style>
      </p:cxnSp>
      <p:cxnSp>
        <p:nvCxnSpPr>
          <p:cNvPr id="29" name="直線コネクタ 28">
            <a:extLst>
              <a:ext uri="{FF2B5EF4-FFF2-40B4-BE49-F238E27FC236}">
                <a16:creationId xmlns:a16="http://schemas.microsoft.com/office/drawing/2014/main" id="{80A92EC8-4485-8E05-D2FF-4ACB6682DD13}"/>
              </a:ext>
            </a:extLst>
          </p:cNvPr>
          <p:cNvCxnSpPr>
            <a:cxnSpLocks/>
            <a:stCxn id="9" idx="2"/>
            <a:endCxn id="10" idx="0"/>
          </p:cNvCxnSpPr>
          <p:nvPr/>
        </p:nvCxnSpPr>
        <p:spPr>
          <a:xfrm>
            <a:off x="2946814" y="4007849"/>
            <a:ext cx="0" cy="363216"/>
          </a:xfrm>
          <a:prstGeom prst="line">
            <a:avLst/>
          </a:prstGeom>
        </p:spPr>
        <p:style>
          <a:lnRef idx="2">
            <a:schemeClr val="dk1"/>
          </a:lnRef>
          <a:fillRef idx="0">
            <a:schemeClr val="dk1"/>
          </a:fillRef>
          <a:effectRef idx="1">
            <a:schemeClr val="dk1"/>
          </a:effectRef>
          <a:fontRef idx="minor">
            <a:schemeClr val="tx1"/>
          </a:fontRef>
        </p:style>
      </p:cxnSp>
      <p:cxnSp>
        <p:nvCxnSpPr>
          <p:cNvPr id="32" name="直線コネクタ 31">
            <a:extLst>
              <a:ext uri="{FF2B5EF4-FFF2-40B4-BE49-F238E27FC236}">
                <a16:creationId xmlns:a16="http://schemas.microsoft.com/office/drawing/2014/main" id="{D1C9201D-8E52-69F1-829D-A5264D734145}"/>
              </a:ext>
            </a:extLst>
          </p:cNvPr>
          <p:cNvCxnSpPr>
            <a:cxnSpLocks/>
            <a:stCxn id="10" idx="2"/>
            <a:endCxn id="13" idx="0"/>
          </p:cNvCxnSpPr>
          <p:nvPr/>
        </p:nvCxnSpPr>
        <p:spPr>
          <a:xfrm flipH="1">
            <a:off x="2946813" y="4740397"/>
            <a:ext cx="1" cy="363216"/>
          </a:xfrm>
          <a:prstGeom prst="line">
            <a:avLst/>
          </a:prstGeom>
        </p:spPr>
        <p:style>
          <a:lnRef idx="2">
            <a:schemeClr val="dk1"/>
          </a:lnRef>
          <a:fillRef idx="0">
            <a:schemeClr val="dk1"/>
          </a:fillRef>
          <a:effectRef idx="1">
            <a:schemeClr val="dk1"/>
          </a:effectRef>
          <a:fontRef idx="minor">
            <a:schemeClr val="tx1"/>
          </a:fontRef>
        </p:style>
      </p:cxnSp>
      <p:sp>
        <p:nvSpPr>
          <p:cNvPr id="35" name="テキスト ボックス 34">
            <a:extLst>
              <a:ext uri="{FF2B5EF4-FFF2-40B4-BE49-F238E27FC236}">
                <a16:creationId xmlns:a16="http://schemas.microsoft.com/office/drawing/2014/main" id="{29C9CE49-B4EE-88F2-97BF-161E83E4CD9C}"/>
              </a:ext>
            </a:extLst>
          </p:cNvPr>
          <p:cNvSpPr txBox="1"/>
          <p:nvPr/>
        </p:nvSpPr>
        <p:spPr>
          <a:xfrm>
            <a:off x="1301492" y="1868756"/>
            <a:ext cx="1723549" cy="276999"/>
          </a:xfrm>
          <a:prstGeom prst="rect">
            <a:avLst/>
          </a:prstGeom>
          <a:noFill/>
        </p:spPr>
        <p:txBody>
          <a:bodyPr wrap="none" rtlCol="0">
            <a:spAutoFit/>
          </a:bodyPr>
          <a:lstStyle/>
          <a:p>
            <a:r>
              <a:rPr kumimoji="1" lang="ja-JP" altLang="en-US" sz="1200"/>
              <a:t>ランダムサンプリング</a:t>
            </a:r>
          </a:p>
        </p:txBody>
      </p:sp>
      <p:sp>
        <p:nvSpPr>
          <p:cNvPr id="36" name="テキスト ボックス 35">
            <a:extLst>
              <a:ext uri="{FF2B5EF4-FFF2-40B4-BE49-F238E27FC236}">
                <a16:creationId xmlns:a16="http://schemas.microsoft.com/office/drawing/2014/main" id="{C6B897F6-20E5-015E-DD53-352FFDEF0FBC}"/>
              </a:ext>
            </a:extLst>
          </p:cNvPr>
          <p:cNvSpPr txBox="1"/>
          <p:nvPr/>
        </p:nvSpPr>
        <p:spPr>
          <a:xfrm>
            <a:off x="1301492" y="2582804"/>
            <a:ext cx="1723549" cy="276999"/>
          </a:xfrm>
          <a:prstGeom prst="rect">
            <a:avLst/>
          </a:prstGeom>
          <a:noFill/>
        </p:spPr>
        <p:txBody>
          <a:bodyPr wrap="none" rtlCol="0">
            <a:spAutoFit/>
          </a:bodyPr>
          <a:lstStyle/>
          <a:p>
            <a:r>
              <a:rPr kumimoji="1" lang="ja-JP" altLang="en-US" sz="1200"/>
              <a:t>ランダムサンプリング</a:t>
            </a:r>
          </a:p>
        </p:txBody>
      </p:sp>
      <p:sp>
        <p:nvSpPr>
          <p:cNvPr id="37" name="テキスト ボックス 36">
            <a:extLst>
              <a:ext uri="{FF2B5EF4-FFF2-40B4-BE49-F238E27FC236}">
                <a16:creationId xmlns:a16="http://schemas.microsoft.com/office/drawing/2014/main" id="{C123585A-FEBD-F0DA-5D6F-396CDC39E3B3}"/>
              </a:ext>
            </a:extLst>
          </p:cNvPr>
          <p:cNvSpPr txBox="1"/>
          <p:nvPr/>
        </p:nvSpPr>
        <p:spPr>
          <a:xfrm>
            <a:off x="1917045" y="3333852"/>
            <a:ext cx="1107996" cy="276999"/>
          </a:xfrm>
          <a:prstGeom prst="rect">
            <a:avLst/>
          </a:prstGeom>
          <a:noFill/>
        </p:spPr>
        <p:txBody>
          <a:bodyPr wrap="none" rtlCol="0">
            <a:spAutoFit/>
          </a:bodyPr>
          <a:lstStyle/>
          <a:p>
            <a:r>
              <a:rPr lang="ja-JP" altLang="en-US" sz="1200"/>
              <a:t>固有表現抽出</a:t>
            </a:r>
            <a:endParaRPr kumimoji="1" lang="ja-JP" altLang="en-US" sz="1200"/>
          </a:p>
        </p:txBody>
      </p:sp>
      <p:sp>
        <p:nvSpPr>
          <p:cNvPr id="38" name="テキスト ボックス 37">
            <a:extLst>
              <a:ext uri="{FF2B5EF4-FFF2-40B4-BE49-F238E27FC236}">
                <a16:creationId xmlns:a16="http://schemas.microsoft.com/office/drawing/2014/main" id="{B27C02FB-E947-3DBE-BEEB-E6AE50AC33DC}"/>
              </a:ext>
            </a:extLst>
          </p:cNvPr>
          <p:cNvSpPr txBox="1"/>
          <p:nvPr/>
        </p:nvSpPr>
        <p:spPr>
          <a:xfrm>
            <a:off x="1375346" y="4073642"/>
            <a:ext cx="1619354" cy="276999"/>
          </a:xfrm>
          <a:prstGeom prst="rect">
            <a:avLst/>
          </a:prstGeom>
          <a:noFill/>
        </p:spPr>
        <p:txBody>
          <a:bodyPr wrap="none" rtlCol="0">
            <a:spAutoFit/>
          </a:bodyPr>
          <a:lstStyle/>
          <a:p>
            <a:r>
              <a:rPr kumimoji="1" lang="en-US" altLang="ja-JP" sz="1200" dirty="0"/>
              <a:t>3 AI</a:t>
            </a:r>
            <a:r>
              <a:rPr kumimoji="1" lang="ja-JP" altLang="en-US" sz="1200"/>
              <a:t>と</a:t>
            </a:r>
            <a:r>
              <a:rPr kumimoji="1" lang="en-US" altLang="ja-JP" sz="1200" dirty="0"/>
              <a:t>3</a:t>
            </a:r>
            <a:r>
              <a:rPr kumimoji="1" lang="ja-JP" altLang="en-US" sz="1200"/>
              <a:t>名による判定</a:t>
            </a:r>
          </a:p>
        </p:txBody>
      </p:sp>
      <p:sp>
        <p:nvSpPr>
          <p:cNvPr id="39" name="テキスト ボックス 38">
            <a:extLst>
              <a:ext uri="{FF2B5EF4-FFF2-40B4-BE49-F238E27FC236}">
                <a16:creationId xmlns:a16="http://schemas.microsoft.com/office/drawing/2014/main" id="{6C859D4A-5B10-9425-3EF2-3241A55B330C}"/>
              </a:ext>
            </a:extLst>
          </p:cNvPr>
          <p:cNvSpPr txBox="1"/>
          <p:nvPr/>
        </p:nvSpPr>
        <p:spPr>
          <a:xfrm>
            <a:off x="1490647" y="4791014"/>
            <a:ext cx="1534394" cy="276999"/>
          </a:xfrm>
          <a:prstGeom prst="rect">
            <a:avLst/>
          </a:prstGeom>
          <a:noFill/>
        </p:spPr>
        <p:txBody>
          <a:bodyPr wrap="none" rtlCol="0">
            <a:spAutoFit/>
          </a:bodyPr>
          <a:lstStyle/>
          <a:p>
            <a:r>
              <a:rPr lang="en-US" altLang="ja-JP" sz="1200" dirty="0"/>
              <a:t>1</a:t>
            </a:r>
            <a:r>
              <a:rPr kumimoji="1" lang="en-US" altLang="ja-JP" sz="1200" dirty="0"/>
              <a:t> AI</a:t>
            </a:r>
            <a:r>
              <a:rPr kumimoji="1" lang="ja-JP" altLang="en-US" sz="1200"/>
              <a:t>の判定を対象外</a:t>
            </a:r>
          </a:p>
        </p:txBody>
      </p:sp>
      <p:sp>
        <p:nvSpPr>
          <p:cNvPr id="40" name="テキスト ボックス 39">
            <a:extLst>
              <a:ext uri="{FF2B5EF4-FFF2-40B4-BE49-F238E27FC236}">
                <a16:creationId xmlns:a16="http://schemas.microsoft.com/office/drawing/2014/main" id="{9E908830-F2F3-3057-F8BB-D959F4674191}"/>
              </a:ext>
            </a:extLst>
          </p:cNvPr>
          <p:cNvSpPr txBox="1"/>
          <p:nvPr/>
        </p:nvSpPr>
        <p:spPr>
          <a:xfrm>
            <a:off x="2277399" y="6088715"/>
            <a:ext cx="1338828" cy="369332"/>
          </a:xfrm>
          <a:prstGeom prst="rect">
            <a:avLst/>
          </a:prstGeom>
          <a:noFill/>
          <a:ln>
            <a:solidFill>
              <a:schemeClr val="tx1"/>
            </a:solidFill>
          </a:ln>
        </p:spPr>
        <p:txBody>
          <a:bodyPr wrap="none" rtlCol="0">
            <a:spAutoFit/>
          </a:bodyPr>
          <a:lstStyle/>
          <a:p>
            <a:r>
              <a:rPr lang="ja-JP" altLang="en-US" dirty="0"/>
              <a:t>地名の決定</a:t>
            </a:r>
            <a:endParaRPr lang="en-US" altLang="ja-JP" dirty="0"/>
          </a:p>
        </p:txBody>
      </p:sp>
      <p:cxnSp>
        <p:nvCxnSpPr>
          <p:cNvPr id="42" name="直線コネクタ 41">
            <a:extLst>
              <a:ext uri="{FF2B5EF4-FFF2-40B4-BE49-F238E27FC236}">
                <a16:creationId xmlns:a16="http://schemas.microsoft.com/office/drawing/2014/main" id="{295B1CD3-3B9B-D7B5-8EDB-BD5C4216A288}"/>
              </a:ext>
            </a:extLst>
          </p:cNvPr>
          <p:cNvCxnSpPr>
            <a:stCxn id="13" idx="2"/>
            <a:endCxn id="40" idx="0"/>
          </p:cNvCxnSpPr>
          <p:nvPr/>
        </p:nvCxnSpPr>
        <p:spPr>
          <a:xfrm>
            <a:off x="2946813" y="5472945"/>
            <a:ext cx="0" cy="615770"/>
          </a:xfrm>
          <a:prstGeom prst="line">
            <a:avLst/>
          </a:prstGeom>
        </p:spPr>
        <p:style>
          <a:lnRef idx="2">
            <a:schemeClr val="dk1"/>
          </a:lnRef>
          <a:fillRef idx="0">
            <a:schemeClr val="dk1"/>
          </a:fillRef>
          <a:effectRef idx="1">
            <a:schemeClr val="dk1"/>
          </a:effectRef>
          <a:fontRef idx="minor">
            <a:schemeClr val="tx1"/>
          </a:fontRef>
        </p:style>
      </p:cxnSp>
      <p:sp>
        <p:nvSpPr>
          <p:cNvPr id="43" name="テキスト ボックス 42">
            <a:extLst>
              <a:ext uri="{FF2B5EF4-FFF2-40B4-BE49-F238E27FC236}">
                <a16:creationId xmlns:a16="http://schemas.microsoft.com/office/drawing/2014/main" id="{A5FE4797-1CA8-53C0-69E7-FC5ED9495741}"/>
              </a:ext>
            </a:extLst>
          </p:cNvPr>
          <p:cNvSpPr txBox="1"/>
          <p:nvPr/>
        </p:nvSpPr>
        <p:spPr>
          <a:xfrm>
            <a:off x="3602762" y="6340679"/>
            <a:ext cx="646331" cy="276999"/>
          </a:xfrm>
          <a:prstGeom prst="rect">
            <a:avLst/>
          </a:prstGeom>
          <a:noFill/>
        </p:spPr>
        <p:txBody>
          <a:bodyPr wrap="none" rtlCol="0">
            <a:spAutoFit/>
          </a:bodyPr>
          <a:lstStyle/>
          <a:p>
            <a:r>
              <a:rPr kumimoji="1" lang="ja-JP" altLang="en-US" sz="1200"/>
              <a:t>多数決</a:t>
            </a:r>
          </a:p>
        </p:txBody>
      </p:sp>
      <p:sp>
        <p:nvSpPr>
          <p:cNvPr id="46" name="テキスト ボックス 45">
            <a:extLst>
              <a:ext uri="{FF2B5EF4-FFF2-40B4-BE49-F238E27FC236}">
                <a16:creationId xmlns:a16="http://schemas.microsoft.com/office/drawing/2014/main" id="{DE99B3DA-7EFF-84DC-119C-EE3965C33116}"/>
              </a:ext>
            </a:extLst>
          </p:cNvPr>
          <p:cNvSpPr txBox="1"/>
          <p:nvPr/>
        </p:nvSpPr>
        <p:spPr>
          <a:xfrm>
            <a:off x="9052559" y="1338244"/>
            <a:ext cx="2722793" cy="1754326"/>
          </a:xfrm>
          <a:prstGeom prst="rect">
            <a:avLst/>
          </a:prstGeom>
          <a:noFill/>
          <a:ln>
            <a:solidFill>
              <a:schemeClr val="dk1"/>
            </a:solidFill>
          </a:ln>
        </p:spPr>
        <p:txBody>
          <a:bodyPr wrap="square" rtlCol="0">
            <a:spAutoFit/>
          </a:bodyPr>
          <a:lstStyle/>
          <a:p>
            <a:r>
              <a:rPr lang="ja-JP" altLang="en-US"/>
              <a:t>判定の差異</a:t>
            </a:r>
            <a:endParaRPr kumimoji="1" lang="en-US" altLang="ja-JP" dirty="0"/>
          </a:p>
          <a:p>
            <a:r>
              <a:rPr lang="ja-JP" altLang="en-US"/>
              <a:t>・判定者による</a:t>
            </a:r>
            <a:endParaRPr lang="en-US" altLang="ja-JP" dirty="0"/>
          </a:p>
          <a:p>
            <a:r>
              <a:rPr lang="ja-JP" altLang="en-US"/>
              <a:t>　　・距離行列</a:t>
            </a:r>
            <a:endParaRPr lang="en-US" altLang="ja-JP" dirty="0"/>
          </a:p>
          <a:p>
            <a:r>
              <a:rPr lang="ja-JP" altLang="en-US"/>
              <a:t>　　・クラスタリング</a:t>
            </a:r>
            <a:endParaRPr lang="en-US" altLang="ja-JP" dirty="0"/>
          </a:p>
          <a:p>
            <a:r>
              <a:rPr kumimoji="1" lang="ja-JP" altLang="en-US"/>
              <a:t>・大学ごと</a:t>
            </a:r>
            <a:endParaRPr kumimoji="1" lang="en-US" altLang="ja-JP" dirty="0"/>
          </a:p>
          <a:p>
            <a:r>
              <a:rPr lang="ja-JP" altLang="en-US"/>
              <a:t>　　・検定</a:t>
            </a:r>
            <a:endParaRPr kumimoji="1" lang="ja-JP" altLang="en-US"/>
          </a:p>
        </p:txBody>
      </p:sp>
      <p:sp>
        <p:nvSpPr>
          <p:cNvPr id="48" name="テキスト ボックス 47">
            <a:extLst>
              <a:ext uri="{FF2B5EF4-FFF2-40B4-BE49-F238E27FC236}">
                <a16:creationId xmlns:a16="http://schemas.microsoft.com/office/drawing/2014/main" id="{0402A917-F530-F38F-A7F5-55EF0BA1801A}"/>
              </a:ext>
            </a:extLst>
          </p:cNvPr>
          <p:cNvSpPr txBox="1"/>
          <p:nvPr/>
        </p:nvSpPr>
        <p:spPr>
          <a:xfrm>
            <a:off x="9051530" y="4385231"/>
            <a:ext cx="2723823" cy="923330"/>
          </a:xfrm>
          <a:prstGeom prst="rect">
            <a:avLst/>
          </a:prstGeom>
          <a:noFill/>
          <a:ln>
            <a:solidFill>
              <a:schemeClr val="dk1"/>
            </a:solidFill>
          </a:ln>
        </p:spPr>
        <p:txBody>
          <a:bodyPr wrap="none" rtlCol="0">
            <a:spAutoFit/>
          </a:bodyPr>
          <a:lstStyle/>
          <a:p>
            <a:r>
              <a:rPr lang="ja-JP" altLang="en-US"/>
              <a:t>出現（決定）地名の確認</a:t>
            </a:r>
            <a:endParaRPr lang="en-US" altLang="ja-JP" dirty="0"/>
          </a:p>
          <a:p>
            <a:r>
              <a:rPr kumimoji="1" lang="ja-JP" altLang="en-US"/>
              <a:t>・地名の例</a:t>
            </a:r>
            <a:endParaRPr kumimoji="1" lang="en-US" altLang="ja-JP" dirty="0"/>
          </a:p>
          <a:p>
            <a:r>
              <a:rPr lang="ja-JP" altLang="en-US"/>
              <a:t>・大学ごとの異なり</a:t>
            </a:r>
            <a:endParaRPr kumimoji="1" lang="ja-JP" altLang="en-US"/>
          </a:p>
        </p:txBody>
      </p:sp>
      <p:cxnSp>
        <p:nvCxnSpPr>
          <p:cNvPr id="50" name="カギ線コネクタ 49">
            <a:extLst>
              <a:ext uri="{FF2B5EF4-FFF2-40B4-BE49-F238E27FC236}">
                <a16:creationId xmlns:a16="http://schemas.microsoft.com/office/drawing/2014/main" id="{A28C7C5C-E306-C684-ACDB-E39ACC1F3FAB}"/>
              </a:ext>
            </a:extLst>
          </p:cNvPr>
          <p:cNvCxnSpPr>
            <a:cxnSpLocks/>
            <a:stCxn id="13" idx="3"/>
            <a:endCxn id="46" idx="1"/>
          </p:cNvCxnSpPr>
          <p:nvPr/>
        </p:nvCxnSpPr>
        <p:spPr>
          <a:xfrm flipV="1">
            <a:off x="4726307" y="2215407"/>
            <a:ext cx="4326252" cy="3072872"/>
          </a:xfrm>
          <a:prstGeom prst="bentConnector3">
            <a:avLst>
              <a:gd name="adj1"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カギ線コネクタ 51">
            <a:extLst>
              <a:ext uri="{FF2B5EF4-FFF2-40B4-BE49-F238E27FC236}">
                <a16:creationId xmlns:a16="http://schemas.microsoft.com/office/drawing/2014/main" id="{6D9D6582-DB29-F9A2-2367-7F6BF897D1FB}"/>
              </a:ext>
            </a:extLst>
          </p:cNvPr>
          <p:cNvCxnSpPr>
            <a:stCxn id="40" idx="3"/>
            <a:endCxn id="48" idx="1"/>
          </p:cNvCxnSpPr>
          <p:nvPr/>
        </p:nvCxnSpPr>
        <p:spPr>
          <a:xfrm flipV="1">
            <a:off x="3616227" y="4846896"/>
            <a:ext cx="5435303" cy="1426485"/>
          </a:xfrm>
          <a:prstGeom prst="bentConnector3">
            <a:avLst>
              <a:gd name="adj1" fmla="val 87236"/>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92411725-8F54-F43D-A1EE-674FAF4384B9}"/>
              </a:ext>
            </a:extLst>
          </p:cNvPr>
          <p:cNvSpPr txBox="1"/>
          <p:nvPr/>
        </p:nvSpPr>
        <p:spPr>
          <a:xfrm>
            <a:off x="1455380" y="5515739"/>
            <a:ext cx="1569660" cy="461665"/>
          </a:xfrm>
          <a:prstGeom prst="rect">
            <a:avLst/>
          </a:prstGeom>
          <a:noFill/>
        </p:spPr>
        <p:txBody>
          <a:bodyPr wrap="none" rtlCol="0">
            <a:spAutoFit/>
          </a:bodyPr>
          <a:lstStyle/>
          <a:p>
            <a:r>
              <a:rPr kumimoji="1" lang="ja-JP" altLang="en-US" sz="1200"/>
              <a:t>コード部分の抽出、</a:t>
            </a:r>
            <a:endParaRPr kumimoji="1" lang="en-US" altLang="ja-JP" sz="1200" dirty="0"/>
          </a:p>
          <a:p>
            <a:r>
              <a:rPr kumimoji="1" lang="en-US" altLang="ja-JP" sz="1200" dirty="0" err="1"/>
              <a:t>jq</a:t>
            </a:r>
            <a:r>
              <a:rPr kumimoji="1" lang="ja-JP" altLang="en-US" sz="1200"/>
              <a:t>によるフィルター</a:t>
            </a:r>
          </a:p>
        </p:txBody>
      </p:sp>
      <p:sp>
        <p:nvSpPr>
          <p:cNvPr id="14" name="テキスト ボックス 13">
            <a:extLst>
              <a:ext uri="{FF2B5EF4-FFF2-40B4-BE49-F238E27FC236}">
                <a16:creationId xmlns:a16="http://schemas.microsoft.com/office/drawing/2014/main" id="{B49311BE-C714-6329-51CC-FF85D8119BDC}"/>
              </a:ext>
            </a:extLst>
          </p:cNvPr>
          <p:cNvSpPr txBox="1"/>
          <p:nvPr/>
        </p:nvSpPr>
        <p:spPr>
          <a:xfrm>
            <a:off x="9654908" y="5324688"/>
            <a:ext cx="2122697" cy="338554"/>
          </a:xfrm>
          <a:prstGeom prst="rect">
            <a:avLst/>
          </a:prstGeom>
          <a:noFill/>
        </p:spPr>
        <p:txBody>
          <a:bodyPr wrap="none" rtlCol="0">
            <a:spAutoFit/>
          </a:bodyPr>
          <a:lstStyle/>
          <a:p>
            <a:r>
              <a:rPr kumimoji="1" lang="ja-JP" altLang="en-US" sz="1600"/>
              <a:t>地名数</a:t>
            </a:r>
            <a:r>
              <a:rPr kumimoji="1" lang="en-US" altLang="ja-JP" sz="1600" dirty="0"/>
              <a:t>(</a:t>
            </a:r>
            <a:r>
              <a:rPr lang="ja-JP" altLang="en-US" sz="1600"/>
              <a:t>ユニーク</a:t>
            </a:r>
            <a:r>
              <a:rPr kumimoji="1" lang="en-US" altLang="ja-JP" sz="1600" dirty="0"/>
              <a:t>): 99</a:t>
            </a:r>
            <a:endParaRPr kumimoji="1" lang="ja-JP" altLang="en-US" sz="1600"/>
          </a:p>
        </p:txBody>
      </p:sp>
      <p:sp>
        <p:nvSpPr>
          <p:cNvPr id="15" name="テキスト ボックス 14">
            <a:extLst>
              <a:ext uri="{FF2B5EF4-FFF2-40B4-BE49-F238E27FC236}">
                <a16:creationId xmlns:a16="http://schemas.microsoft.com/office/drawing/2014/main" id="{874F5013-91B2-5883-A1ED-16F5AE1E67C0}"/>
              </a:ext>
            </a:extLst>
          </p:cNvPr>
          <p:cNvSpPr txBox="1"/>
          <p:nvPr/>
        </p:nvSpPr>
        <p:spPr>
          <a:xfrm>
            <a:off x="9124682" y="3104499"/>
            <a:ext cx="2646878" cy="338554"/>
          </a:xfrm>
          <a:prstGeom prst="rect">
            <a:avLst/>
          </a:prstGeom>
          <a:noFill/>
        </p:spPr>
        <p:txBody>
          <a:bodyPr wrap="none" rtlCol="0">
            <a:spAutoFit/>
          </a:bodyPr>
          <a:lstStyle/>
          <a:p>
            <a:r>
              <a:rPr kumimoji="1" lang="ja-JP" altLang="en-US" sz="1600"/>
              <a:t>地名候補数</a:t>
            </a:r>
            <a:r>
              <a:rPr kumimoji="1" lang="en-US" altLang="ja-JP" sz="1600" dirty="0"/>
              <a:t>(</a:t>
            </a:r>
            <a:r>
              <a:rPr lang="ja-JP" altLang="en-US" sz="1600"/>
              <a:t>ユニーク</a:t>
            </a:r>
            <a:r>
              <a:rPr kumimoji="1" lang="en-US" altLang="ja-JP" sz="1600" dirty="0"/>
              <a:t>): 141</a:t>
            </a:r>
            <a:endParaRPr kumimoji="1" lang="ja-JP" altLang="en-US" sz="1600"/>
          </a:p>
        </p:txBody>
      </p:sp>
      <p:sp>
        <p:nvSpPr>
          <p:cNvPr id="27" name="テキスト ボックス 26">
            <a:extLst>
              <a:ext uri="{FF2B5EF4-FFF2-40B4-BE49-F238E27FC236}">
                <a16:creationId xmlns:a16="http://schemas.microsoft.com/office/drawing/2014/main" id="{9CB31746-755C-0454-679A-07488AFE3972}"/>
              </a:ext>
            </a:extLst>
          </p:cNvPr>
          <p:cNvSpPr txBox="1"/>
          <p:nvPr/>
        </p:nvSpPr>
        <p:spPr>
          <a:xfrm>
            <a:off x="4627491" y="3378450"/>
            <a:ext cx="851515" cy="338554"/>
          </a:xfrm>
          <a:prstGeom prst="rect">
            <a:avLst/>
          </a:prstGeom>
          <a:noFill/>
        </p:spPr>
        <p:txBody>
          <a:bodyPr wrap="none" rtlCol="0">
            <a:spAutoFit/>
          </a:bodyPr>
          <a:lstStyle/>
          <a:p>
            <a:r>
              <a:rPr kumimoji="1" lang="en-US" altLang="ja-JP" sz="1600" b="1" dirty="0" err="1"/>
              <a:t>mecab</a:t>
            </a:r>
            <a:endParaRPr kumimoji="1" lang="ja-JP" altLang="en-US" sz="1600" b="1"/>
          </a:p>
        </p:txBody>
      </p:sp>
      <p:sp>
        <p:nvSpPr>
          <p:cNvPr id="28" name="テキスト ボックス 27">
            <a:extLst>
              <a:ext uri="{FF2B5EF4-FFF2-40B4-BE49-F238E27FC236}">
                <a16:creationId xmlns:a16="http://schemas.microsoft.com/office/drawing/2014/main" id="{36803E7D-B8E9-2CA5-0E54-143269A0D742}"/>
              </a:ext>
            </a:extLst>
          </p:cNvPr>
          <p:cNvSpPr txBox="1"/>
          <p:nvPr/>
        </p:nvSpPr>
        <p:spPr>
          <a:xfrm>
            <a:off x="4562202" y="4125398"/>
            <a:ext cx="1146468" cy="323165"/>
          </a:xfrm>
          <a:prstGeom prst="rect">
            <a:avLst/>
          </a:prstGeom>
          <a:noFill/>
        </p:spPr>
        <p:txBody>
          <a:bodyPr wrap="none" rtlCol="0">
            <a:spAutoFit/>
          </a:bodyPr>
          <a:lstStyle/>
          <a:p>
            <a:r>
              <a:rPr lang="ja-JP" altLang="en-US" sz="1500" b="1"/>
              <a:t>プロンプト</a:t>
            </a:r>
            <a:endParaRPr kumimoji="1" lang="ja-JP" altLang="en-US" sz="1500" b="1"/>
          </a:p>
        </p:txBody>
      </p:sp>
    </p:spTree>
    <p:extLst>
      <p:ext uri="{BB962C8B-B14F-4D97-AF65-F5344CB8AC3E}">
        <p14:creationId xmlns:p14="http://schemas.microsoft.com/office/powerpoint/2010/main" val="1515609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1EA99-60AA-5390-0D3D-56D4CEB001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36E73C-C135-9AF7-6D96-1B6566C22C58}"/>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マテリアル・方法（</a:t>
            </a:r>
            <a:r>
              <a:rPr kumimoji="1" lang="en-US" altLang="ja-JP" sz="3600"/>
              <a:t>NER</a:t>
            </a:r>
            <a:r>
              <a:rPr kumimoji="1" lang="ja-JP" altLang="en-US" sz="3600"/>
              <a:t>）</a:t>
            </a:r>
          </a:p>
        </p:txBody>
      </p:sp>
      <p:sp>
        <p:nvSpPr>
          <p:cNvPr id="4" name="テキスト ボックス 3">
            <a:extLst>
              <a:ext uri="{FF2B5EF4-FFF2-40B4-BE49-F238E27FC236}">
                <a16:creationId xmlns:a16="http://schemas.microsoft.com/office/drawing/2014/main" id="{5C02DBFA-43A0-570F-85FB-DE2048B43B02}"/>
              </a:ext>
            </a:extLst>
          </p:cNvPr>
          <p:cNvSpPr txBox="1"/>
          <p:nvPr/>
        </p:nvSpPr>
        <p:spPr>
          <a:xfrm>
            <a:off x="0" y="643420"/>
            <a:ext cx="6705682" cy="2308324"/>
          </a:xfrm>
          <a:prstGeom prst="rect">
            <a:avLst/>
          </a:prstGeom>
          <a:noFill/>
        </p:spPr>
        <p:txBody>
          <a:bodyPr wrap="none" rtlCol="0">
            <a:spAutoFit/>
          </a:bodyPr>
          <a:lstStyle/>
          <a:p>
            <a:pPr marL="285750" indent="-285750">
              <a:buFont typeface="Arial" panose="020B0604020202020204" pitchFamily="34" charset="0"/>
              <a:buChar char="•"/>
            </a:pPr>
            <a:r>
              <a:rPr lang="en-US" altLang="ja-JP"/>
              <a:t>mecab</a:t>
            </a:r>
            <a:r>
              <a:rPr lang="ja-JP" altLang="en-US"/>
              <a:t>による形態素解析</a:t>
            </a:r>
            <a:endParaRPr lang="en-US" altLang="ja-JP"/>
          </a:p>
          <a:p>
            <a:pPr marL="742950" lvl="1" indent="-285750">
              <a:buFont typeface="Arial" panose="020B0604020202020204" pitchFamily="34" charset="0"/>
              <a:buChar char="•"/>
            </a:pPr>
            <a:r>
              <a:rPr kumimoji="1" lang="en-US" altLang="ja-JP"/>
              <a:t>'</a:t>
            </a:r>
            <a:r>
              <a:rPr kumimoji="1" lang="ja-JP" altLang="en-US"/>
              <a:t>固有名詞</a:t>
            </a:r>
            <a:r>
              <a:rPr kumimoji="1" lang="en-US" altLang="ja-JP"/>
              <a:t>'</a:t>
            </a:r>
            <a:r>
              <a:rPr kumimoji="1" lang="ja-JP" altLang="en-US"/>
              <a:t>、</a:t>
            </a:r>
            <a:r>
              <a:rPr kumimoji="1" lang="en-US" altLang="ja-JP"/>
              <a:t>'</a:t>
            </a:r>
            <a:r>
              <a:rPr kumimoji="1" lang="ja-JP" altLang="en-US"/>
              <a:t>地域</a:t>
            </a:r>
            <a:r>
              <a:rPr kumimoji="1" lang="en-US" altLang="ja-JP"/>
              <a:t>'</a:t>
            </a:r>
            <a:r>
              <a:rPr kumimoji="1" lang="ja-JP" altLang="en-US"/>
              <a:t>のラベルのあるものを抽出</a:t>
            </a:r>
            <a:endParaRPr kumimoji="1" lang="en-US" altLang="ja-JP"/>
          </a:p>
          <a:p>
            <a:pPr marL="742950" lvl="1" indent="-285750">
              <a:buFont typeface="Arial" panose="020B0604020202020204" pitchFamily="34" charset="0"/>
              <a:buChar char="•"/>
            </a:pPr>
            <a:r>
              <a:rPr lang="ja-JP" altLang="en-US"/>
              <a:t>品詞の属性情報を削除し表現部分のみを抽出、リスト化</a:t>
            </a:r>
            <a:endParaRPr lang="en-US" altLang="ja-JP"/>
          </a:p>
          <a:p>
            <a:pPr marL="742950" lvl="1" indent="-285750">
              <a:buFont typeface="Arial" panose="020B0604020202020204" pitchFamily="34" charset="0"/>
              <a:buChar char="•"/>
            </a:pPr>
            <a:r>
              <a:rPr kumimoji="1" lang="ja-JP" altLang="en-US"/>
              <a:t>以上を報告書ごとに行う</a:t>
            </a:r>
            <a:endParaRPr kumimoji="1" lang="en-US" altLang="ja-JP"/>
          </a:p>
          <a:p>
            <a:pPr marL="285750" indent="-285750">
              <a:buFont typeface="Arial" panose="020B0604020202020204" pitchFamily="34" charset="0"/>
              <a:buChar char="•"/>
            </a:pPr>
            <a:r>
              <a:rPr kumimoji="1" lang="ja-JP" altLang="en-US"/>
              <a:t>作業用ファイルの作成</a:t>
            </a:r>
            <a:endParaRPr kumimoji="1" lang="en-US" altLang="ja-JP"/>
          </a:p>
          <a:p>
            <a:pPr marL="742950" lvl="1" indent="-285750">
              <a:buFont typeface="Arial" panose="020B0604020202020204" pitchFamily="34" charset="0"/>
              <a:buChar char="•"/>
            </a:pPr>
            <a:r>
              <a:rPr kumimoji="1" lang="ja-JP" altLang="en-US"/>
              <a:t>報告書のタイトル、本文を抽出</a:t>
            </a:r>
            <a:endParaRPr kumimoji="1" lang="en-US" altLang="ja-JP"/>
          </a:p>
          <a:p>
            <a:pPr marL="742950" lvl="1" indent="-285750">
              <a:buFont typeface="Arial" panose="020B0604020202020204" pitchFamily="34" charset="0"/>
              <a:buChar char="•"/>
            </a:pPr>
            <a:r>
              <a:rPr lang="en-US" altLang="ja-JP"/>
              <a:t>NER</a:t>
            </a:r>
            <a:r>
              <a:rPr lang="ja-JP" altLang="en-US"/>
              <a:t>結果のリストと結合</a:t>
            </a:r>
            <a:endParaRPr lang="en-US" altLang="ja-JP"/>
          </a:p>
          <a:p>
            <a:pPr marL="742950" lvl="1" indent="-285750">
              <a:buFont typeface="Arial" panose="020B0604020202020204" pitchFamily="34" charset="0"/>
              <a:buChar char="•"/>
            </a:pPr>
            <a:r>
              <a:rPr lang="ja-JP" altLang="en-US"/>
              <a:t>以上を報告書ごとに行う</a:t>
            </a:r>
            <a:endParaRPr lang="en-US" altLang="ja-JP"/>
          </a:p>
        </p:txBody>
      </p:sp>
    </p:spTree>
    <p:extLst>
      <p:ext uri="{BB962C8B-B14F-4D97-AF65-F5344CB8AC3E}">
        <p14:creationId xmlns:p14="http://schemas.microsoft.com/office/powerpoint/2010/main" val="3715758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22E3-1D88-097D-0343-32872DBECF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2EDC01-EC4F-BEDC-7426-C76D07DBBBC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マテリアル・方法（判定依頼</a:t>
            </a:r>
            <a:r>
              <a:rPr lang="ja-JP" altLang="en-US" sz="3600"/>
              <a:t>プロンプト</a:t>
            </a:r>
            <a:r>
              <a:rPr kumimoji="1" lang="ja-JP" altLang="en-US" sz="3600"/>
              <a:t>）</a:t>
            </a:r>
          </a:p>
        </p:txBody>
      </p:sp>
      <p:sp>
        <p:nvSpPr>
          <p:cNvPr id="3" name="テキスト ボックス 2">
            <a:extLst>
              <a:ext uri="{FF2B5EF4-FFF2-40B4-BE49-F238E27FC236}">
                <a16:creationId xmlns:a16="http://schemas.microsoft.com/office/drawing/2014/main" id="{E338ACB1-AAC0-8369-EA96-CBA6FD444B9D}"/>
              </a:ext>
            </a:extLst>
          </p:cNvPr>
          <p:cNvSpPr txBox="1"/>
          <p:nvPr/>
        </p:nvSpPr>
        <p:spPr>
          <a:xfrm>
            <a:off x="377952" y="1720840"/>
            <a:ext cx="11436096" cy="3416320"/>
          </a:xfrm>
          <a:prstGeom prst="rect">
            <a:avLst/>
          </a:prstGeom>
          <a:noFill/>
          <a:ln>
            <a:solidFill>
              <a:schemeClr val="dk1"/>
            </a:solidFill>
          </a:ln>
        </p:spPr>
        <p:txBody>
          <a:bodyPr wrap="square" rtlCol="0">
            <a:spAutoFit/>
          </a:bodyPr>
          <a:lstStyle/>
          <a:p>
            <a:r>
              <a:rPr lang="ja-JP" altLang="en-US"/>
              <a:t>添付のデータに対して以下の作業を行って下さい。</a:t>
            </a:r>
          </a:p>
          <a:p>
            <a:r>
              <a:rPr lang="ja-JP" altLang="en-US"/>
              <a:t> </a:t>
            </a:r>
          </a:p>
          <a:p>
            <a:r>
              <a:rPr lang="ja-JP" altLang="en-US"/>
              <a:t> </a:t>
            </a:r>
            <a:r>
              <a:rPr lang="en-US" altLang="ja-JP" dirty="0"/>
              <a:t>- </a:t>
            </a:r>
            <a:r>
              <a:rPr lang="ja-JP" altLang="en-US"/>
              <a:t>概要 </a:t>
            </a:r>
            <a:r>
              <a:rPr lang="en-US" altLang="ja-JP" dirty="0"/>
              <a:t>: </a:t>
            </a:r>
            <a:r>
              <a:rPr lang="ja-JP" altLang="en-US"/>
              <a:t>地名候補を地名であるか判定する。</a:t>
            </a:r>
          </a:p>
          <a:p>
            <a:r>
              <a:rPr lang="ja-JP" altLang="en-US"/>
              <a:t> </a:t>
            </a:r>
            <a:r>
              <a:rPr lang="en-US" altLang="ja-JP" dirty="0"/>
              <a:t>- </a:t>
            </a:r>
            <a:r>
              <a:rPr lang="ja-JP" altLang="en-US"/>
              <a:t>入力データ形式 </a:t>
            </a:r>
            <a:r>
              <a:rPr lang="en-US" altLang="ja-JP" dirty="0"/>
              <a:t>: </a:t>
            </a:r>
            <a:r>
              <a:rPr lang="en" altLang="ja-JP" dirty="0" err="1"/>
              <a:t>json</a:t>
            </a:r>
            <a:r>
              <a:rPr lang="ja-JP" altLang="en-US"/>
              <a:t>形式、</a:t>
            </a:r>
            <a:r>
              <a:rPr lang="en-US" altLang="ja-JP" dirty="0"/>
              <a:t>4 </a:t>
            </a:r>
            <a:r>
              <a:rPr lang="ja-JP" altLang="en-US"/>
              <a:t>つの要素から成る。各要素はさらに配列である可能性がある。</a:t>
            </a:r>
          </a:p>
          <a:p>
            <a:r>
              <a:rPr lang="ja-JP" altLang="en-US"/>
              <a:t> </a:t>
            </a:r>
            <a:r>
              <a:rPr lang="en-US" altLang="ja-JP" dirty="0"/>
              <a:t>- </a:t>
            </a:r>
            <a:r>
              <a:rPr lang="ja-JP" altLang="en-US"/>
              <a:t>入力データの各要素の説明 </a:t>
            </a:r>
            <a:r>
              <a:rPr lang="en-US" altLang="ja-JP" dirty="0"/>
              <a:t>: </a:t>
            </a:r>
          </a:p>
          <a:p>
            <a:r>
              <a:rPr lang="en-US" altLang="ja-JP" dirty="0"/>
              <a:t>  - </a:t>
            </a:r>
            <a:r>
              <a:rPr lang="ja-JP" altLang="en-US"/>
              <a:t>第</a:t>
            </a:r>
            <a:r>
              <a:rPr lang="en-US" altLang="ja-JP" dirty="0"/>
              <a:t>1</a:t>
            </a:r>
            <a:r>
              <a:rPr lang="ja-JP" altLang="en-US"/>
              <a:t>要素 </a:t>
            </a:r>
            <a:r>
              <a:rPr lang="en-US" altLang="ja-JP" dirty="0"/>
              <a:t>: </a:t>
            </a:r>
            <a:r>
              <a:rPr lang="ja-JP" altLang="en-US"/>
              <a:t>無視して良い</a:t>
            </a:r>
          </a:p>
          <a:p>
            <a:r>
              <a:rPr lang="ja-JP" altLang="en-US"/>
              <a:t>  </a:t>
            </a:r>
            <a:r>
              <a:rPr lang="en-US" altLang="ja-JP" dirty="0"/>
              <a:t>- </a:t>
            </a:r>
            <a:r>
              <a:rPr lang="ja-JP" altLang="en-US"/>
              <a:t>第</a:t>
            </a:r>
            <a:r>
              <a:rPr lang="en-US" altLang="ja-JP" dirty="0"/>
              <a:t>2</a:t>
            </a:r>
            <a:r>
              <a:rPr lang="ja-JP" altLang="en-US"/>
              <a:t>要素 </a:t>
            </a:r>
            <a:r>
              <a:rPr lang="en-US" altLang="ja-JP" dirty="0"/>
              <a:t>: </a:t>
            </a:r>
            <a:r>
              <a:rPr lang="ja-JP" altLang="en-US"/>
              <a:t>第</a:t>
            </a:r>
            <a:r>
              <a:rPr lang="en-US" altLang="ja-JP" dirty="0"/>
              <a:t>4</a:t>
            </a:r>
            <a:r>
              <a:rPr lang="ja-JP" altLang="en-US"/>
              <a:t>要素から抽出された地名候補</a:t>
            </a:r>
          </a:p>
          <a:p>
            <a:r>
              <a:rPr lang="ja-JP" altLang="en-US"/>
              <a:t>  </a:t>
            </a:r>
            <a:r>
              <a:rPr lang="en-US" altLang="ja-JP" dirty="0"/>
              <a:t>- </a:t>
            </a:r>
            <a:r>
              <a:rPr lang="ja-JP" altLang="en-US"/>
              <a:t>第</a:t>
            </a:r>
            <a:r>
              <a:rPr lang="en-US" altLang="ja-JP" dirty="0"/>
              <a:t>3</a:t>
            </a:r>
            <a:r>
              <a:rPr lang="ja-JP" altLang="en-US"/>
              <a:t>要素 </a:t>
            </a:r>
            <a:r>
              <a:rPr lang="en-US" altLang="ja-JP" dirty="0"/>
              <a:t>: </a:t>
            </a:r>
            <a:r>
              <a:rPr lang="ja-JP" altLang="en-US"/>
              <a:t>無視して良い</a:t>
            </a:r>
          </a:p>
          <a:p>
            <a:r>
              <a:rPr lang="ja-JP" altLang="en-US"/>
              <a:t>  </a:t>
            </a:r>
            <a:r>
              <a:rPr lang="en-US" altLang="ja-JP" dirty="0"/>
              <a:t>- </a:t>
            </a:r>
            <a:r>
              <a:rPr lang="ja-JP" altLang="en-US"/>
              <a:t>第</a:t>
            </a:r>
            <a:r>
              <a:rPr lang="en-US" altLang="ja-JP" dirty="0"/>
              <a:t>4</a:t>
            </a:r>
            <a:r>
              <a:rPr lang="ja-JP" altLang="en-US"/>
              <a:t>要素 </a:t>
            </a:r>
            <a:r>
              <a:rPr lang="en-US" altLang="ja-JP" dirty="0"/>
              <a:t>: </a:t>
            </a:r>
            <a:r>
              <a:rPr lang="ja-JP" altLang="en-US"/>
              <a:t>文章 （配列）</a:t>
            </a:r>
          </a:p>
          <a:p>
            <a:r>
              <a:rPr lang="en-US" altLang="ja-JP" dirty="0"/>
              <a:t>- </a:t>
            </a:r>
            <a:r>
              <a:rPr lang="ja-JP" altLang="en-US"/>
              <a:t>行ってほしい作業 </a:t>
            </a:r>
            <a:r>
              <a:rPr lang="en-US" altLang="ja-JP" dirty="0"/>
              <a:t>: </a:t>
            </a:r>
            <a:r>
              <a:rPr lang="en" altLang="ja-JP" dirty="0" err="1"/>
              <a:t>json</a:t>
            </a:r>
            <a:r>
              <a:rPr lang="ja-JP" altLang="en-US"/>
              <a:t>の第</a:t>
            </a:r>
            <a:r>
              <a:rPr lang="en-US" altLang="ja-JP" dirty="0"/>
              <a:t>2</a:t>
            </a:r>
            <a:r>
              <a:rPr lang="ja-JP" altLang="en-US"/>
              <a:t>要素の各地名候補が地名であるかを、第</a:t>
            </a:r>
            <a:r>
              <a:rPr lang="en-US" altLang="ja-JP" dirty="0"/>
              <a:t>4</a:t>
            </a:r>
            <a:r>
              <a:rPr lang="ja-JP" altLang="en-US"/>
              <a:t>要素の文脈から判定してほしい。</a:t>
            </a:r>
          </a:p>
          <a:p>
            <a:r>
              <a:rPr lang="en-US" altLang="ja-JP" dirty="0"/>
              <a:t>- </a:t>
            </a:r>
            <a:r>
              <a:rPr lang="ja-JP" altLang="en-US"/>
              <a:t>出力データ形式 （判定結果） </a:t>
            </a:r>
            <a:r>
              <a:rPr lang="en-US" altLang="ja-JP" dirty="0"/>
              <a:t>: </a:t>
            </a:r>
            <a:r>
              <a:rPr lang="ja-JP" altLang="en-US"/>
              <a:t>第</a:t>
            </a:r>
            <a:r>
              <a:rPr lang="en-US" altLang="ja-JP" dirty="0"/>
              <a:t>2</a:t>
            </a:r>
            <a:r>
              <a:rPr lang="ja-JP" altLang="en-US"/>
              <a:t>要素のみを次のように出力する </a:t>
            </a:r>
            <a:r>
              <a:rPr lang="en-US" altLang="ja-JP" dirty="0"/>
              <a:t>: </a:t>
            </a:r>
            <a:r>
              <a:rPr lang="ja-JP" altLang="en-US"/>
              <a:t>第</a:t>
            </a:r>
            <a:r>
              <a:rPr lang="en-US" altLang="ja-JP" dirty="0"/>
              <a:t>2</a:t>
            </a:r>
            <a:r>
              <a:rPr lang="ja-JP" altLang="en-US"/>
              <a:t>要素の地名候補が地名であればそのまま残し、そうでない場合は</a:t>
            </a:r>
            <a:r>
              <a:rPr lang="en-US" altLang="ja-JP" dirty="0"/>
              <a:t>0</a:t>
            </a:r>
            <a:r>
              <a:rPr lang="ja-JP" altLang="en-US"/>
              <a:t>に置きかえたもの。</a:t>
            </a:r>
            <a:endParaRPr kumimoji="1" lang="ja-JP" altLang="en-US"/>
          </a:p>
        </p:txBody>
      </p:sp>
      <p:sp>
        <p:nvSpPr>
          <p:cNvPr id="4" name="テキスト ボックス 3">
            <a:extLst>
              <a:ext uri="{FF2B5EF4-FFF2-40B4-BE49-F238E27FC236}">
                <a16:creationId xmlns:a16="http://schemas.microsoft.com/office/drawing/2014/main" id="{9BBA087E-E339-5F99-5921-0C21B70F6076}"/>
              </a:ext>
            </a:extLst>
          </p:cNvPr>
          <p:cNvSpPr txBox="1"/>
          <p:nvPr/>
        </p:nvSpPr>
        <p:spPr>
          <a:xfrm>
            <a:off x="377952" y="6095817"/>
            <a:ext cx="8032968" cy="369332"/>
          </a:xfrm>
          <a:prstGeom prst="rect">
            <a:avLst/>
          </a:prstGeom>
          <a:noFill/>
        </p:spPr>
        <p:txBody>
          <a:bodyPr wrap="none" rtlCol="0">
            <a:spAutoFit/>
          </a:bodyPr>
          <a:lstStyle/>
          <a:p>
            <a:r>
              <a:rPr kumimoji="1" lang="en-US" altLang="ja-JP"/>
              <a:t>※</a:t>
            </a:r>
            <a:r>
              <a:rPr lang="ja-JP" altLang="en-US"/>
              <a:t>プロンプトを調整しながら試行し、ある程度安定した結果が得られたもの</a:t>
            </a:r>
            <a:endParaRPr kumimoji="1" lang="ja-JP" altLang="en-US"/>
          </a:p>
        </p:txBody>
      </p:sp>
    </p:spTree>
    <p:extLst>
      <p:ext uri="{BB962C8B-B14F-4D97-AF65-F5344CB8AC3E}">
        <p14:creationId xmlns:p14="http://schemas.microsoft.com/office/powerpoint/2010/main" val="1609540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33F5-0DFD-B6B1-3D10-353348B224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E65BD0-3870-7275-2979-ADFDF5B91F2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マテリアル・方法（</a:t>
            </a:r>
            <a:r>
              <a:rPr kumimoji="1" lang="en-US" altLang="ja-JP" sz="3600" dirty="0"/>
              <a:t>AI</a:t>
            </a:r>
            <a:r>
              <a:rPr kumimoji="1" lang="ja-JP" altLang="en-US" sz="3600"/>
              <a:t>・人への依頼条件等）</a:t>
            </a:r>
          </a:p>
        </p:txBody>
      </p:sp>
      <p:sp>
        <p:nvSpPr>
          <p:cNvPr id="3" name="テキスト ボックス 2">
            <a:extLst>
              <a:ext uri="{FF2B5EF4-FFF2-40B4-BE49-F238E27FC236}">
                <a16:creationId xmlns:a16="http://schemas.microsoft.com/office/drawing/2014/main" id="{8BA2003B-4A17-493F-5A7F-053901E11698}"/>
              </a:ext>
            </a:extLst>
          </p:cNvPr>
          <p:cNvSpPr txBox="1"/>
          <p:nvPr/>
        </p:nvSpPr>
        <p:spPr>
          <a:xfrm>
            <a:off x="509156" y="748143"/>
            <a:ext cx="1931939" cy="1200329"/>
          </a:xfrm>
          <a:prstGeom prst="rect">
            <a:avLst/>
          </a:prstGeom>
          <a:noFill/>
        </p:spPr>
        <p:txBody>
          <a:bodyPr wrap="none" rtlCol="0">
            <a:spAutoFit/>
          </a:bodyPr>
          <a:lstStyle/>
          <a:p>
            <a:r>
              <a:rPr kumimoji="1" lang="en-US" altLang="ja-JP" dirty="0"/>
              <a:t>AI:</a:t>
            </a:r>
          </a:p>
          <a:p>
            <a:pPr marL="285750" indent="-285750">
              <a:buFont typeface="Arial" panose="020B0604020202020204" pitchFamily="34" charset="0"/>
              <a:buChar char="•"/>
            </a:pPr>
            <a:r>
              <a:rPr lang="en-US" altLang="ja-JP" dirty="0"/>
              <a:t>Gemma3 (4b)</a:t>
            </a:r>
          </a:p>
          <a:p>
            <a:pPr marL="285750" indent="-285750">
              <a:buFont typeface="Arial" panose="020B0604020202020204" pitchFamily="34" charset="0"/>
              <a:buChar char="•"/>
            </a:pPr>
            <a:r>
              <a:rPr kumimoji="1" lang="en-US" altLang="ja-JP" dirty="0"/>
              <a:t>Llama3 (8b)</a:t>
            </a:r>
          </a:p>
          <a:p>
            <a:pPr marL="285750" indent="-285750">
              <a:buFont typeface="Arial" panose="020B0604020202020204" pitchFamily="34" charset="0"/>
              <a:buChar char="•"/>
            </a:pPr>
            <a:r>
              <a:rPr lang="en-US" altLang="ja-JP" dirty="0"/>
              <a:t>Qwen3 (32b)</a:t>
            </a:r>
            <a:endParaRPr kumimoji="1" lang="ja-JP" altLang="en-US"/>
          </a:p>
        </p:txBody>
      </p:sp>
      <p:sp>
        <p:nvSpPr>
          <p:cNvPr id="4" name="テキスト ボックス 3">
            <a:extLst>
              <a:ext uri="{FF2B5EF4-FFF2-40B4-BE49-F238E27FC236}">
                <a16:creationId xmlns:a16="http://schemas.microsoft.com/office/drawing/2014/main" id="{617ACA11-B918-E0C8-A874-3C29FCFB4845}"/>
              </a:ext>
            </a:extLst>
          </p:cNvPr>
          <p:cNvSpPr txBox="1"/>
          <p:nvPr/>
        </p:nvSpPr>
        <p:spPr>
          <a:xfrm>
            <a:off x="509156" y="4069130"/>
            <a:ext cx="832279" cy="646331"/>
          </a:xfrm>
          <a:prstGeom prst="rect">
            <a:avLst/>
          </a:prstGeom>
          <a:noFill/>
        </p:spPr>
        <p:txBody>
          <a:bodyPr wrap="none" rtlCol="0">
            <a:spAutoFit/>
          </a:bodyPr>
          <a:lstStyle/>
          <a:p>
            <a:r>
              <a:rPr kumimoji="1" lang="ja-JP" altLang="en-US"/>
              <a:t>人</a:t>
            </a:r>
            <a:r>
              <a:rPr kumimoji="1" lang="en-US" altLang="ja-JP"/>
              <a:t>:</a:t>
            </a:r>
            <a:endParaRPr kumimoji="1" lang="en-US" altLang="ja-JP" dirty="0"/>
          </a:p>
          <a:p>
            <a:pPr marL="285750" indent="-285750">
              <a:buFont typeface="Arial" panose="020B0604020202020204" pitchFamily="34" charset="0"/>
              <a:buChar char="•"/>
            </a:pPr>
            <a:r>
              <a:rPr lang="en-US" altLang="ja-JP" dirty="0"/>
              <a:t>3</a:t>
            </a:r>
            <a:r>
              <a:rPr lang="ja-JP" altLang="en-US"/>
              <a:t>名</a:t>
            </a:r>
            <a:endParaRPr kumimoji="1" lang="ja-JP" altLang="en-US"/>
          </a:p>
        </p:txBody>
      </p:sp>
      <p:sp>
        <p:nvSpPr>
          <p:cNvPr id="5" name="テキスト ボックス 4">
            <a:extLst>
              <a:ext uri="{FF2B5EF4-FFF2-40B4-BE49-F238E27FC236}">
                <a16:creationId xmlns:a16="http://schemas.microsoft.com/office/drawing/2014/main" id="{4B44D2CF-9DD3-943A-F884-1C2A76866132}"/>
              </a:ext>
            </a:extLst>
          </p:cNvPr>
          <p:cNvSpPr txBox="1"/>
          <p:nvPr/>
        </p:nvSpPr>
        <p:spPr>
          <a:xfrm>
            <a:off x="4070933" y="1064612"/>
            <a:ext cx="7367723" cy="923330"/>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a:t>ローカル環境（</a:t>
            </a:r>
            <a:r>
              <a:rPr kumimoji="1" lang="en-US" altLang="ja-JP" dirty="0"/>
              <a:t>Ollama</a:t>
            </a:r>
            <a:r>
              <a:rPr kumimoji="1" lang="ja-JP" altLang="en-US"/>
              <a:t>）による</a:t>
            </a:r>
            <a:r>
              <a:rPr kumimoji="1" lang="en-US" altLang="ja-JP" dirty="0"/>
              <a:t>1</a:t>
            </a:r>
            <a:r>
              <a:rPr kumimoji="1" lang="ja-JP" altLang="en-US"/>
              <a:t>ドキュメント</a:t>
            </a:r>
            <a:r>
              <a:rPr kumimoji="1" lang="en-US" altLang="ja-JP" dirty="0"/>
              <a:t>/1</a:t>
            </a:r>
            <a:r>
              <a:rPr kumimoji="1" lang="ja-JP" altLang="en-US"/>
              <a:t>クエリー</a:t>
            </a:r>
            <a:r>
              <a:rPr kumimoji="1" lang="en-US" altLang="ja-JP" dirty="0"/>
              <a:t>/1</a:t>
            </a:r>
            <a:r>
              <a:rPr kumimoji="1" lang="ja-JP" altLang="en-US"/>
              <a:t>回のみ</a:t>
            </a:r>
            <a:endParaRPr kumimoji="1" lang="en-US" altLang="ja-JP" dirty="0"/>
          </a:p>
          <a:p>
            <a:pPr marL="285750" indent="-285750">
              <a:buFont typeface="Arial" panose="020B0604020202020204" pitchFamily="34" charset="0"/>
              <a:buChar char="•"/>
            </a:pPr>
            <a:r>
              <a:rPr lang="ja-JP" altLang="en-US"/>
              <a:t>総計</a:t>
            </a:r>
            <a:r>
              <a:rPr lang="en-US" altLang="ja-JP" dirty="0"/>
              <a:t>600</a:t>
            </a:r>
            <a:r>
              <a:rPr lang="ja-JP" altLang="en-US"/>
              <a:t>クエリー</a:t>
            </a:r>
            <a:endParaRPr lang="en-US" altLang="ja-JP" dirty="0"/>
          </a:p>
          <a:p>
            <a:r>
              <a:rPr kumimoji="1" lang="ja-JP" altLang="en-US"/>
              <a:t>　</a:t>
            </a:r>
          </a:p>
        </p:txBody>
      </p:sp>
      <p:sp>
        <p:nvSpPr>
          <p:cNvPr id="7" name="テキスト ボックス 6">
            <a:extLst>
              <a:ext uri="{FF2B5EF4-FFF2-40B4-BE49-F238E27FC236}">
                <a16:creationId xmlns:a16="http://schemas.microsoft.com/office/drawing/2014/main" id="{CACC1BA4-62B7-33A4-8398-8AC85962F4AC}"/>
              </a:ext>
            </a:extLst>
          </p:cNvPr>
          <p:cNvSpPr txBox="1"/>
          <p:nvPr/>
        </p:nvSpPr>
        <p:spPr>
          <a:xfrm>
            <a:off x="4070933" y="4327937"/>
            <a:ext cx="4166525" cy="923330"/>
          </a:xfrm>
          <a:prstGeom prst="rect">
            <a:avLst/>
          </a:prstGeom>
          <a:noFill/>
        </p:spPr>
        <p:txBody>
          <a:bodyPr wrap="none" rtlCol="0">
            <a:spAutoFit/>
          </a:bodyPr>
          <a:lstStyle/>
          <a:p>
            <a:pPr marL="285750" indent="-285750">
              <a:buFont typeface="Arial" panose="020B0604020202020204" pitchFamily="34" charset="0"/>
              <a:buChar char="•"/>
            </a:pPr>
            <a:r>
              <a:rPr lang="ja-JP" altLang="en-US"/>
              <a:t>期限付き</a:t>
            </a:r>
            <a:endParaRPr lang="en-US" altLang="ja-JP" dirty="0"/>
          </a:p>
          <a:p>
            <a:pPr marL="285750" indent="-285750">
              <a:buFont typeface="Arial" panose="020B0604020202020204" pitchFamily="34" charset="0"/>
              <a:buChar char="•"/>
            </a:pPr>
            <a:r>
              <a:rPr lang="ja-JP" altLang="en-US"/>
              <a:t>再提出可</a:t>
            </a:r>
            <a:endParaRPr lang="en-US" altLang="ja-JP" dirty="0"/>
          </a:p>
          <a:p>
            <a:pPr marL="285750" indent="-285750">
              <a:buFont typeface="Arial" panose="020B0604020202020204" pitchFamily="34" charset="0"/>
              <a:buChar char="•"/>
            </a:pPr>
            <a:r>
              <a:rPr kumimoji="1" lang="ja-JP" altLang="en-US"/>
              <a:t>合議を妨げない（質問にも答える）</a:t>
            </a:r>
          </a:p>
        </p:txBody>
      </p:sp>
      <p:pic>
        <p:nvPicPr>
          <p:cNvPr id="8" name="図 7" descr="テキスト&#10;&#10;AI 生成コンテンツは誤りを含む可能性があります。">
            <a:extLst>
              <a:ext uri="{FF2B5EF4-FFF2-40B4-BE49-F238E27FC236}">
                <a16:creationId xmlns:a16="http://schemas.microsoft.com/office/drawing/2014/main" id="{557D3E7F-AFDC-3BC4-E600-EF963425D269}"/>
              </a:ext>
            </a:extLst>
          </p:cNvPr>
          <p:cNvPicPr>
            <a:picLocks noChangeAspect="1"/>
          </p:cNvPicPr>
          <p:nvPr/>
        </p:nvPicPr>
        <p:blipFill>
          <a:blip r:embed="rId2"/>
          <a:stretch>
            <a:fillRect/>
          </a:stretch>
        </p:blipFill>
        <p:spPr>
          <a:xfrm>
            <a:off x="4471284" y="1713759"/>
            <a:ext cx="6465052" cy="1518535"/>
          </a:xfrm>
          <a:prstGeom prst="rect">
            <a:avLst/>
          </a:prstGeom>
        </p:spPr>
      </p:pic>
    </p:spTree>
    <p:extLst>
      <p:ext uri="{BB962C8B-B14F-4D97-AF65-F5344CB8AC3E}">
        <p14:creationId xmlns:p14="http://schemas.microsoft.com/office/powerpoint/2010/main" val="313544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D387A-1453-95D2-ECE4-F0F5846A71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2EEC0A-3EFA-7A7C-9D24-A9AAFD07EE0F}"/>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マテリアル・方法（</a:t>
            </a:r>
            <a:r>
              <a:rPr kumimoji="1" lang="en-US" altLang="ja-JP" sz="3600"/>
              <a:t>JSON</a:t>
            </a:r>
            <a:r>
              <a:rPr kumimoji="1" lang="ja-JP" altLang="en-US" sz="3600"/>
              <a:t>形式の例）</a:t>
            </a:r>
          </a:p>
        </p:txBody>
      </p:sp>
      <p:sp>
        <p:nvSpPr>
          <p:cNvPr id="4" name="テキスト ボックス 3">
            <a:extLst>
              <a:ext uri="{FF2B5EF4-FFF2-40B4-BE49-F238E27FC236}">
                <a16:creationId xmlns:a16="http://schemas.microsoft.com/office/drawing/2014/main" id="{605A0A9E-028F-F0D6-C3A3-7E6D8D398283}"/>
              </a:ext>
            </a:extLst>
          </p:cNvPr>
          <p:cNvSpPr txBox="1"/>
          <p:nvPr/>
        </p:nvSpPr>
        <p:spPr>
          <a:xfrm>
            <a:off x="1" y="1201740"/>
            <a:ext cx="12045695" cy="3416320"/>
          </a:xfrm>
          <a:prstGeom prst="rect">
            <a:avLst/>
          </a:prstGeom>
          <a:noFill/>
        </p:spPr>
        <p:txBody>
          <a:bodyPr wrap="square" rtlCol="0">
            <a:spAutoFit/>
          </a:bodyPr>
          <a:lstStyle/>
          <a:p>
            <a:r>
              <a:rPr lang="en-US" altLang="ja-JP" dirty="0"/>
              <a:t>[</a:t>
            </a:r>
            <a:r>
              <a:rPr lang="en-US" altLang="ja-JP" dirty="0">
                <a:highlight>
                  <a:srgbClr val="808080"/>
                </a:highlight>
              </a:rPr>
              <a:t>["</a:t>
            </a:r>
            <a:r>
              <a:rPr lang="ja-JP" altLang="en-US">
                <a:highlight>
                  <a:srgbClr val="808080"/>
                </a:highlight>
              </a:rPr>
              <a:t>成</a:t>
            </a:r>
            <a:r>
              <a:rPr lang="en-US" altLang="ja-JP" dirty="0">
                <a:highlight>
                  <a:srgbClr val="808080"/>
                </a:highlight>
              </a:rPr>
              <a:t>","</a:t>
            </a:r>
            <a:r>
              <a:rPr lang="ja-JP" altLang="en-US">
                <a:highlight>
                  <a:srgbClr val="808080"/>
                </a:highlight>
              </a:rPr>
              <a:t>成</a:t>
            </a:r>
            <a:r>
              <a:rPr lang="en-US" altLang="ja-JP" dirty="0">
                <a:highlight>
                  <a:srgbClr val="808080"/>
                </a:highlight>
              </a:rPr>
              <a:t>"]</a:t>
            </a:r>
            <a:r>
              <a:rPr lang="en-US" altLang="ja-JP" dirty="0"/>
              <a:t>,</a:t>
            </a:r>
            <a:r>
              <a:rPr lang="en-US" altLang="ja-JP" u="sng" dirty="0"/>
              <a:t>["</a:t>
            </a:r>
            <a:r>
              <a:rPr lang="ja-JP" altLang="en-US" u="sng"/>
              <a:t>成</a:t>
            </a:r>
            <a:r>
              <a:rPr lang="en-US" altLang="ja-JP" u="sng" dirty="0"/>
              <a:t>","</a:t>
            </a:r>
            <a:r>
              <a:rPr lang="ja-JP" altLang="en-US" u="sng"/>
              <a:t>成</a:t>
            </a:r>
            <a:r>
              <a:rPr lang="en-US" altLang="ja-JP" u="sng" dirty="0"/>
              <a:t>"]</a:t>
            </a:r>
            <a:r>
              <a:rPr lang="en-US" altLang="ja-JP" dirty="0"/>
              <a:t>,</a:t>
            </a:r>
            <a:r>
              <a:rPr lang="en-US" altLang="ja-JP" dirty="0">
                <a:highlight>
                  <a:srgbClr val="808080"/>
                </a:highlight>
              </a:rPr>
              <a:t>"</a:t>
            </a:r>
            <a:r>
              <a:rPr lang="ja-JP" altLang="en-US">
                <a:highlight>
                  <a:srgbClr val="808080"/>
                </a:highlight>
              </a:rPr>
              <a:t>情報通信工学 </a:t>
            </a:r>
            <a:r>
              <a:rPr lang="en-US" altLang="ja-JP" dirty="0">
                <a:highlight>
                  <a:srgbClr val="808080"/>
                </a:highlight>
              </a:rPr>
              <a:t>/ </a:t>
            </a:r>
            <a:r>
              <a:rPr lang="ja-JP" altLang="en-US">
                <a:highlight>
                  <a:srgbClr val="808080"/>
                </a:highlight>
              </a:rPr>
              <a:t>電気電子工学 </a:t>
            </a:r>
            <a:r>
              <a:rPr lang="en-US" altLang="ja-JP" dirty="0">
                <a:highlight>
                  <a:srgbClr val="808080"/>
                </a:highlight>
              </a:rPr>
              <a:t>/ </a:t>
            </a:r>
            <a:r>
              <a:rPr lang="ja-JP" altLang="en-US">
                <a:highlight>
                  <a:srgbClr val="808080"/>
                </a:highlight>
              </a:rPr>
              <a:t>工学</a:t>
            </a:r>
            <a:r>
              <a:rPr lang="en-US" altLang="ja-JP" dirty="0">
                <a:highlight>
                  <a:srgbClr val="808080"/>
                </a:highlight>
              </a:rPr>
              <a:t>"</a:t>
            </a:r>
            <a:r>
              <a:rPr lang="en-US" altLang="ja-JP" dirty="0"/>
              <a:t>,["</a:t>
            </a:r>
            <a:r>
              <a:rPr lang="ja-JP" altLang="en-US"/>
              <a:t>高品質極薄</a:t>
            </a:r>
            <a:r>
              <a:rPr lang="en" altLang="ja-JP" dirty="0"/>
              <a:t>Si</a:t>
            </a:r>
            <a:r>
              <a:rPr lang="ja-JP" altLang="en-US"/>
              <a:t>系絶縁膜の低温形成と機能評価に関する研究</a:t>
            </a:r>
            <a:r>
              <a:rPr lang="en-US" altLang="ja-JP" dirty="0"/>
              <a:t>","09650363"," ","</a:t>
            </a:r>
            <a:r>
              <a:rPr lang="ja-JP" altLang="en-US"/>
              <a:t>本研究では、高活性なプラズマの生成が容易に実現できる</a:t>
            </a:r>
            <a:r>
              <a:rPr lang="en" altLang="ja-JP" dirty="0"/>
              <a:t>ECR(Electron Cyclotron Resonance)</a:t>
            </a:r>
            <a:r>
              <a:rPr lang="ja-JP" altLang="en-US"/>
              <a:t>マイクロ波プラズマと</a:t>
            </a:r>
            <a:r>
              <a:rPr lang="en" altLang="ja-JP" dirty="0"/>
              <a:t>Si</a:t>
            </a:r>
            <a:r>
              <a:rPr lang="ja-JP" altLang="en-US"/>
              <a:t>ターゲットからのスパッタリングを組み合わせた</a:t>
            </a:r>
            <a:r>
              <a:rPr lang="en" altLang="ja-JP" dirty="0"/>
              <a:t>ECR</a:t>
            </a:r>
            <a:r>
              <a:rPr lang="ja-JP" altLang="en-US"/>
              <a:t>スパッタ法を用いて、</a:t>
            </a:r>
            <a:r>
              <a:rPr lang="en" altLang="ja-JP" dirty="0"/>
              <a:t>Si</a:t>
            </a:r>
            <a:r>
              <a:rPr lang="ja-JP" altLang="en-US"/>
              <a:t>系絶縁膜を低温で堆積するプロセス技術を確立し、堆積された膜の機能性を発現させることを目的としている。この研究で得られた成果は、以下の通りである。 </a:t>
            </a:r>
            <a:r>
              <a:rPr lang="en-US" altLang="ja-JP" dirty="0"/>
              <a:t>(1) </a:t>
            </a:r>
            <a:r>
              <a:rPr lang="ja-JP" altLang="en-US"/>
              <a:t>プラズマ条件を最適化することにより、</a:t>
            </a:r>
            <a:r>
              <a:rPr lang="en-US" altLang="ja-JP" dirty="0"/>
              <a:t>130℃</a:t>
            </a:r>
            <a:r>
              <a:rPr lang="ja-JP" altLang="en-US"/>
              <a:t>の低温で成膜速度</a:t>
            </a:r>
            <a:r>
              <a:rPr lang="en-US" altLang="ja-JP" dirty="0"/>
              <a:t>23</a:t>
            </a:r>
            <a:r>
              <a:rPr lang="en" altLang="ja-JP" dirty="0"/>
              <a:t>nm/min</a:t>
            </a:r>
            <a:r>
              <a:rPr lang="ja-JP" altLang="en"/>
              <a:t>、</a:t>
            </a:r>
            <a:r>
              <a:rPr lang="ja-JP" altLang="en-US"/>
              <a:t>絶縁破壊電界</a:t>
            </a:r>
            <a:r>
              <a:rPr lang="en-US" altLang="ja-JP" dirty="0"/>
              <a:t>10</a:t>
            </a:r>
            <a:r>
              <a:rPr lang="en" altLang="ja-JP" dirty="0"/>
              <a:t>MV/cm</a:t>
            </a:r>
            <a:r>
              <a:rPr lang="ja-JP" altLang="en-US"/>
              <a:t>を有する</a:t>
            </a:r>
            <a:r>
              <a:rPr lang="en" altLang="ja-JP" dirty="0"/>
              <a:t>Si</a:t>
            </a:r>
            <a:r>
              <a:rPr lang="ja-JP" altLang="en-US"/>
              <a:t>酸化膜を形成する技術を確立した。 </a:t>
            </a:r>
            <a:r>
              <a:rPr lang="en-US" altLang="ja-JP" dirty="0"/>
              <a:t>(2) </a:t>
            </a:r>
            <a:r>
              <a:rPr lang="en" altLang="ja-JP" dirty="0"/>
              <a:t>Si</a:t>
            </a:r>
            <a:r>
              <a:rPr lang="ja-JP" altLang="en-US"/>
              <a:t>酸化膜堆積前にプラズマ酸化処理を行い、それに続く</a:t>
            </a:r>
            <a:r>
              <a:rPr lang="en-US" altLang="ja-JP" dirty="0"/>
              <a:t>130℃</a:t>
            </a:r>
            <a:r>
              <a:rPr lang="ja-JP" altLang="en-US"/>
              <a:t>での低温堆積と</a:t>
            </a:r>
            <a:r>
              <a:rPr lang="en-US" altLang="ja-JP" dirty="0"/>
              <a:t>450℃</a:t>
            </a:r>
            <a:r>
              <a:rPr lang="ja-JP" altLang="en-US"/>
              <a:t>でのアニールにより、</a:t>
            </a:r>
            <a:r>
              <a:rPr lang="en-US" altLang="ja-JP" dirty="0"/>
              <a:t>9</a:t>
            </a:r>
            <a:r>
              <a:rPr lang="en" altLang="ja-JP" dirty="0"/>
              <a:t>nm</a:t>
            </a:r>
            <a:r>
              <a:rPr lang="ja-JP" altLang="en-US"/>
              <a:t>の極薄</a:t>
            </a:r>
            <a:r>
              <a:rPr lang="en" altLang="ja-JP" dirty="0"/>
              <a:t>Si</a:t>
            </a:r>
            <a:r>
              <a:rPr lang="ja-JP" altLang="en-US"/>
              <a:t>酸化膜の低温形成プロセスを確立した。この</a:t>
            </a:r>
            <a:r>
              <a:rPr lang="en" altLang="ja-JP" dirty="0"/>
              <a:t>Si</a:t>
            </a:r>
            <a:r>
              <a:rPr lang="ja-JP" altLang="en-US"/>
              <a:t>酸化膜は、絶縁破壊電界</a:t>
            </a:r>
            <a:r>
              <a:rPr lang="en-US" altLang="ja-JP" dirty="0"/>
              <a:t>9</a:t>
            </a:r>
            <a:r>
              <a:rPr lang="en" altLang="ja-JP" dirty="0"/>
              <a:t>MV/cm</a:t>
            </a:r>
            <a:r>
              <a:rPr lang="ja-JP" altLang="en"/>
              <a:t>、</a:t>
            </a:r>
            <a:r>
              <a:rPr lang="ja-JP" altLang="en-US"/>
              <a:t>界面準位密度</a:t>
            </a:r>
            <a:r>
              <a:rPr lang="en-US" altLang="ja-JP" dirty="0"/>
              <a:t>1</a:t>
            </a:r>
            <a:r>
              <a:rPr lang="en" altLang="ja-JP" dirty="0"/>
              <a:t>x10^&lt;11&gt;cm^&lt;-2&gt;eV^&lt;-1&gt;</a:t>
            </a:r>
            <a:r>
              <a:rPr lang="ja-JP" altLang="en-US"/>
              <a:t>以下、固定電荷密度</a:t>
            </a:r>
            <a:r>
              <a:rPr lang="en-US" altLang="ja-JP" dirty="0"/>
              <a:t>1</a:t>
            </a:r>
            <a:r>
              <a:rPr lang="en" altLang="ja-JP" dirty="0"/>
              <a:t>x10^&lt;11&gt;cm^&lt;-2&gt;</a:t>
            </a:r>
            <a:r>
              <a:rPr lang="ja-JP" altLang="en-US"/>
              <a:t>以下の機能を有する。 </a:t>
            </a:r>
            <a:r>
              <a:rPr lang="en-US" altLang="ja-JP" dirty="0"/>
              <a:t>(3) </a:t>
            </a:r>
            <a:r>
              <a:rPr lang="ja-JP" altLang="en-US"/>
              <a:t>酸素と窒素の混合プラズマを用いてプラズマ条件を最適化することにより、</a:t>
            </a:r>
            <a:r>
              <a:rPr lang="en-US" altLang="ja-JP" dirty="0"/>
              <a:t>130℃</a:t>
            </a:r>
            <a:r>
              <a:rPr lang="ja-JP" altLang="en-US"/>
              <a:t>の低温で、絶縁破壊電界</a:t>
            </a:r>
            <a:r>
              <a:rPr lang="en-US" altLang="ja-JP" dirty="0"/>
              <a:t>13</a:t>
            </a:r>
            <a:r>
              <a:rPr lang="en" altLang="ja-JP" dirty="0"/>
              <a:t>MV/cm</a:t>
            </a:r>
            <a:r>
              <a:rPr lang="ja-JP" altLang="en-US"/>
              <a:t>を有する</a:t>
            </a:r>
            <a:r>
              <a:rPr lang="en" altLang="ja-JP" dirty="0"/>
              <a:t>Si</a:t>
            </a:r>
            <a:r>
              <a:rPr lang="ja-JP" altLang="en-US"/>
              <a:t>酸窒化膜が形成できることを明らかにした。 </a:t>
            </a:r>
            <a:r>
              <a:rPr lang="en-US" altLang="ja-JP" dirty="0"/>
              <a:t>(4) </a:t>
            </a:r>
            <a:r>
              <a:rPr lang="ja-JP" altLang="en-US"/>
              <a:t>緻密な</a:t>
            </a:r>
            <a:r>
              <a:rPr lang="en" altLang="ja-JP" dirty="0" err="1"/>
              <a:t>SiN</a:t>
            </a:r>
            <a:r>
              <a:rPr lang="ja-JP" altLang="en-US"/>
              <a:t>膜が</a:t>
            </a:r>
            <a:r>
              <a:rPr lang="en" altLang="ja-JP" dirty="0"/>
              <a:t>ECR</a:t>
            </a:r>
            <a:r>
              <a:rPr lang="ja-JP" altLang="en-US"/>
              <a:t>スパッター法を用いて室温で堆積された。この窒化膜は、屈折率、赤外吸収、化学エッチングレイト等の特性は高温</a:t>
            </a:r>
            <a:r>
              <a:rPr lang="en" altLang="ja-JP" dirty="0"/>
              <a:t>CVD</a:t>
            </a:r>
            <a:r>
              <a:rPr lang="ja-JP" altLang="en-US"/>
              <a:t>で成膜したものと同等であることが明らかとなった。</a:t>
            </a:r>
            <a:r>
              <a:rPr lang="en-US" altLang="ja-JP" dirty="0"/>
              <a:t>"," "," "]]</a:t>
            </a:r>
          </a:p>
        </p:txBody>
      </p:sp>
      <p:sp>
        <p:nvSpPr>
          <p:cNvPr id="5" name="テキスト ボックス 4">
            <a:extLst>
              <a:ext uri="{FF2B5EF4-FFF2-40B4-BE49-F238E27FC236}">
                <a16:creationId xmlns:a16="http://schemas.microsoft.com/office/drawing/2014/main" id="{9C24996B-F6F7-4C7A-D224-CBE1D5484A48}"/>
              </a:ext>
            </a:extLst>
          </p:cNvPr>
          <p:cNvSpPr txBox="1"/>
          <p:nvPr/>
        </p:nvSpPr>
        <p:spPr>
          <a:xfrm>
            <a:off x="-1" y="577517"/>
            <a:ext cx="803425" cy="369332"/>
          </a:xfrm>
          <a:prstGeom prst="rect">
            <a:avLst/>
          </a:prstGeom>
          <a:noFill/>
        </p:spPr>
        <p:txBody>
          <a:bodyPr wrap="none" rtlCol="0">
            <a:spAutoFit/>
          </a:bodyPr>
          <a:lstStyle/>
          <a:p>
            <a:r>
              <a:rPr kumimoji="1" lang="en-US" altLang="ja-JP"/>
              <a:t>Input:</a:t>
            </a:r>
            <a:endParaRPr kumimoji="1" lang="ja-JP" altLang="en-US"/>
          </a:p>
        </p:txBody>
      </p:sp>
      <p:sp>
        <p:nvSpPr>
          <p:cNvPr id="6" name="テキスト ボックス 5">
            <a:extLst>
              <a:ext uri="{FF2B5EF4-FFF2-40B4-BE49-F238E27FC236}">
                <a16:creationId xmlns:a16="http://schemas.microsoft.com/office/drawing/2014/main" id="{D998F3A7-0629-53CA-682F-82B5E7A90C5E}"/>
              </a:ext>
            </a:extLst>
          </p:cNvPr>
          <p:cNvSpPr txBox="1"/>
          <p:nvPr/>
        </p:nvSpPr>
        <p:spPr>
          <a:xfrm>
            <a:off x="0" y="4988381"/>
            <a:ext cx="2880917" cy="369332"/>
          </a:xfrm>
          <a:prstGeom prst="rect">
            <a:avLst/>
          </a:prstGeom>
          <a:noFill/>
        </p:spPr>
        <p:txBody>
          <a:bodyPr wrap="none" rtlCol="0">
            <a:spAutoFit/>
          </a:bodyPr>
          <a:lstStyle/>
          <a:p>
            <a:r>
              <a:rPr lang="en-US" altLang="ja-JP"/>
              <a:t>Out</a:t>
            </a:r>
            <a:r>
              <a:rPr kumimoji="1" lang="en-US" altLang="ja-JP"/>
              <a:t>put</a:t>
            </a:r>
            <a:r>
              <a:rPr kumimoji="1" lang="ja-JP" altLang="en-US"/>
              <a:t>（想定する形式）</a:t>
            </a:r>
            <a:r>
              <a:rPr kumimoji="1" lang="en-US" altLang="ja-JP"/>
              <a:t>:</a:t>
            </a:r>
            <a:endParaRPr kumimoji="1" lang="ja-JP" altLang="en-US"/>
          </a:p>
        </p:txBody>
      </p:sp>
      <p:sp>
        <p:nvSpPr>
          <p:cNvPr id="7" name="テキスト ボックス 6">
            <a:extLst>
              <a:ext uri="{FF2B5EF4-FFF2-40B4-BE49-F238E27FC236}">
                <a16:creationId xmlns:a16="http://schemas.microsoft.com/office/drawing/2014/main" id="{25003854-6FEC-4B77-4547-707EDD47058A}"/>
              </a:ext>
            </a:extLst>
          </p:cNvPr>
          <p:cNvSpPr txBox="1"/>
          <p:nvPr/>
        </p:nvSpPr>
        <p:spPr>
          <a:xfrm>
            <a:off x="-1" y="5357713"/>
            <a:ext cx="971741" cy="369332"/>
          </a:xfrm>
          <a:prstGeom prst="rect">
            <a:avLst/>
          </a:prstGeom>
          <a:noFill/>
        </p:spPr>
        <p:txBody>
          <a:bodyPr wrap="none" rtlCol="0">
            <a:spAutoFit/>
          </a:bodyPr>
          <a:lstStyle/>
          <a:p>
            <a:r>
              <a:rPr lang="en-US" altLang="ja-JP"/>
              <a:t>["</a:t>
            </a:r>
            <a:r>
              <a:rPr lang="ja-JP" altLang="en-US"/>
              <a:t>成</a:t>
            </a:r>
            <a:r>
              <a:rPr lang="en-US" altLang="ja-JP"/>
              <a:t>",0]</a:t>
            </a:r>
            <a:endParaRPr kumimoji="1" lang="ja-JP" altLang="en-US"/>
          </a:p>
        </p:txBody>
      </p:sp>
      <p:sp>
        <p:nvSpPr>
          <p:cNvPr id="8" name="テキスト ボックス 7">
            <a:extLst>
              <a:ext uri="{FF2B5EF4-FFF2-40B4-BE49-F238E27FC236}">
                <a16:creationId xmlns:a16="http://schemas.microsoft.com/office/drawing/2014/main" id="{DA8703AE-573B-9728-A3C3-997C4B6E8C7F}"/>
              </a:ext>
            </a:extLst>
          </p:cNvPr>
          <p:cNvSpPr txBox="1"/>
          <p:nvPr/>
        </p:nvSpPr>
        <p:spPr>
          <a:xfrm>
            <a:off x="1856114" y="6034822"/>
            <a:ext cx="3057247" cy="307777"/>
          </a:xfrm>
          <a:prstGeom prst="rect">
            <a:avLst/>
          </a:prstGeom>
          <a:noFill/>
        </p:spPr>
        <p:txBody>
          <a:bodyPr wrap="none" rtlCol="0">
            <a:spAutoFit/>
          </a:bodyPr>
          <a:lstStyle/>
          <a:p>
            <a:r>
              <a:rPr kumimoji="1" lang="ja-JP" altLang="en-US" sz="1400"/>
              <a:t>地名と判定したものはそのまま残す</a:t>
            </a:r>
          </a:p>
        </p:txBody>
      </p:sp>
      <p:sp>
        <p:nvSpPr>
          <p:cNvPr id="9" name="テキスト ボックス 8">
            <a:extLst>
              <a:ext uri="{FF2B5EF4-FFF2-40B4-BE49-F238E27FC236}">
                <a16:creationId xmlns:a16="http://schemas.microsoft.com/office/drawing/2014/main" id="{6E3ED00A-3E53-034E-8909-DCE8C51D38E8}"/>
              </a:ext>
            </a:extLst>
          </p:cNvPr>
          <p:cNvSpPr txBox="1"/>
          <p:nvPr/>
        </p:nvSpPr>
        <p:spPr>
          <a:xfrm>
            <a:off x="1669936" y="5727045"/>
            <a:ext cx="3695242" cy="307777"/>
          </a:xfrm>
          <a:prstGeom prst="rect">
            <a:avLst/>
          </a:prstGeom>
          <a:noFill/>
        </p:spPr>
        <p:txBody>
          <a:bodyPr wrap="none" rtlCol="0">
            <a:spAutoFit/>
          </a:bodyPr>
          <a:lstStyle/>
          <a:p>
            <a:r>
              <a:rPr kumimoji="1" lang="ja-JP" altLang="en-US" sz="1400"/>
              <a:t>地名でないと判定したものは</a:t>
            </a:r>
            <a:r>
              <a:rPr kumimoji="1" lang="en-US" altLang="ja-JP" sz="1400"/>
              <a:t>0</a:t>
            </a:r>
            <a:r>
              <a:rPr kumimoji="1" lang="ja-JP" altLang="en-US" sz="1400"/>
              <a:t>に置き換える</a:t>
            </a:r>
          </a:p>
        </p:txBody>
      </p:sp>
      <p:sp>
        <p:nvSpPr>
          <p:cNvPr id="10" name="テキスト ボックス 9">
            <a:extLst>
              <a:ext uri="{FF2B5EF4-FFF2-40B4-BE49-F238E27FC236}">
                <a16:creationId xmlns:a16="http://schemas.microsoft.com/office/drawing/2014/main" id="{B16125B5-381B-C4FD-2940-07DA429F3706}"/>
              </a:ext>
            </a:extLst>
          </p:cNvPr>
          <p:cNvSpPr txBox="1"/>
          <p:nvPr/>
        </p:nvSpPr>
        <p:spPr>
          <a:xfrm>
            <a:off x="2660822" y="820811"/>
            <a:ext cx="1806905" cy="307777"/>
          </a:xfrm>
          <a:prstGeom prst="rect">
            <a:avLst/>
          </a:prstGeom>
          <a:noFill/>
        </p:spPr>
        <p:txBody>
          <a:bodyPr wrap="none" rtlCol="0">
            <a:spAutoFit/>
          </a:bodyPr>
          <a:lstStyle/>
          <a:p>
            <a:r>
              <a:rPr kumimoji="1" lang="en-US" altLang="ja-JP" sz="1400" dirty="0"/>
              <a:t>NER</a:t>
            </a:r>
            <a:r>
              <a:rPr kumimoji="1" lang="ja-JP" altLang="en-US" sz="1400"/>
              <a:t>による抽出結果</a:t>
            </a:r>
          </a:p>
        </p:txBody>
      </p:sp>
      <p:cxnSp>
        <p:nvCxnSpPr>
          <p:cNvPr id="12" name="カギ線コネクタ 11">
            <a:extLst>
              <a:ext uri="{FF2B5EF4-FFF2-40B4-BE49-F238E27FC236}">
                <a16:creationId xmlns:a16="http://schemas.microsoft.com/office/drawing/2014/main" id="{4CC0870C-CAFC-BCD1-A478-9144D0E96817}"/>
              </a:ext>
            </a:extLst>
          </p:cNvPr>
          <p:cNvCxnSpPr>
            <a:cxnSpLocks/>
            <a:stCxn id="10" idx="1"/>
          </p:cNvCxnSpPr>
          <p:nvPr/>
        </p:nvCxnSpPr>
        <p:spPr>
          <a:xfrm rot="10800000" flipV="1">
            <a:off x="1856114" y="974700"/>
            <a:ext cx="804708" cy="227040"/>
          </a:xfrm>
          <a:prstGeom prst="bentConnector3">
            <a:avLst>
              <a:gd name="adj1" fmla="val 9962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カギ線コネクタ 14">
            <a:extLst>
              <a:ext uri="{FF2B5EF4-FFF2-40B4-BE49-F238E27FC236}">
                <a16:creationId xmlns:a16="http://schemas.microsoft.com/office/drawing/2014/main" id="{BC8931FA-6C64-64C4-5D8D-9F0DD8164590}"/>
              </a:ext>
            </a:extLst>
          </p:cNvPr>
          <p:cNvCxnSpPr>
            <a:stCxn id="9" idx="1"/>
          </p:cNvCxnSpPr>
          <p:nvPr/>
        </p:nvCxnSpPr>
        <p:spPr>
          <a:xfrm rot="10800000">
            <a:off x="706582" y="5727046"/>
            <a:ext cx="963354" cy="153889"/>
          </a:xfrm>
          <a:prstGeom prst="bentConnector3">
            <a:avLst>
              <a:gd name="adj1" fmla="val 99616"/>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カギ線コネクタ 17">
            <a:extLst>
              <a:ext uri="{FF2B5EF4-FFF2-40B4-BE49-F238E27FC236}">
                <a16:creationId xmlns:a16="http://schemas.microsoft.com/office/drawing/2014/main" id="{B64DC262-5C37-8FCC-BC2B-71EB33CC94EE}"/>
              </a:ext>
            </a:extLst>
          </p:cNvPr>
          <p:cNvCxnSpPr>
            <a:cxnSpLocks/>
            <a:stCxn id="8" idx="1"/>
          </p:cNvCxnSpPr>
          <p:nvPr/>
        </p:nvCxnSpPr>
        <p:spPr>
          <a:xfrm rot="10800000">
            <a:off x="396974" y="5727045"/>
            <a:ext cx="1459140" cy="461666"/>
          </a:xfrm>
          <a:prstGeom prst="bentConnector3">
            <a:avLst>
              <a:gd name="adj1" fmla="val 99849"/>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1289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014B9-95D4-2533-BF48-ABDFDC8D58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E8276E-4711-8839-5464-BA41B46B779B}"/>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結果</a:t>
            </a:r>
            <a:r>
              <a:rPr lang="en-US" altLang="ja-JP" sz="3600" dirty="0">
                <a:sym typeface="Wingdings" pitchFamily="2" charset="2"/>
              </a:rPr>
              <a:t>(</a:t>
            </a:r>
            <a:r>
              <a:rPr lang="ja-JP" altLang="en-US" sz="3600">
                <a:sym typeface="Wingdings" pitchFamily="2" charset="2"/>
              </a:rPr>
              <a:t>出力の例</a:t>
            </a:r>
            <a:r>
              <a:rPr lang="en-US" altLang="ja-JP" sz="3600" dirty="0">
                <a:sym typeface="Wingdings" pitchFamily="2" charset="2"/>
              </a:rPr>
              <a:t>)</a:t>
            </a:r>
            <a:endParaRPr kumimoji="1" lang="ja-JP" altLang="en-US" sz="3600"/>
          </a:p>
        </p:txBody>
      </p:sp>
      <p:sp>
        <p:nvSpPr>
          <p:cNvPr id="11" name="テキスト ボックス 10">
            <a:extLst>
              <a:ext uri="{FF2B5EF4-FFF2-40B4-BE49-F238E27FC236}">
                <a16:creationId xmlns:a16="http://schemas.microsoft.com/office/drawing/2014/main" id="{17517DF6-6056-B8EC-F322-1EF5AC814C73}"/>
              </a:ext>
            </a:extLst>
          </p:cNvPr>
          <p:cNvSpPr txBox="1"/>
          <p:nvPr/>
        </p:nvSpPr>
        <p:spPr>
          <a:xfrm>
            <a:off x="8267699" y="6353084"/>
            <a:ext cx="2877711" cy="307777"/>
          </a:xfrm>
          <a:prstGeom prst="rect">
            <a:avLst/>
          </a:prstGeom>
          <a:noFill/>
          <a:ln>
            <a:solidFill>
              <a:schemeClr val="tx1"/>
            </a:solidFill>
          </a:ln>
        </p:spPr>
        <p:txBody>
          <a:bodyPr wrap="none" rtlCol="0">
            <a:spAutoFit/>
          </a:bodyPr>
          <a:lstStyle/>
          <a:p>
            <a:r>
              <a:rPr lang="en-US" altLang="ja-JP" sz="1400" dirty="0"/>
              <a:t>[0,0,"</a:t>
            </a:r>
            <a:r>
              <a:rPr lang="ja-JP" altLang="en-US" sz="1400"/>
              <a:t>岩手</a:t>
            </a:r>
            <a:r>
              <a:rPr lang="en-US" altLang="ja-JP" sz="1400" dirty="0"/>
              <a:t>","</a:t>
            </a:r>
            <a:r>
              <a:rPr lang="ja-JP" altLang="en-US" sz="1400"/>
              <a:t>大船渡</a:t>
            </a:r>
            <a:r>
              <a:rPr lang="en-US" altLang="ja-JP" sz="1400" dirty="0"/>
              <a:t>",0,0,"</a:t>
            </a:r>
            <a:r>
              <a:rPr lang="ja-JP" altLang="en-US" sz="1400"/>
              <a:t>長谷堂</a:t>
            </a:r>
            <a:r>
              <a:rPr lang="en-US" altLang="ja-JP" sz="1400" dirty="0"/>
              <a:t>"]</a:t>
            </a:r>
          </a:p>
        </p:txBody>
      </p:sp>
      <p:sp>
        <p:nvSpPr>
          <p:cNvPr id="12" name="テキスト ボックス 11">
            <a:extLst>
              <a:ext uri="{FF2B5EF4-FFF2-40B4-BE49-F238E27FC236}">
                <a16:creationId xmlns:a16="http://schemas.microsoft.com/office/drawing/2014/main" id="{0407629A-D96F-E05A-66F7-9DDBE16DCF75}"/>
              </a:ext>
            </a:extLst>
          </p:cNvPr>
          <p:cNvSpPr txBox="1"/>
          <p:nvPr/>
        </p:nvSpPr>
        <p:spPr>
          <a:xfrm>
            <a:off x="278598" y="1028550"/>
            <a:ext cx="3706473" cy="5632311"/>
          </a:xfrm>
          <a:prstGeom prst="rect">
            <a:avLst/>
          </a:prstGeom>
          <a:noFill/>
          <a:ln>
            <a:solidFill>
              <a:schemeClr val="tx1"/>
            </a:solidFill>
          </a:ln>
        </p:spPr>
        <p:txBody>
          <a:bodyPr wrap="square" rtlCol="0">
            <a:spAutoFit/>
          </a:bodyPr>
          <a:lstStyle/>
          <a:p>
            <a:r>
              <a:rPr lang="en" altLang="ja-JP" sz="1200" dirty="0"/>
              <a:t>Thinking...</a:t>
            </a:r>
          </a:p>
          <a:p>
            <a:r>
              <a:rPr lang="en" altLang="ja-JP" sz="1200" dirty="0"/>
              <a:t>Alright, let's tackle this problem. So, the user provided a JSON </a:t>
            </a:r>
          </a:p>
          <a:p>
            <a:endParaRPr lang="en" altLang="ja-JP" sz="1200" dirty="0"/>
          </a:p>
          <a:p>
            <a:r>
              <a:rPr lang="en-US" altLang="ja-JP" sz="1200" dirty="0"/>
              <a:t>…</a:t>
            </a:r>
            <a:r>
              <a:rPr lang="ja-JP" altLang="en-US" sz="1200"/>
              <a:t>中略</a:t>
            </a:r>
            <a:r>
              <a:rPr lang="en-US" altLang="ja-JP" sz="1200" dirty="0"/>
              <a:t>…</a:t>
            </a:r>
            <a:br>
              <a:rPr lang="en" altLang="ja-JP" sz="1200" dirty="0"/>
            </a:br>
            <a:endParaRPr lang="en" altLang="ja-JP" sz="1200" dirty="0"/>
          </a:p>
          <a:p>
            <a:r>
              <a:rPr lang="en" altLang="ja-JP" sz="1200" dirty="0"/>
              <a:t>First, I need to parse the JSON. The second element in the first array is ["</a:t>
            </a:r>
            <a:r>
              <a:rPr lang="ja-JP" altLang="en-US" sz="1200"/>
              <a:t>徳島</a:t>
            </a:r>
            <a:r>
              <a:rPr lang="en-US" altLang="ja-JP" sz="1200" dirty="0"/>
              <a:t>","</a:t>
            </a:r>
            <a:r>
              <a:rPr lang="ja-JP" altLang="en-US" sz="1200"/>
              <a:t>日</a:t>
            </a:r>
            <a:r>
              <a:rPr lang="en-US" altLang="ja-JP" sz="1200" dirty="0"/>
              <a:t>"], </a:t>
            </a:r>
            <a:r>
              <a:rPr lang="en" altLang="ja-JP" sz="1200" dirty="0"/>
              <a:t>and in the second array, it's ["</a:t>
            </a:r>
            <a:r>
              <a:rPr lang="ja-JP" altLang="en-US" sz="1200"/>
              <a:t>英国</a:t>
            </a:r>
            <a:r>
              <a:rPr lang="en-US" altLang="ja-JP" sz="1200" dirty="0"/>
              <a:t>","</a:t>
            </a:r>
            <a:r>
              <a:rPr lang="ja-JP" altLang="en-US" sz="1200"/>
              <a:t>日本</a:t>
            </a:r>
            <a:r>
              <a:rPr lang="en-US" altLang="ja-JP" sz="1200" dirty="0"/>
              <a:t>","</a:t>
            </a:r>
            <a:r>
              <a:rPr lang="ja-JP" altLang="en-US" sz="1200"/>
              <a:t>伊根</a:t>
            </a:r>
            <a:r>
              <a:rPr lang="en-US" altLang="ja-JP" sz="1200" dirty="0"/>
              <a:t>","</a:t>
            </a:r>
            <a:r>
              <a:rPr lang="ja-JP" altLang="en-US" sz="1200"/>
              <a:t>徳島</a:t>
            </a:r>
            <a:r>
              <a:rPr lang="en-US" altLang="ja-JP" sz="1200" dirty="0"/>
              <a:t>","</a:t>
            </a:r>
            <a:r>
              <a:rPr lang="ja-JP" altLang="en-US" sz="1200"/>
              <a:t>日</a:t>
            </a:r>
            <a:r>
              <a:rPr lang="en-US" altLang="ja-JP" sz="1200" dirty="0"/>
              <a:t>","</a:t>
            </a:r>
            <a:r>
              <a:rPr lang="ja-JP" altLang="en-US" sz="1200"/>
              <a:t>英</a:t>
            </a:r>
            <a:r>
              <a:rPr lang="en-US" altLang="ja-JP" sz="1200" dirty="0"/>
              <a:t>"</a:t>
            </a:r>
          </a:p>
          <a:p>
            <a:endParaRPr lang="en" altLang="ja-JP" sz="1200" dirty="0"/>
          </a:p>
          <a:p>
            <a:r>
              <a:rPr lang="en-US" altLang="ja-JP" sz="1200" dirty="0"/>
              <a:t>…</a:t>
            </a:r>
            <a:r>
              <a:rPr lang="ja-JP" altLang="en-US" sz="1200"/>
              <a:t>中略</a:t>
            </a:r>
            <a:r>
              <a:rPr lang="en-US" altLang="ja-JP" sz="1200" dirty="0"/>
              <a:t>…</a:t>
            </a:r>
            <a:br>
              <a:rPr lang="en" altLang="ja-JP" sz="1200" dirty="0"/>
            </a:br>
            <a:endParaRPr lang="en" altLang="ja-JP" sz="1200" dirty="0"/>
          </a:p>
          <a:p>
            <a:r>
              <a:rPr lang="en" altLang="ja-JP" sz="1200" dirty="0"/>
              <a:t>1. **</a:t>
            </a:r>
            <a:r>
              <a:rPr lang="ja-JP" altLang="en-US" sz="1200"/>
              <a:t>英国 </a:t>
            </a:r>
            <a:r>
              <a:rPr lang="en-US" altLang="ja-JP" sz="1200" dirty="0"/>
              <a:t>(</a:t>
            </a:r>
            <a:r>
              <a:rPr lang="en" altLang="ja-JP" sz="1200" dirty="0"/>
              <a:t>Britain/UK)**: This is a country name, so valid.</a:t>
            </a:r>
          </a:p>
          <a:p>
            <a:r>
              <a:rPr lang="en" altLang="ja-JP" sz="1200" dirty="0"/>
              <a:t>2. **</a:t>
            </a:r>
            <a:r>
              <a:rPr lang="ja-JP" altLang="en-US" sz="1200"/>
              <a:t>日本 </a:t>
            </a:r>
            <a:r>
              <a:rPr lang="en-US" altLang="ja-JP" sz="1200" dirty="0"/>
              <a:t>(</a:t>
            </a:r>
            <a:r>
              <a:rPr lang="en" altLang="ja-JP" sz="1200" dirty="0"/>
              <a:t>Japan)**: Valid country name.</a:t>
            </a:r>
          </a:p>
          <a:p>
            <a:r>
              <a:rPr lang="en" altLang="ja-JP" sz="1200" dirty="0"/>
              <a:t>3. **</a:t>
            </a:r>
            <a:r>
              <a:rPr lang="ja-JP" altLang="en-US" sz="1200"/>
              <a:t>伊根 </a:t>
            </a:r>
            <a:r>
              <a:rPr lang="en-US" altLang="ja-JP" sz="1200" dirty="0"/>
              <a:t>(</a:t>
            </a:r>
            <a:r>
              <a:rPr lang="en" altLang="ja-JP" sz="1200" dirty="0" err="1"/>
              <a:t>Igen</a:t>
            </a:r>
            <a:r>
              <a:rPr lang="en" altLang="ja-JP" sz="1200" dirty="0"/>
              <a:t>)**: This could be a place. There's a town called </a:t>
            </a:r>
            <a:r>
              <a:rPr lang="en" altLang="ja-JP" sz="1200" dirty="0" err="1"/>
              <a:t>Igen</a:t>
            </a:r>
            <a:r>
              <a:rPr lang="en" altLang="ja-JP" sz="1200" dirty="0"/>
              <a:t> in Kyoto, Japan. But need to check context. The</a:t>
            </a:r>
            <a:br>
              <a:rPr lang="en" altLang="ja-JP" sz="1200" dirty="0"/>
            </a:br>
            <a:endParaRPr lang="en" altLang="ja-JP" sz="1200" dirty="0"/>
          </a:p>
          <a:p>
            <a:r>
              <a:rPr lang="en" altLang="ja-JP" sz="1200" dirty="0"/>
              <a:t>...done thinking.</a:t>
            </a:r>
          </a:p>
          <a:p>
            <a:endParaRPr lang="en" altLang="ja-JP" sz="1200" dirty="0"/>
          </a:p>
          <a:p>
            <a:r>
              <a:rPr lang="en" altLang="ja-JP" sz="1200" dirty="0"/>
              <a:t>```</a:t>
            </a:r>
            <a:r>
              <a:rPr lang="en" altLang="ja-JP" sz="1200" dirty="0" err="1"/>
              <a:t>json</a:t>
            </a:r>
            <a:endParaRPr lang="en" altLang="ja-JP" sz="1200" dirty="0"/>
          </a:p>
          <a:p>
            <a:r>
              <a:rPr lang="en" altLang="ja-JP" sz="1200" dirty="0"/>
              <a:t>[</a:t>
            </a:r>
          </a:p>
          <a:p>
            <a:r>
              <a:rPr lang="en" altLang="ja-JP" sz="1200" dirty="0"/>
              <a:t>  ["</a:t>
            </a:r>
            <a:r>
              <a:rPr lang="ja-JP" altLang="en-US" sz="1200"/>
              <a:t>徳島</a:t>
            </a:r>
            <a:r>
              <a:rPr lang="en-US" altLang="ja-JP" sz="1200" dirty="0"/>
              <a:t>", 0],</a:t>
            </a:r>
          </a:p>
          <a:p>
            <a:r>
              <a:rPr lang="en-US" altLang="ja-JP" sz="1200" dirty="0"/>
              <a:t>  ["</a:t>
            </a:r>
            <a:r>
              <a:rPr lang="ja-JP" altLang="en-US" sz="1200"/>
              <a:t>英国</a:t>
            </a:r>
            <a:r>
              <a:rPr lang="en-US" altLang="ja-JP" sz="1200" dirty="0"/>
              <a:t>", "</a:t>
            </a:r>
            <a:r>
              <a:rPr lang="ja-JP" altLang="en-US" sz="1200"/>
              <a:t>日本</a:t>
            </a:r>
            <a:r>
              <a:rPr lang="en-US" altLang="ja-JP" sz="1200" dirty="0"/>
              <a:t>", 0, "</a:t>
            </a:r>
            <a:r>
              <a:rPr lang="ja-JP" altLang="en-US" sz="1200"/>
              <a:t>徳島</a:t>
            </a:r>
            <a:r>
              <a:rPr lang="en-US" altLang="ja-JP" sz="1200" dirty="0"/>
              <a:t>", 0, 0, "</a:t>
            </a:r>
            <a:r>
              <a:rPr lang="ja-JP" altLang="en-US" sz="1200"/>
              <a:t>英国</a:t>
            </a:r>
            <a:r>
              <a:rPr lang="en-US" altLang="ja-JP" sz="1200" dirty="0"/>
              <a:t>", "</a:t>
            </a:r>
            <a:r>
              <a:rPr lang="ja-JP" altLang="en-US" sz="1200"/>
              <a:t>日本</a:t>
            </a:r>
            <a:r>
              <a:rPr lang="en-US" altLang="ja-JP" sz="1200" dirty="0"/>
              <a:t>", "</a:t>
            </a:r>
            <a:r>
              <a:rPr lang="ja-JP" altLang="en-US" sz="1200"/>
              <a:t>ロンドン</a:t>
            </a:r>
            <a:r>
              <a:rPr lang="en-US" altLang="ja-JP" sz="1200" dirty="0"/>
              <a:t>", "</a:t>
            </a:r>
            <a:r>
              <a:rPr lang="ja-JP" altLang="en-US" sz="1200"/>
              <a:t>徳島</a:t>
            </a:r>
            <a:r>
              <a:rPr lang="en-US" altLang="ja-JP" sz="1200" dirty="0"/>
              <a:t>", "</a:t>
            </a:r>
            <a:r>
              <a:rPr lang="ja-JP" altLang="en-US" sz="1200"/>
              <a:t>徳島</a:t>
            </a:r>
            <a:r>
              <a:rPr lang="en-US" altLang="ja-JP" sz="1200" dirty="0"/>
              <a:t>", 0, "</a:t>
            </a:r>
            <a:r>
              <a:rPr lang="ja-JP" altLang="en-US" sz="1200"/>
              <a:t>日本</a:t>
            </a:r>
            <a:r>
              <a:rPr lang="en-US" altLang="ja-JP" sz="1200" dirty="0"/>
              <a:t>", 0, 0, 0, 0, "</a:t>
            </a:r>
            <a:r>
              <a:rPr lang="ja-JP" altLang="en-US" sz="1200"/>
              <a:t>日本</a:t>
            </a:r>
            <a:r>
              <a:rPr lang="en-US" altLang="ja-JP" sz="1200" dirty="0"/>
              <a:t>", "</a:t>
            </a:r>
            <a:r>
              <a:rPr lang="ja-JP" altLang="en-US" sz="1200"/>
              <a:t>徳島</a:t>
            </a:r>
            <a:r>
              <a:rPr lang="en-US" altLang="ja-JP" sz="1200" dirty="0"/>
              <a:t>"]</a:t>
            </a:r>
          </a:p>
          <a:p>
            <a:r>
              <a:rPr lang="en-US" altLang="ja-JP" sz="1200" dirty="0"/>
              <a:t>]</a:t>
            </a:r>
          </a:p>
          <a:p>
            <a:r>
              <a:rPr lang="en-US" altLang="ja-JP" sz="1200" dirty="0"/>
              <a:t>```</a:t>
            </a:r>
          </a:p>
        </p:txBody>
      </p:sp>
      <p:sp>
        <p:nvSpPr>
          <p:cNvPr id="14" name="テキスト ボックス 13">
            <a:extLst>
              <a:ext uri="{FF2B5EF4-FFF2-40B4-BE49-F238E27FC236}">
                <a16:creationId xmlns:a16="http://schemas.microsoft.com/office/drawing/2014/main" id="{837540C6-358C-F702-9D1A-A4875400F588}"/>
              </a:ext>
            </a:extLst>
          </p:cNvPr>
          <p:cNvSpPr txBox="1"/>
          <p:nvPr/>
        </p:nvSpPr>
        <p:spPr>
          <a:xfrm>
            <a:off x="8267699" y="1030388"/>
            <a:ext cx="3706473" cy="2308324"/>
          </a:xfrm>
          <a:prstGeom prst="rect">
            <a:avLst/>
          </a:prstGeom>
          <a:noFill/>
          <a:ln>
            <a:solidFill>
              <a:schemeClr val="tx1"/>
            </a:solidFill>
          </a:ln>
        </p:spPr>
        <p:txBody>
          <a:bodyPr wrap="square" rtlCol="0">
            <a:spAutoFit/>
          </a:bodyPr>
          <a:lstStyle/>
          <a:p>
            <a:r>
              <a:rPr lang="en" altLang="ja-JP" sz="1200" dirty="0"/>
              <a:t>Thinking...</a:t>
            </a:r>
          </a:p>
          <a:p>
            <a:r>
              <a:rPr lang="en" altLang="ja-JP" sz="1200" dirty="0"/>
              <a:t>Okay, let's tackle this problem step by step. The user provided a JSON structure with four elements, and they want me to determine</a:t>
            </a:r>
          </a:p>
          <a:p>
            <a:endParaRPr lang="en" altLang="ja-JP" sz="1200" dirty="0"/>
          </a:p>
          <a:p>
            <a:r>
              <a:rPr lang="en-US" altLang="ja-JP" sz="1200" dirty="0"/>
              <a:t>…</a:t>
            </a:r>
            <a:r>
              <a:rPr lang="ja-JP" altLang="en-US" sz="1200"/>
              <a:t>中略</a:t>
            </a:r>
            <a:r>
              <a:rPr lang="en-US" altLang="ja-JP" sz="1200" dirty="0"/>
              <a:t>…</a:t>
            </a:r>
          </a:p>
          <a:p>
            <a:endParaRPr lang="en-US" altLang="ja-JP" sz="1200" dirty="0"/>
          </a:p>
          <a:p>
            <a:r>
              <a:rPr lang="en" altLang="ja-JP" sz="1200" dirty="0"/>
              <a:t>user's example, perhaps the intended answer is ["</a:t>
            </a:r>
            <a:r>
              <a:rPr lang="ja-JP" altLang="en-US" sz="1200"/>
              <a:t>徳島</a:t>
            </a:r>
            <a:r>
              <a:rPr lang="en-US" altLang="ja-JP" sz="1200" dirty="0"/>
              <a:t>",0,0], </a:t>
            </a:r>
            <a:r>
              <a:rPr lang="en" altLang="ja-JP" sz="1200" dirty="0"/>
              <a:t>so I'll follow that.</a:t>
            </a:r>
          </a:p>
          <a:p>
            <a:r>
              <a:rPr lang="en" altLang="ja-JP" sz="1200" dirty="0"/>
              <a:t>...done thinking.</a:t>
            </a:r>
          </a:p>
          <a:p>
            <a:endParaRPr lang="en" altLang="ja-JP" sz="1200" dirty="0"/>
          </a:p>
          <a:p>
            <a:r>
              <a:rPr lang="en-US" altLang="ja-JP" sz="1200" dirty="0"/>
              <a:t>["</a:t>
            </a:r>
            <a:r>
              <a:rPr lang="ja-JP" altLang="en-US" sz="1200"/>
              <a:t>徳島</a:t>
            </a:r>
            <a:r>
              <a:rPr lang="en-US" altLang="ja-JP" sz="1200" dirty="0"/>
              <a:t>",0,0]</a:t>
            </a:r>
          </a:p>
        </p:txBody>
      </p:sp>
      <p:sp>
        <p:nvSpPr>
          <p:cNvPr id="15" name="テキスト ボックス 14">
            <a:extLst>
              <a:ext uri="{FF2B5EF4-FFF2-40B4-BE49-F238E27FC236}">
                <a16:creationId xmlns:a16="http://schemas.microsoft.com/office/drawing/2014/main" id="{7E914248-EE16-983C-8613-A845B9A650DC}"/>
              </a:ext>
            </a:extLst>
          </p:cNvPr>
          <p:cNvSpPr txBox="1"/>
          <p:nvPr/>
        </p:nvSpPr>
        <p:spPr>
          <a:xfrm>
            <a:off x="4280863" y="1028550"/>
            <a:ext cx="3706473" cy="5632311"/>
          </a:xfrm>
          <a:prstGeom prst="rect">
            <a:avLst/>
          </a:prstGeom>
          <a:noFill/>
          <a:ln>
            <a:solidFill>
              <a:schemeClr val="tx1"/>
            </a:solidFill>
          </a:ln>
        </p:spPr>
        <p:txBody>
          <a:bodyPr wrap="square" rtlCol="0">
            <a:spAutoFit/>
          </a:bodyPr>
          <a:lstStyle/>
          <a:p>
            <a:r>
              <a:rPr lang="en" altLang="ja-JP" sz="1200" dirty="0"/>
              <a:t>Thinking...</a:t>
            </a:r>
          </a:p>
          <a:p>
            <a:endParaRPr kumimoji="1" lang="en-US" altLang="ja-JP" sz="1200" dirty="0"/>
          </a:p>
          <a:p>
            <a:r>
              <a:rPr lang="en-US" altLang="ja-JP" sz="1200" dirty="0"/>
              <a:t>…</a:t>
            </a:r>
            <a:r>
              <a:rPr lang="ja-JP" altLang="en-US" sz="1200"/>
              <a:t>中略</a:t>
            </a:r>
            <a:r>
              <a:rPr lang="en-US" altLang="ja-JP" sz="1200" dirty="0"/>
              <a:t>…</a:t>
            </a:r>
          </a:p>
          <a:p>
            <a:endParaRPr kumimoji="1" lang="en-US" altLang="ja-JP" sz="1200" dirty="0"/>
          </a:p>
          <a:p>
            <a:r>
              <a:rPr lang="en" altLang="ja-JP" sz="1200" dirty="0"/>
              <a:t>The user's input is:</a:t>
            </a:r>
          </a:p>
          <a:p>
            <a:endParaRPr lang="en" altLang="ja-JP" sz="1200" dirty="0"/>
          </a:p>
          <a:p>
            <a:r>
              <a:rPr lang="en" altLang="ja-JP" sz="1200" dirty="0"/>
              <a:t>[</a:t>
            </a:r>
          </a:p>
          <a:p>
            <a:r>
              <a:rPr lang="en" altLang="ja-JP" sz="1200" dirty="0"/>
              <a:t>  ["</a:t>
            </a:r>
            <a:r>
              <a:rPr lang="ja-JP" altLang="en-US" sz="1200"/>
              <a:t>徳島</a:t>
            </a:r>
            <a:r>
              <a:rPr lang="en-US" altLang="ja-JP" sz="1200" dirty="0"/>
              <a:t>", 0, "</a:t>
            </a:r>
            <a:r>
              <a:rPr lang="ja-JP" altLang="en-US" sz="1200"/>
              <a:t>徳島</a:t>
            </a:r>
            <a:r>
              <a:rPr lang="en-US" altLang="ja-JP" sz="1200" dirty="0"/>
              <a:t>", "</a:t>
            </a:r>
            <a:r>
              <a:rPr lang="ja-JP" altLang="en-US" sz="1200"/>
              <a:t>徳島</a:t>
            </a:r>
            <a:r>
              <a:rPr lang="en-US" altLang="ja-JP" sz="1200" dirty="0"/>
              <a:t>"],</a:t>
            </a:r>
          </a:p>
          <a:p>
            <a:r>
              <a:rPr lang="en-US" altLang="ja-JP" sz="1200" dirty="0"/>
              <a:t>  ["</a:t>
            </a:r>
            <a:r>
              <a:rPr lang="ja-JP" altLang="en-US" sz="1200"/>
              <a:t>徳島</a:t>
            </a:r>
            <a:r>
              <a:rPr lang="en-US" altLang="ja-JP" sz="1200" dirty="0"/>
              <a:t>", "</a:t>
            </a:r>
            <a:r>
              <a:rPr lang="ja-JP" altLang="en-US" sz="1200"/>
              <a:t>ヘルシンキ</a:t>
            </a:r>
            <a:r>
              <a:rPr lang="en-US" altLang="ja-JP" sz="1200" dirty="0"/>
              <a:t>", "</a:t>
            </a:r>
            <a:r>
              <a:rPr lang="ja-JP" altLang="en-US" sz="1200"/>
              <a:t>徳島</a:t>
            </a:r>
            <a:r>
              <a:rPr lang="en-US" altLang="ja-JP" sz="1200" dirty="0"/>
              <a:t>", "</a:t>
            </a:r>
            <a:r>
              <a:rPr lang="ja-JP" altLang="en-US" sz="1200"/>
              <a:t>徳島</a:t>
            </a:r>
            <a:r>
              <a:rPr lang="en-US" altLang="ja-JP" sz="1200" dirty="0"/>
              <a:t>"],</a:t>
            </a:r>
          </a:p>
          <a:p>
            <a:r>
              <a:rPr lang="en-US" altLang="ja-JP" sz="1200" dirty="0"/>
              <a:t>  "</a:t>
            </a:r>
            <a:r>
              <a:rPr lang="ja-JP" altLang="en-US" sz="1200"/>
              <a:t>食生活学 </a:t>
            </a:r>
            <a:r>
              <a:rPr lang="en-US" altLang="ja-JP" sz="1200" dirty="0"/>
              <a:t>/ </a:t>
            </a:r>
            <a:r>
              <a:rPr lang="ja-JP" altLang="en-US" sz="1200"/>
              <a:t>生活科学 </a:t>
            </a:r>
            <a:r>
              <a:rPr lang="en-US" altLang="ja-JP" sz="1200" dirty="0"/>
              <a:t>/ </a:t>
            </a:r>
            <a:r>
              <a:rPr lang="ja-JP" altLang="en-US" sz="1200"/>
              <a:t>総合領域</a:t>
            </a:r>
            <a:r>
              <a:rPr lang="en-US" altLang="ja-JP" sz="1200" dirty="0"/>
              <a:t>",</a:t>
            </a:r>
          </a:p>
          <a:p>
            <a:r>
              <a:rPr lang="en-US" altLang="ja-JP" sz="1200" dirty="0"/>
              <a:t>  [</a:t>
            </a:r>
          </a:p>
          <a:p>
            <a:r>
              <a:rPr lang="en-US" altLang="ja-JP" sz="1200" dirty="0"/>
              <a:t>    "</a:t>
            </a:r>
            <a:r>
              <a:rPr lang="ja-JP" altLang="en-US" sz="1200"/>
              <a:t>多様性指向型タンパク質化学合成法開拓を基盤とする</a:t>
            </a:r>
            <a:r>
              <a:rPr lang="ja-JP" altLang="en" sz="1200"/>
              <a:t>ＣＸＣＬ１４</a:t>
            </a:r>
            <a:r>
              <a:rPr lang="ja-JP" altLang="en-US" sz="1200"/>
              <a:t>機能探索分子の創製</a:t>
            </a:r>
            <a:r>
              <a:rPr lang="en-US" altLang="ja-JP" sz="1200" dirty="0"/>
              <a:t>",</a:t>
            </a:r>
          </a:p>
          <a:p>
            <a:endParaRPr lang="en-US" altLang="ja-JP" sz="1200" dirty="0"/>
          </a:p>
          <a:p>
            <a:r>
              <a:rPr lang="en-US" altLang="ja-JP" sz="1200" dirty="0"/>
              <a:t>…</a:t>
            </a:r>
            <a:r>
              <a:rPr lang="ja-JP" altLang="en-US" sz="1200"/>
              <a:t>中略</a:t>
            </a:r>
            <a:r>
              <a:rPr lang="en-US" altLang="ja-JP" sz="1200" dirty="0"/>
              <a:t>…</a:t>
            </a:r>
          </a:p>
          <a:p>
            <a:endParaRPr lang="en-US" altLang="ja-JP" sz="1200" dirty="0"/>
          </a:p>
          <a:p>
            <a:r>
              <a:rPr lang="en" altLang="ja-JP" sz="1200" dirty="0"/>
              <a:t>### Step-by-Step Evaluation</a:t>
            </a:r>
          </a:p>
          <a:p>
            <a:r>
              <a:rPr lang="en" altLang="ja-JP" sz="1200" dirty="0"/>
              <a:t>#### First Array: </a:t>
            </a:r>
          </a:p>
          <a:p>
            <a:endParaRPr lang="en-US" altLang="ja-JP" sz="1200" dirty="0"/>
          </a:p>
          <a:p>
            <a:r>
              <a:rPr lang="en-US" altLang="ja-JP" sz="1200" dirty="0"/>
              <a:t>…</a:t>
            </a:r>
            <a:r>
              <a:rPr lang="ja-JP" altLang="en-US" sz="1200"/>
              <a:t>中略</a:t>
            </a:r>
            <a:r>
              <a:rPr lang="en-US" altLang="ja-JP" sz="1200" dirty="0"/>
              <a:t>…</a:t>
            </a:r>
          </a:p>
          <a:p>
            <a:endParaRPr lang="en-US" altLang="ja-JP" sz="1200" dirty="0"/>
          </a:p>
          <a:p>
            <a:r>
              <a:rPr lang="en-US" altLang="ja-JP" sz="1200" dirty="0"/>
              <a:t>---</a:t>
            </a:r>
          </a:p>
          <a:p>
            <a:endParaRPr lang="en-US" altLang="ja-JP" sz="1200" dirty="0"/>
          </a:p>
          <a:p>
            <a:r>
              <a:rPr lang="en" altLang="ja-JP" sz="1200" dirty="0"/>
              <a:t>### Final Output</a:t>
            </a:r>
          </a:p>
          <a:p>
            <a:r>
              <a:rPr lang="en" altLang="ja-JP" sz="1200" dirty="0"/>
              <a:t>```</a:t>
            </a:r>
            <a:r>
              <a:rPr lang="en" altLang="ja-JP" sz="1200" dirty="0" err="1"/>
              <a:t>json</a:t>
            </a:r>
            <a:endParaRPr lang="en" altLang="ja-JP" sz="1200" dirty="0"/>
          </a:p>
          <a:p>
            <a:r>
              <a:rPr lang="en" altLang="ja-JP" sz="1200" dirty="0"/>
              <a:t>[</a:t>
            </a:r>
          </a:p>
          <a:p>
            <a:r>
              <a:rPr lang="en" altLang="ja-JP" sz="1200" dirty="0"/>
              <a:t>  0,</a:t>
            </a:r>
          </a:p>
          <a:p>
            <a:r>
              <a:rPr lang="en" altLang="ja-JP" sz="1200" dirty="0"/>
              <a:t>  0</a:t>
            </a:r>
          </a:p>
          <a:p>
            <a:r>
              <a:rPr lang="en" altLang="ja-JP" sz="1200" dirty="0"/>
              <a:t>]</a:t>
            </a:r>
          </a:p>
          <a:p>
            <a:r>
              <a:rPr lang="en" altLang="ja-JP" sz="1200" dirty="0"/>
              <a:t>```</a:t>
            </a:r>
          </a:p>
        </p:txBody>
      </p:sp>
      <p:sp>
        <p:nvSpPr>
          <p:cNvPr id="16" name="テキスト ボックス 15">
            <a:extLst>
              <a:ext uri="{FF2B5EF4-FFF2-40B4-BE49-F238E27FC236}">
                <a16:creationId xmlns:a16="http://schemas.microsoft.com/office/drawing/2014/main" id="{20A36DE5-D5BA-007B-0CE0-E572109D8A54}"/>
              </a:ext>
            </a:extLst>
          </p:cNvPr>
          <p:cNvSpPr txBox="1"/>
          <p:nvPr/>
        </p:nvSpPr>
        <p:spPr>
          <a:xfrm>
            <a:off x="8267698" y="3591889"/>
            <a:ext cx="3706473" cy="2492990"/>
          </a:xfrm>
          <a:prstGeom prst="rect">
            <a:avLst/>
          </a:prstGeom>
          <a:noFill/>
          <a:ln>
            <a:solidFill>
              <a:schemeClr val="tx1"/>
            </a:solidFill>
          </a:ln>
        </p:spPr>
        <p:txBody>
          <a:bodyPr wrap="square" rtlCol="0">
            <a:spAutoFit/>
          </a:bodyPr>
          <a:lstStyle/>
          <a:p>
            <a:r>
              <a:rPr lang="en" altLang="ja-JP" sz="1200" dirty="0"/>
              <a:t>I'd be happy to help you with that!</a:t>
            </a:r>
          </a:p>
          <a:p>
            <a:endParaRPr lang="en" altLang="ja-JP" sz="1200" dirty="0"/>
          </a:p>
          <a:p>
            <a:r>
              <a:rPr lang="en-US" altLang="ja-JP" sz="1200" dirty="0"/>
              <a:t>…</a:t>
            </a:r>
            <a:r>
              <a:rPr lang="ja-JP" altLang="en-US" sz="1200"/>
              <a:t>中略</a:t>
            </a:r>
            <a:r>
              <a:rPr lang="en-US" altLang="ja-JP" sz="1200" dirty="0"/>
              <a:t>…</a:t>
            </a:r>
          </a:p>
          <a:p>
            <a:endParaRPr lang="en-US" altLang="ja-JP" sz="1200" dirty="0"/>
          </a:p>
          <a:p>
            <a:r>
              <a:rPr lang="en" altLang="ja-JP" sz="1200" dirty="0"/>
              <a:t>```python</a:t>
            </a:r>
          </a:p>
          <a:p>
            <a:r>
              <a:rPr lang="en" altLang="ja-JP" sz="1200" dirty="0"/>
              <a:t>import </a:t>
            </a:r>
            <a:r>
              <a:rPr lang="en" altLang="ja-JP" sz="1200" dirty="0" err="1"/>
              <a:t>json</a:t>
            </a:r>
            <a:endParaRPr lang="en" altLang="ja-JP" sz="1200" dirty="0"/>
          </a:p>
          <a:p>
            <a:r>
              <a:rPr lang="en" altLang="ja-JP" sz="1200" dirty="0"/>
              <a:t>import </a:t>
            </a:r>
            <a:r>
              <a:rPr lang="en" altLang="ja-JP" sz="1200" dirty="0" err="1"/>
              <a:t>nltk</a:t>
            </a:r>
            <a:endParaRPr lang="en" altLang="ja-JP" sz="1200" dirty="0"/>
          </a:p>
          <a:p>
            <a:r>
              <a:rPr lang="en" altLang="ja-JP" sz="1200" dirty="0"/>
              <a:t>from </a:t>
            </a:r>
            <a:r>
              <a:rPr lang="en" altLang="ja-JP" sz="1200" dirty="0" err="1"/>
              <a:t>nltk.tokenize</a:t>
            </a:r>
            <a:r>
              <a:rPr lang="en" altLang="ja-JP" sz="1200" dirty="0"/>
              <a:t> import </a:t>
            </a:r>
            <a:r>
              <a:rPr lang="en" altLang="ja-JP" sz="1200" dirty="0" err="1"/>
              <a:t>word_tokenize</a:t>
            </a:r>
            <a:endParaRPr lang="en" altLang="ja-JP" sz="1200" dirty="0"/>
          </a:p>
          <a:p>
            <a:endParaRPr lang="en" altLang="ja-JP" sz="1200" dirty="0"/>
          </a:p>
          <a:p>
            <a:r>
              <a:rPr lang="en-US" altLang="ja-JP" sz="1200" dirty="0"/>
              <a:t>…</a:t>
            </a:r>
            <a:r>
              <a:rPr lang="ja-JP" altLang="en-US" sz="1200"/>
              <a:t>中略</a:t>
            </a:r>
            <a:r>
              <a:rPr lang="en-US" altLang="ja-JP" sz="1200" dirty="0"/>
              <a:t>…</a:t>
            </a:r>
          </a:p>
          <a:p>
            <a:endParaRPr lang="en" altLang="ja-JP" sz="1200" dirty="0"/>
          </a:p>
          <a:p>
            <a:r>
              <a:rPr lang="en" altLang="ja-JP" sz="1200" dirty="0"/>
              <a:t># Run the script</a:t>
            </a:r>
          </a:p>
          <a:p>
            <a:r>
              <a:rPr lang="en" altLang="ja-JP" sz="1200" dirty="0"/>
              <a:t>result = </a:t>
            </a:r>
            <a:r>
              <a:rPr lang="en" altLang="ja-JP" sz="1200" dirty="0" err="1"/>
              <a:t>check_location_candidates</a:t>
            </a:r>
            <a:r>
              <a:rPr lang="en" altLang="ja-JP" sz="1200" dirty="0"/>
              <a:t>(</a:t>
            </a:r>
            <a:r>
              <a:rPr lang="en" altLang="ja-JP" sz="1200" dirty="0" err="1"/>
              <a:t>json_data</a:t>
            </a:r>
            <a:r>
              <a:rPr lang="en" altLang="ja-JP" sz="1200" dirty="0"/>
              <a:t>)</a:t>
            </a:r>
          </a:p>
        </p:txBody>
      </p:sp>
    </p:spTree>
    <p:extLst>
      <p:ext uri="{BB962C8B-B14F-4D97-AF65-F5344CB8AC3E}">
        <p14:creationId xmlns:p14="http://schemas.microsoft.com/office/powerpoint/2010/main" val="2630796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A39A-A965-CE60-BEFF-D26F21DA3B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6B9C7C-452F-EDC6-7935-2760A08BDAA1}"/>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結果</a:t>
            </a:r>
            <a:r>
              <a:rPr lang="en-US" altLang="ja-JP" sz="3600" dirty="0">
                <a:sym typeface="Wingdings" pitchFamily="2" charset="2"/>
              </a:rPr>
              <a:t>(</a:t>
            </a:r>
            <a:r>
              <a:rPr lang="ja-JP" altLang="en-US" sz="3600">
                <a:sym typeface="Wingdings" pitchFamily="2" charset="2"/>
              </a:rPr>
              <a:t>正しい出力形式</a:t>
            </a:r>
            <a:r>
              <a:rPr lang="en-US" altLang="ja-JP" sz="3600" dirty="0">
                <a:sym typeface="Wingdings" pitchFamily="2" charset="2"/>
              </a:rPr>
              <a:t>)</a:t>
            </a:r>
            <a:endParaRPr kumimoji="1" lang="ja-JP" altLang="en-US" sz="3600"/>
          </a:p>
        </p:txBody>
      </p:sp>
      <p:sp>
        <p:nvSpPr>
          <p:cNvPr id="3" name="テキスト ボックス 2">
            <a:extLst>
              <a:ext uri="{FF2B5EF4-FFF2-40B4-BE49-F238E27FC236}">
                <a16:creationId xmlns:a16="http://schemas.microsoft.com/office/drawing/2014/main" id="{322FD0C8-E6B1-B5C0-5B54-DC19D9747946}"/>
              </a:ext>
            </a:extLst>
          </p:cNvPr>
          <p:cNvSpPr txBox="1"/>
          <p:nvPr/>
        </p:nvSpPr>
        <p:spPr>
          <a:xfrm>
            <a:off x="0" y="659218"/>
            <a:ext cx="2723823" cy="369332"/>
          </a:xfrm>
          <a:prstGeom prst="rect">
            <a:avLst/>
          </a:prstGeom>
          <a:noFill/>
        </p:spPr>
        <p:txBody>
          <a:bodyPr wrap="none" rtlCol="0">
            <a:spAutoFit/>
          </a:bodyPr>
          <a:lstStyle/>
          <a:p>
            <a:r>
              <a:rPr kumimoji="1" lang="ja-JP" altLang="en-US"/>
              <a:t>正しい出力形式とした例</a:t>
            </a:r>
          </a:p>
        </p:txBody>
      </p:sp>
      <p:sp>
        <p:nvSpPr>
          <p:cNvPr id="6" name="テキスト ボックス 5">
            <a:extLst>
              <a:ext uri="{FF2B5EF4-FFF2-40B4-BE49-F238E27FC236}">
                <a16:creationId xmlns:a16="http://schemas.microsoft.com/office/drawing/2014/main" id="{F2309387-A5BC-51F0-6CAD-9154F959E84F}"/>
              </a:ext>
            </a:extLst>
          </p:cNvPr>
          <p:cNvSpPr txBox="1"/>
          <p:nvPr/>
        </p:nvSpPr>
        <p:spPr>
          <a:xfrm>
            <a:off x="21266" y="4096453"/>
            <a:ext cx="2262158" cy="369332"/>
          </a:xfrm>
          <a:prstGeom prst="rect">
            <a:avLst/>
          </a:prstGeom>
          <a:noFill/>
        </p:spPr>
        <p:txBody>
          <a:bodyPr wrap="none" rtlCol="0">
            <a:spAutoFit/>
          </a:bodyPr>
          <a:lstStyle/>
          <a:p>
            <a:r>
              <a:rPr kumimoji="1" lang="ja-JP" altLang="en-US"/>
              <a:t>正しい</a:t>
            </a:r>
            <a:r>
              <a:rPr lang="ja-JP" altLang="en-US"/>
              <a:t>出力</a:t>
            </a:r>
            <a:r>
              <a:rPr kumimoji="1" lang="ja-JP" altLang="en-US"/>
              <a:t>形式の数</a:t>
            </a:r>
          </a:p>
        </p:txBody>
      </p:sp>
      <p:pic>
        <p:nvPicPr>
          <p:cNvPr id="8" name="図 7" descr="テーブル&#10;&#10;AI 生成コンテンツは誤りを含む可能性があります。">
            <a:extLst>
              <a:ext uri="{FF2B5EF4-FFF2-40B4-BE49-F238E27FC236}">
                <a16:creationId xmlns:a16="http://schemas.microsoft.com/office/drawing/2014/main" id="{91471F6B-9CD0-BE90-59BC-2801C9DC572A}"/>
              </a:ext>
            </a:extLst>
          </p:cNvPr>
          <p:cNvPicPr>
            <a:picLocks noChangeAspect="1"/>
          </p:cNvPicPr>
          <p:nvPr/>
        </p:nvPicPr>
        <p:blipFill>
          <a:blip r:embed="rId3"/>
          <a:stretch>
            <a:fillRect/>
          </a:stretch>
        </p:blipFill>
        <p:spPr>
          <a:xfrm>
            <a:off x="1841000" y="4465785"/>
            <a:ext cx="3448883" cy="2152697"/>
          </a:xfrm>
          <a:prstGeom prst="rect">
            <a:avLst/>
          </a:prstGeom>
        </p:spPr>
      </p:pic>
      <p:sp>
        <p:nvSpPr>
          <p:cNvPr id="9" name="テキスト ボックス 8">
            <a:extLst>
              <a:ext uri="{FF2B5EF4-FFF2-40B4-BE49-F238E27FC236}">
                <a16:creationId xmlns:a16="http://schemas.microsoft.com/office/drawing/2014/main" id="{B1853A0B-0724-8A2C-C25C-CEAF57820E41}"/>
              </a:ext>
            </a:extLst>
          </p:cNvPr>
          <p:cNvSpPr txBox="1"/>
          <p:nvPr/>
        </p:nvSpPr>
        <p:spPr>
          <a:xfrm>
            <a:off x="5651005" y="5562232"/>
            <a:ext cx="5445722" cy="369332"/>
          </a:xfrm>
          <a:prstGeom prst="rect">
            <a:avLst/>
          </a:prstGeom>
          <a:noFill/>
        </p:spPr>
        <p:txBody>
          <a:bodyPr wrap="none" rtlCol="0">
            <a:spAutoFit/>
          </a:bodyPr>
          <a:lstStyle/>
          <a:p>
            <a:r>
              <a:rPr lang="en-US" altLang="ja-JP" dirty="0"/>
              <a:t>2</a:t>
            </a:r>
            <a:r>
              <a:rPr kumimoji="1" lang="en-US" altLang="ja-JP" dirty="0"/>
              <a:t> AIs</a:t>
            </a:r>
            <a:r>
              <a:rPr kumimoji="1" lang="ja-JP" altLang="en-US"/>
              <a:t>、</a:t>
            </a:r>
            <a:r>
              <a:rPr lang="en-US" altLang="ja-JP" dirty="0"/>
              <a:t>3</a:t>
            </a:r>
            <a:r>
              <a:rPr kumimoji="1" lang="en-US" altLang="ja-JP" dirty="0"/>
              <a:t> Humans</a:t>
            </a:r>
            <a:r>
              <a:rPr kumimoji="1" lang="ja-JP" altLang="en-US"/>
              <a:t>ですべて正しい出力形式</a:t>
            </a:r>
            <a:r>
              <a:rPr kumimoji="1" lang="en-US" altLang="ja-JP" dirty="0"/>
              <a:t>: 99/200</a:t>
            </a:r>
            <a:endParaRPr kumimoji="1" lang="ja-JP" altLang="en-US"/>
          </a:p>
        </p:txBody>
      </p:sp>
      <p:sp>
        <p:nvSpPr>
          <p:cNvPr id="10" name="右中かっこ 9">
            <a:extLst>
              <a:ext uri="{FF2B5EF4-FFF2-40B4-BE49-F238E27FC236}">
                <a16:creationId xmlns:a16="http://schemas.microsoft.com/office/drawing/2014/main" id="{00563AE2-6073-6E67-059D-1343F6539396}"/>
              </a:ext>
            </a:extLst>
          </p:cNvPr>
          <p:cNvSpPr/>
          <p:nvPr/>
        </p:nvSpPr>
        <p:spPr>
          <a:xfrm>
            <a:off x="5390700" y="4965405"/>
            <a:ext cx="159488" cy="1562986"/>
          </a:xfrm>
          <a:prstGeom prst="rightBrace">
            <a:avLst/>
          </a:prstGeom>
          <a:ln w="12700"/>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5AE036E-6CD7-CC9D-3977-E09BBD813E23}"/>
              </a:ext>
            </a:extLst>
          </p:cNvPr>
          <p:cNvSpPr txBox="1"/>
          <p:nvPr/>
        </p:nvSpPr>
        <p:spPr>
          <a:xfrm>
            <a:off x="202020" y="1029503"/>
            <a:ext cx="8427630" cy="1815882"/>
          </a:xfrm>
          <a:prstGeom prst="rect">
            <a:avLst/>
          </a:prstGeom>
          <a:noFill/>
          <a:ln>
            <a:solidFill>
              <a:schemeClr val="tx1"/>
            </a:solidFill>
          </a:ln>
        </p:spPr>
        <p:txBody>
          <a:bodyPr wrap="square" rtlCol="0">
            <a:spAutoFit/>
          </a:bodyPr>
          <a:lstStyle/>
          <a:p>
            <a:r>
              <a:rPr lang="en-US" altLang="ja-JP" sz="1400" dirty="0"/>
              <a:t>[</a:t>
            </a:r>
            <a:r>
              <a:rPr lang="en-US" altLang="ja-JP" sz="1400" dirty="0">
                <a:highlight>
                  <a:srgbClr val="808080"/>
                </a:highlight>
              </a:rPr>
              <a:t>["</a:t>
            </a:r>
            <a:r>
              <a:rPr lang="ja-JP" altLang="en-US" sz="1400">
                <a:highlight>
                  <a:srgbClr val="808080"/>
                </a:highlight>
              </a:rPr>
              <a:t>滋賀</a:t>
            </a:r>
            <a:r>
              <a:rPr lang="en-US" altLang="ja-JP" sz="1400" dirty="0">
                <a:highlight>
                  <a:srgbClr val="808080"/>
                </a:highlight>
              </a:rPr>
              <a:t>","</a:t>
            </a:r>
            <a:r>
              <a:rPr lang="ja-JP" altLang="en-US" sz="1400">
                <a:highlight>
                  <a:srgbClr val="808080"/>
                </a:highlight>
              </a:rPr>
              <a:t>滋賀</a:t>
            </a:r>
            <a:r>
              <a:rPr lang="en-US" altLang="ja-JP" sz="1400" dirty="0">
                <a:highlight>
                  <a:srgbClr val="808080"/>
                </a:highlight>
              </a:rPr>
              <a:t>"]</a:t>
            </a:r>
            <a:r>
              <a:rPr lang="en-US" altLang="ja-JP" sz="1400" dirty="0"/>
              <a:t>,["</a:t>
            </a:r>
            <a:r>
              <a:rPr lang="ja-JP" altLang="en-US" sz="1400"/>
              <a:t>滋賀</a:t>
            </a:r>
            <a:r>
              <a:rPr lang="en-US" altLang="ja-JP" sz="1400" dirty="0"/>
              <a:t>",0],</a:t>
            </a:r>
            <a:r>
              <a:rPr lang="en-US" altLang="ja-JP" sz="1400" dirty="0">
                <a:highlight>
                  <a:srgbClr val="808080"/>
                </a:highlight>
              </a:rPr>
              <a:t>"</a:t>
            </a:r>
            <a:r>
              <a:rPr lang="ja-JP" altLang="en-US" sz="1400">
                <a:highlight>
                  <a:srgbClr val="808080"/>
                </a:highlight>
              </a:rPr>
              <a:t>消化器内科学 </a:t>
            </a:r>
            <a:r>
              <a:rPr lang="en-US" altLang="ja-JP" sz="1400" dirty="0">
                <a:highlight>
                  <a:srgbClr val="808080"/>
                </a:highlight>
              </a:rPr>
              <a:t>/ </a:t>
            </a:r>
            <a:r>
              <a:rPr lang="ja-JP" altLang="en-US" sz="1400">
                <a:highlight>
                  <a:srgbClr val="808080"/>
                </a:highlight>
              </a:rPr>
              <a:t>内科系臨床医学 </a:t>
            </a:r>
            <a:r>
              <a:rPr lang="en-US" altLang="ja-JP" sz="1400" dirty="0">
                <a:highlight>
                  <a:srgbClr val="808080"/>
                </a:highlight>
              </a:rPr>
              <a:t>/ </a:t>
            </a:r>
            <a:r>
              <a:rPr lang="ja-JP" altLang="en-US" sz="1400">
                <a:highlight>
                  <a:srgbClr val="808080"/>
                </a:highlight>
              </a:rPr>
              <a:t>医歯薬学 </a:t>
            </a:r>
            <a:r>
              <a:rPr lang="en-US" altLang="ja-JP" sz="1400" dirty="0">
                <a:highlight>
                  <a:srgbClr val="808080"/>
                </a:highlight>
              </a:rPr>
              <a:t>/ </a:t>
            </a:r>
            <a:r>
              <a:rPr lang="ja-JP" altLang="en-US" sz="1400">
                <a:highlight>
                  <a:srgbClr val="808080"/>
                </a:highlight>
              </a:rPr>
              <a:t>生物系</a:t>
            </a:r>
            <a:r>
              <a:rPr lang="en-US" altLang="ja-JP" sz="1400" dirty="0">
                <a:highlight>
                  <a:srgbClr val="808080"/>
                </a:highlight>
              </a:rPr>
              <a:t>"</a:t>
            </a:r>
            <a:r>
              <a:rPr lang="en-US" altLang="ja-JP" sz="1400" dirty="0"/>
              <a:t>,["</a:t>
            </a:r>
            <a:r>
              <a:rPr lang="ja-JP" altLang="en-US" sz="1400"/>
              <a:t>がん患者の精神症状に対する治療指針の確立</a:t>
            </a:r>
            <a:r>
              <a:rPr lang="en-US" altLang="ja-JP" sz="1400" dirty="0"/>
              <a:t>","23590876"," "," ","</a:t>
            </a:r>
            <a:r>
              <a:rPr lang="ja-JP" altLang="en-US" sz="1400"/>
              <a:t>滋賀県下でがん患者の精神症状対応に関する医療者アンケートを施行し、その結果に基づいて、せん妄の対応を検討した。後ろ向き調査から少量のミダゾラムと</a:t>
            </a:r>
            <a:r>
              <a:rPr lang="en" altLang="ja-JP" sz="1400" dirty="0"/>
              <a:t>HAL</a:t>
            </a:r>
            <a:r>
              <a:rPr lang="ja-JP" altLang="en-US" sz="1400"/>
              <a:t>の静脈内投与併用例の効果を見出した。また、緩和ケアチーム依頼患者について調査から、</a:t>
            </a:r>
            <a:r>
              <a:rPr lang="en" altLang="ja-JP" sz="1400" dirty="0"/>
              <a:t>HAL</a:t>
            </a:r>
            <a:r>
              <a:rPr lang="ja-JP" altLang="en-US" sz="1400"/>
              <a:t>静脈内投与はチーム介入以前であり、さらに</a:t>
            </a:r>
            <a:r>
              <a:rPr lang="en" altLang="ja-JP" sz="1400" dirty="0"/>
              <a:t>HAL</a:t>
            </a:r>
            <a:r>
              <a:rPr lang="ja-JP" altLang="en-US" sz="1400"/>
              <a:t>静脈内投与がせん妄がん患者に対して約</a:t>
            </a:r>
            <a:r>
              <a:rPr lang="en-US" altLang="ja-JP" sz="1400" dirty="0"/>
              <a:t>70</a:t>
            </a:r>
            <a:r>
              <a:rPr lang="ja-JP" altLang="en-US" sz="1400"/>
              <a:t>％奏功し、初期投与推奨量は</a:t>
            </a:r>
            <a:r>
              <a:rPr lang="en-US" altLang="ja-JP" sz="1400" dirty="0"/>
              <a:t>5㎎/</a:t>
            </a:r>
            <a:r>
              <a:rPr lang="ja-JP" altLang="en-US" sz="1400"/>
              <a:t>日であることを見出した。さらに滋賀県の複数のがん拠点病院で精神症状についての数回のスタッフへの講義のみよりも、スタッフへの継続的直接指導をした病院で、精神症状への対応改善</a:t>
            </a:r>
            <a:r>
              <a:rPr lang="en-US" altLang="ja-JP" sz="1400" dirty="0"/>
              <a:t>(</a:t>
            </a:r>
            <a:r>
              <a:rPr lang="ja-JP" altLang="en-US" sz="1400"/>
              <a:t>特にせん妄早期対応</a:t>
            </a:r>
            <a:r>
              <a:rPr lang="en-US" altLang="ja-JP" sz="1400" dirty="0"/>
              <a:t>)</a:t>
            </a:r>
            <a:r>
              <a:rPr lang="ja-JP" altLang="en-US" sz="1400"/>
              <a:t>により緩和ケアチーム対応数が約</a:t>
            </a:r>
            <a:r>
              <a:rPr lang="en-US" altLang="ja-JP" sz="1400" dirty="0"/>
              <a:t>40</a:t>
            </a:r>
            <a:r>
              <a:rPr lang="ja-JP" altLang="en-US" sz="1400"/>
              <a:t>％減少した。</a:t>
            </a:r>
            <a:r>
              <a:rPr lang="en-US" altLang="ja-JP" sz="1400" dirty="0"/>
              <a:t>"," "]]</a:t>
            </a:r>
          </a:p>
        </p:txBody>
      </p:sp>
      <p:sp>
        <p:nvSpPr>
          <p:cNvPr id="14" name="テキスト ボックス 13">
            <a:extLst>
              <a:ext uri="{FF2B5EF4-FFF2-40B4-BE49-F238E27FC236}">
                <a16:creationId xmlns:a16="http://schemas.microsoft.com/office/drawing/2014/main" id="{26DC0326-6B87-0289-69DA-FF9538FF3F85}"/>
              </a:ext>
            </a:extLst>
          </p:cNvPr>
          <p:cNvSpPr txBox="1"/>
          <p:nvPr/>
        </p:nvSpPr>
        <p:spPr>
          <a:xfrm>
            <a:off x="189319" y="3056446"/>
            <a:ext cx="1105786" cy="307777"/>
          </a:xfrm>
          <a:prstGeom prst="rect">
            <a:avLst/>
          </a:prstGeom>
          <a:noFill/>
          <a:ln>
            <a:solidFill>
              <a:schemeClr val="tx1"/>
            </a:solidFill>
          </a:ln>
        </p:spPr>
        <p:txBody>
          <a:bodyPr wrap="square" rtlCol="0">
            <a:spAutoFit/>
          </a:bodyPr>
          <a:lstStyle/>
          <a:p>
            <a:r>
              <a:rPr lang="en-US" altLang="ja-JP" sz="1400" dirty="0"/>
              <a:t>[["</a:t>
            </a:r>
            <a:r>
              <a:rPr lang="ja-JP" altLang="en-US" sz="1400"/>
              <a:t>滋賀</a:t>
            </a:r>
            <a:r>
              <a:rPr lang="en-US" altLang="ja-JP" sz="1400" dirty="0"/>
              <a:t>",0]]</a:t>
            </a:r>
          </a:p>
        </p:txBody>
      </p:sp>
      <p:sp>
        <p:nvSpPr>
          <p:cNvPr id="15" name="テキスト ボックス 14">
            <a:extLst>
              <a:ext uri="{FF2B5EF4-FFF2-40B4-BE49-F238E27FC236}">
                <a16:creationId xmlns:a16="http://schemas.microsoft.com/office/drawing/2014/main" id="{7EE0E484-4B27-E546-ACD4-5721A4827326}"/>
              </a:ext>
            </a:extLst>
          </p:cNvPr>
          <p:cNvSpPr txBox="1"/>
          <p:nvPr/>
        </p:nvSpPr>
        <p:spPr>
          <a:xfrm>
            <a:off x="189319" y="3560276"/>
            <a:ext cx="1105786" cy="307777"/>
          </a:xfrm>
          <a:prstGeom prst="rect">
            <a:avLst/>
          </a:prstGeom>
          <a:noFill/>
          <a:ln>
            <a:solidFill>
              <a:schemeClr val="tx1"/>
            </a:solidFill>
          </a:ln>
        </p:spPr>
        <p:txBody>
          <a:bodyPr wrap="square" rtlCol="0">
            <a:spAutoFit/>
          </a:bodyPr>
          <a:lstStyle/>
          <a:p>
            <a:r>
              <a:rPr lang="en-US" altLang="ja-JP" sz="1400" dirty="0"/>
              <a:t>["</a:t>
            </a:r>
            <a:r>
              <a:rPr lang="ja-JP" altLang="en-US" sz="1400"/>
              <a:t>滋賀</a:t>
            </a:r>
            <a:r>
              <a:rPr lang="en-US" altLang="ja-JP" sz="1400" dirty="0"/>
              <a:t>",0]</a:t>
            </a:r>
          </a:p>
        </p:txBody>
      </p:sp>
      <p:sp>
        <p:nvSpPr>
          <p:cNvPr id="16" name="テキスト ボックス 15">
            <a:extLst>
              <a:ext uri="{FF2B5EF4-FFF2-40B4-BE49-F238E27FC236}">
                <a16:creationId xmlns:a16="http://schemas.microsoft.com/office/drawing/2014/main" id="{A7F7691D-464B-8F3A-9D51-1D9D2625B00A}"/>
              </a:ext>
            </a:extLst>
          </p:cNvPr>
          <p:cNvSpPr txBox="1"/>
          <p:nvPr/>
        </p:nvSpPr>
        <p:spPr>
          <a:xfrm>
            <a:off x="2173354" y="3276088"/>
            <a:ext cx="5852884" cy="369332"/>
          </a:xfrm>
          <a:prstGeom prst="rect">
            <a:avLst/>
          </a:prstGeom>
          <a:noFill/>
        </p:spPr>
        <p:txBody>
          <a:bodyPr wrap="none" rtlCol="0">
            <a:spAutoFit/>
          </a:bodyPr>
          <a:lstStyle/>
          <a:p>
            <a:r>
              <a:rPr kumimoji="1" lang="ja-JP" altLang="en-US"/>
              <a:t>第２要素のみと見做せるもの（文字列と</a:t>
            </a:r>
            <a:r>
              <a:rPr lang="ja-JP" altLang="en-US"/>
              <a:t>数値</a:t>
            </a:r>
            <a:r>
              <a:rPr lang="en-US" altLang="ja-JP" dirty="0"/>
              <a:t>0</a:t>
            </a:r>
            <a:r>
              <a:rPr lang="ja-JP" altLang="en-US"/>
              <a:t>の混成</a:t>
            </a:r>
            <a:r>
              <a:rPr kumimoji="1" lang="ja-JP" altLang="en-US"/>
              <a:t>）</a:t>
            </a:r>
          </a:p>
        </p:txBody>
      </p:sp>
      <p:sp>
        <p:nvSpPr>
          <p:cNvPr id="17" name="テキスト ボックス 16">
            <a:extLst>
              <a:ext uri="{FF2B5EF4-FFF2-40B4-BE49-F238E27FC236}">
                <a16:creationId xmlns:a16="http://schemas.microsoft.com/office/drawing/2014/main" id="{0AF3B828-4EFC-80F2-F921-C516E4363ACE}"/>
              </a:ext>
            </a:extLst>
          </p:cNvPr>
          <p:cNvSpPr txBox="1"/>
          <p:nvPr/>
        </p:nvSpPr>
        <p:spPr>
          <a:xfrm>
            <a:off x="8881916" y="1752778"/>
            <a:ext cx="2852063" cy="369332"/>
          </a:xfrm>
          <a:prstGeom prst="rect">
            <a:avLst/>
          </a:prstGeom>
          <a:noFill/>
        </p:spPr>
        <p:txBody>
          <a:bodyPr wrap="none" rtlCol="0">
            <a:spAutoFit/>
          </a:bodyPr>
          <a:lstStyle/>
          <a:p>
            <a:r>
              <a:rPr kumimoji="1" lang="ja-JP" altLang="en-US"/>
              <a:t>第</a:t>
            </a:r>
            <a:r>
              <a:rPr kumimoji="1" lang="en-US" altLang="ja-JP" dirty="0"/>
              <a:t>2</a:t>
            </a:r>
            <a:r>
              <a:rPr kumimoji="1" lang="ja-JP" altLang="en-US"/>
              <a:t>要素が</a:t>
            </a:r>
            <a:r>
              <a:rPr lang="ja-JP" altLang="en-US"/>
              <a:t>抽出できるもの</a:t>
            </a:r>
            <a:endParaRPr kumimoji="1" lang="ja-JP" altLang="en-US"/>
          </a:p>
        </p:txBody>
      </p:sp>
      <p:sp>
        <p:nvSpPr>
          <p:cNvPr id="18" name="テキスト ボックス 17">
            <a:extLst>
              <a:ext uri="{FF2B5EF4-FFF2-40B4-BE49-F238E27FC236}">
                <a16:creationId xmlns:a16="http://schemas.microsoft.com/office/drawing/2014/main" id="{DCC62751-042F-F609-6AD5-4501FA34328A}"/>
              </a:ext>
            </a:extLst>
          </p:cNvPr>
          <p:cNvSpPr txBox="1"/>
          <p:nvPr/>
        </p:nvSpPr>
        <p:spPr>
          <a:xfrm>
            <a:off x="8212509" y="3529499"/>
            <a:ext cx="2441694" cy="338554"/>
          </a:xfrm>
          <a:prstGeom prst="rect">
            <a:avLst/>
          </a:prstGeom>
          <a:noFill/>
        </p:spPr>
        <p:txBody>
          <a:bodyPr wrap="none" rtlCol="0">
            <a:spAutoFit/>
          </a:bodyPr>
          <a:lstStyle/>
          <a:p>
            <a:r>
              <a:rPr kumimoji="1" lang="ja-JP" altLang="en-US" sz="1600" b="1"/>
              <a:t>最終的にこの形式を抽出</a:t>
            </a:r>
          </a:p>
        </p:txBody>
      </p:sp>
      <p:sp>
        <p:nvSpPr>
          <p:cNvPr id="19" name="右中かっこ 18">
            <a:extLst>
              <a:ext uri="{FF2B5EF4-FFF2-40B4-BE49-F238E27FC236}">
                <a16:creationId xmlns:a16="http://schemas.microsoft.com/office/drawing/2014/main" id="{7FD55156-A77C-2DC3-0EC9-9C141BF19206}"/>
              </a:ext>
            </a:extLst>
          </p:cNvPr>
          <p:cNvSpPr/>
          <p:nvPr/>
        </p:nvSpPr>
        <p:spPr>
          <a:xfrm>
            <a:off x="1765300" y="3056446"/>
            <a:ext cx="177800" cy="811607"/>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cxnSp>
        <p:nvCxnSpPr>
          <p:cNvPr id="21" name="直線矢印コネクタ 20">
            <a:extLst>
              <a:ext uri="{FF2B5EF4-FFF2-40B4-BE49-F238E27FC236}">
                <a16:creationId xmlns:a16="http://schemas.microsoft.com/office/drawing/2014/main" id="{27A26C19-C6C9-BEA3-450A-648AFDFE9EC7}"/>
              </a:ext>
            </a:extLst>
          </p:cNvPr>
          <p:cNvCxnSpPr>
            <a:stCxn id="18" idx="1"/>
            <a:endCxn id="15" idx="3"/>
          </p:cNvCxnSpPr>
          <p:nvPr/>
        </p:nvCxnSpPr>
        <p:spPr>
          <a:xfrm flipH="1">
            <a:off x="1295105" y="3698776"/>
            <a:ext cx="6917404" cy="15389"/>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5282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E6244-9A34-EC2A-4310-7E87182039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0212067-B735-0117-8F23-1F98EC4ED3CF}"/>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結果</a:t>
            </a:r>
            <a:r>
              <a:rPr lang="en-US" altLang="ja-JP" sz="3600" dirty="0">
                <a:sym typeface="Wingdings" pitchFamily="2" charset="2"/>
              </a:rPr>
              <a:t>(NER</a:t>
            </a:r>
            <a:r>
              <a:rPr lang="ja-JP" altLang="en-US" sz="3600">
                <a:sym typeface="Wingdings" pitchFamily="2" charset="2"/>
              </a:rPr>
              <a:t>に対する判定の差異</a:t>
            </a:r>
            <a:r>
              <a:rPr lang="en-US" altLang="ja-JP" sz="3600" dirty="0">
                <a:sym typeface="Wingdings" pitchFamily="2" charset="2"/>
              </a:rPr>
              <a:t>)</a:t>
            </a:r>
            <a:endParaRPr kumimoji="1" lang="ja-JP" altLang="en-US" sz="3600"/>
          </a:p>
        </p:txBody>
      </p:sp>
      <p:sp>
        <p:nvSpPr>
          <p:cNvPr id="6" name="テキスト ボックス 5">
            <a:extLst>
              <a:ext uri="{FF2B5EF4-FFF2-40B4-BE49-F238E27FC236}">
                <a16:creationId xmlns:a16="http://schemas.microsoft.com/office/drawing/2014/main" id="{2D787952-6C23-B1ED-AF55-06A1B7C1080B}"/>
              </a:ext>
            </a:extLst>
          </p:cNvPr>
          <p:cNvSpPr txBox="1"/>
          <p:nvPr/>
        </p:nvSpPr>
        <p:spPr>
          <a:xfrm>
            <a:off x="0" y="577517"/>
            <a:ext cx="2954655" cy="369332"/>
          </a:xfrm>
          <a:prstGeom prst="rect">
            <a:avLst/>
          </a:prstGeom>
          <a:noFill/>
        </p:spPr>
        <p:txBody>
          <a:bodyPr wrap="none" rtlCol="0">
            <a:spAutoFit/>
          </a:bodyPr>
          <a:lstStyle/>
          <a:p>
            <a:r>
              <a:rPr kumimoji="1" lang="ja-JP" altLang="en-US"/>
              <a:t>距離行列（ハミング距離）</a:t>
            </a:r>
          </a:p>
        </p:txBody>
      </p:sp>
      <p:sp>
        <p:nvSpPr>
          <p:cNvPr id="7" name="テキスト ボックス 6">
            <a:extLst>
              <a:ext uri="{FF2B5EF4-FFF2-40B4-BE49-F238E27FC236}">
                <a16:creationId xmlns:a16="http://schemas.microsoft.com/office/drawing/2014/main" id="{0E23C7AA-B283-DF52-2C4B-A2EAADC313FA}"/>
              </a:ext>
            </a:extLst>
          </p:cNvPr>
          <p:cNvSpPr txBox="1"/>
          <p:nvPr/>
        </p:nvSpPr>
        <p:spPr>
          <a:xfrm>
            <a:off x="5923811" y="580876"/>
            <a:ext cx="1800493" cy="369332"/>
          </a:xfrm>
          <a:prstGeom prst="rect">
            <a:avLst/>
          </a:prstGeom>
          <a:noFill/>
        </p:spPr>
        <p:txBody>
          <a:bodyPr wrap="none" rtlCol="0">
            <a:spAutoFit/>
          </a:bodyPr>
          <a:lstStyle/>
          <a:p>
            <a:r>
              <a:rPr kumimoji="1" lang="ja-JP" altLang="en-US"/>
              <a:t>デンドログラム</a:t>
            </a:r>
          </a:p>
        </p:txBody>
      </p:sp>
      <p:sp>
        <p:nvSpPr>
          <p:cNvPr id="8" name="テキスト ボックス 7">
            <a:extLst>
              <a:ext uri="{FF2B5EF4-FFF2-40B4-BE49-F238E27FC236}">
                <a16:creationId xmlns:a16="http://schemas.microsoft.com/office/drawing/2014/main" id="{51B18238-1C13-9BE2-E616-2968323132CF}"/>
              </a:ext>
            </a:extLst>
          </p:cNvPr>
          <p:cNvSpPr txBox="1"/>
          <p:nvPr/>
        </p:nvSpPr>
        <p:spPr>
          <a:xfrm>
            <a:off x="0" y="4120115"/>
            <a:ext cx="877163" cy="369332"/>
          </a:xfrm>
          <a:prstGeom prst="rect">
            <a:avLst/>
          </a:prstGeom>
          <a:noFill/>
        </p:spPr>
        <p:txBody>
          <a:bodyPr wrap="none" rtlCol="0">
            <a:spAutoFit/>
          </a:bodyPr>
          <a:lstStyle/>
          <a:p>
            <a:r>
              <a:rPr kumimoji="1" lang="ja-JP" altLang="en-US"/>
              <a:t>修正数</a:t>
            </a:r>
          </a:p>
        </p:txBody>
      </p:sp>
      <p:pic>
        <p:nvPicPr>
          <p:cNvPr id="10" name="図 9">
            <a:extLst>
              <a:ext uri="{FF2B5EF4-FFF2-40B4-BE49-F238E27FC236}">
                <a16:creationId xmlns:a16="http://schemas.microsoft.com/office/drawing/2014/main" id="{AAE4ACF4-F71B-20D7-2C3B-A453526A7DD4}"/>
              </a:ext>
            </a:extLst>
          </p:cNvPr>
          <p:cNvPicPr>
            <a:picLocks noChangeAspect="1"/>
          </p:cNvPicPr>
          <p:nvPr/>
        </p:nvPicPr>
        <p:blipFill>
          <a:blip r:embed="rId2"/>
          <a:stretch>
            <a:fillRect/>
          </a:stretch>
        </p:blipFill>
        <p:spPr>
          <a:xfrm>
            <a:off x="712323" y="4720854"/>
            <a:ext cx="4726608" cy="499729"/>
          </a:xfrm>
          <a:prstGeom prst="rect">
            <a:avLst/>
          </a:prstGeom>
        </p:spPr>
      </p:pic>
      <p:pic>
        <p:nvPicPr>
          <p:cNvPr id="12" name="図 11" descr="メーター, 時計 が含まれている画像&#10;&#10;AI 生成コンテンツは誤りを含む可能性があります。">
            <a:extLst>
              <a:ext uri="{FF2B5EF4-FFF2-40B4-BE49-F238E27FC236}">
                <a16:creationId xmlns:a16="http://schemas.microsoft.com/office/drawing/2014/main" id="{2B88651D-097E-DED4-A318-74896D807C73}"/>
              </a:ext>
            </a:extLst>
          </p:cNvPr>
          <p:cNvPicPr>
            <a:picLocks noChangeAspect="1"/>
          </p:cNvPicPr>
          <p:nvPr/>
        </p:nvPicPr>
        <p:blipFill>
          <a:blip r:embed="rId3"/>
          <a:stretch>
            <a:fillRect/>
          </a:stretch>
        </p:blipFill>
        <p:spPr>
          <a:xfrm>
            <a:off x="712323" y="1416023"/>
            <a:ext cx="4725492" cy="1888813"/>
          </a:xfrm>
          <a:prstGeom prst="rect">
            <a:avLst/>
          </a:prstGeom>
        </p:spPr>
      </p:pic>
      <p:pic>
        <p:nvPicPr>
          <p:cNvPr id="14" name="図 13" descr="グラフ, 箱ひげ図&#10;&#10;AI 生成コンテンツは誤りを含む可能性があります。">
            <a:extLst>
              <a:ext uri="{FF2B5EF4-FFF2-40B4-BE49-F238E27FC236}">
                <a16:creationId xmlns:a16="http://schemas.microsoft.com/office/drawing/2014/main" id="{77269A51-CD74-5EDD-F0E4-05EA8C6D3257}"/>
              </a:ext>
            </a:extLst>
          </p:cNvPr>
          <p:cNvPicPr>
            <a:picLocks noChangeAspect="1"/>
          </p:cNvPicPr>
          <p:nvPr/>
        </p:nvPicPr>
        <p:blipFill>
          <a:blip r:embed="rId4"/>
          <a:stretch>
            <a:fillRect/>
          </a:stretch>
        </p:blipFill>
        <p:spPr>
          <a:xfrm>
            <a:off x="6235700" y="1416023"/>
            <a:ext cx="5021432" cy="3560014"/>
          </a:xfrm>
          <a:prstGeom prst="rect">
            <a:avLst/>
          </a:prstGeom>
        </p:spPr>
      </p:pic>
      <p:sp>
        <p:nvSpPr>
          <p:cNvPr id="15" name="テキスト ボックス 14">
            <a:extLst>
              <a:ext uri="{FF2B5EF4-FFF2-40B4-BE49-F238E27FC236}">
                <a16:creationId xmlns:a16="http://schemas.microsoft.com/office/drawing/2014/main" id="{BB282FCA-EF3C-B3E0-9815-A27DC76DE8B9}"/>
              </a:ext>
            </a:extLst>
          </p:cNvPr>
          <p:cNvSpPr txBox="1"/>
          <p:nvPr/>
        </p:nvSpPr>
        <p:spPr>
          <a:xfrm>
            <a:off x="0" y="5791316"/>
            <a:ext cx="11085086" cy="369332"/>
          </a:xfrm>
          <a:prstGeom prst="rect">
            <a:avLst/>
          </a:prstGeom>
          <a:noFill/>
        </p:spPr>
        <p:txBody>
          <a:bodyPr wrap="none" rtlCol="0">
            <a:spAutoFit/>
          </a:bodyPr>
          <a:lstStyle/>
          <a:p>
            <a:r>
              <a:rPr kumimoji="1" lang="en-US" altLang="ja-JP" dirty="0"/>
              <a:t>※</a:t>
            </a:r>
            <a:r>
              <a:rPr kumimoji="1" lang="ja-JP" altLang="en-US"/>
              <a:t>距離行列の</a:t>
            </a:r>
            <a:r>
              <a:rPr kumimoji="1" lang="en-US" altLang="ja-JP" dirty="0"/>
              <a:t>1</a:t>
            </a:r>
            <a:r>
              <a:rPr lang="ja-JP" altLang="en-US"/>
              <a:t>行目と修正数は同じになるはずであるが異なっている</a:t>
            </a:r>
            <a:r>
              <a:rPr lang="en-US" altLang="ja-JP" dirty="0"/>
              <a:t> -&gt; AI</a:t>
            </a:r>
            <a:r>
              <a:rPr lang="ja-JP" altLang="en-US"/>
              <a:t>の地名出力が正しくない可能性</a:t>
            </a:r>
            <a:endParaRPr kumimoji="1" lang="ja-JP" altLang="en-US"/>
          </a:p>
        </p:txBody>
      </p:sp>
    </p:spTree>
    <p:extLst>
      <p:ext uri="{BB962C8B-B14F-4D97-AF65-F5344CB8AC3E}">
        <p14:creationId xmlns:p14="http://schemas.microsoft.com/office/powerpoint/2010/main" val="2745369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8D62E-7672-10C0-1DEC-EDB2FF491E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F84360-FCF2-0E3F-4081-10F21F6C268F}"/>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結果</a:t>
            </a:r>
            <a:r>
              <a:rPr lang="en-US" altLang="ja-JP" sz="3600" dirty="0">
                <a:sym typeface="Wingdings" pitchFamily="2" charset="2"/>
              </a:rPr>
              <a:t>(NER</a:t>
            </a:r>
            <a:r>
              <a:rPr lang="ja-JP" altLang="en-US" sz="3600" dirty="0">
                <a:sym typeface="Wingdings" pitchFamily="2" charset="2"/>
              </a:rPr>
              <a:t>に対する</a:t>
            </a:r>
            <a:r>
              <a:rPr lang="ja-JP" altLang="en-US" sz="3600">
                <a:sym typeface="Wingdings" pitchFamily="2" charset="2"/>
              </a:rPr>
              <a:t>修正の程度</a:t>
            </a:r>
            <a:r>
              <a:rPr lang="en-US" altLang="ja-JP" sz="3600" dirty="0">
                <a:sym typeface="Wingdings" pitchFamily="2" charset="2"/>
              </a:rPr>
              <a:t>)</a:t>
            </a:r>
            <a:endParaRPr kumimoji="1" lang="ja-JP" altLang="en-US" sz="3600"/>
          </a:p>
        </p:txBody>
      </p:sp>
      <p:sp>
        <p:nvSpPr>
          <p:cNvPr id="6" name="テキスト ボックス 5">
            <a:extLst>
              <a:ext uri="{FF2B5EF4-FFF2-40B4-BE49-F238E27FC236}">
                <a16:creationId xmlns:a16="http://schemas.microsoft.com/office/drawing/2014/main" id="{AAB8FA77-ECE3-FA99-0528-781EEFE280EF}"/>
              </a:ext>
            </a:extLst>
          </p:cNvPr>
          <p:cNvSpPr txBox="1"/>
          <p:nvPr/>
        </p:nvSpPr>
        <p:spPr>
          <a:xfrm>
            <a:off x="5283200" y="713822"/>
            <a:ext cx="5006499" cy="369332"/>
          </a:xfrm>
          <a:prstGeom prst="rect">
            <a:avLst/>
          </a:prstGeom>
          <a:noFill/>
        </p:spPr>
        <p:txBody>
          <a:bodyPr wrap="none" rtlCol="0">
            <a:spAutoFit/>
          </a:bodyPr>
          <a:lstStyle/>
          <a:p>
            <a:r>
              <a:rPr lang="ja-JP" altLang="en-US"/>
              <a:t>大学間の修正の程度</a:t>
            </a:r>
            <a:r>
              <a:rPr lang="en-US" altLang="ja-JP" dirty="0"/>
              <a:t>(1</a:t>
            </a:r>
            <a:r>
              <a:rPr lang="ja-JP" altLang="en-US"/>
              <a:t>報告書あたり平均</a:t>
            </a:r>
            <a:r>
              <a:rPr lang="en-US" altLang="ja-JP" dirty="0"/>
              <a:t>4</a:t>
            </a:r>
            <a:r>
              <a:rPr lang="ja-JP" altLang="en-US"/>
              <a:t>箇所</a:t>
            </a:r>
            <a:r>
              <a:rPr lang="en-US" altLang="ja-JP" dirty="0"/>
              <a:t>)</a:t>
            </a:r>
            <a:endParaRPr kumimoji="1" lang="ja-JP" altLang="en-US"/>
          </a:p>
        </p:txBody>
      </p:sp>
      <p:pic>
        <p:nvPicPr>
          <p:cNvPr id="4" name="図 3" descr="グラフ, ヒストグラム&#10;&#10;AI 生成コンテンツは誤りを含む可能性があります。">
            <a:extLst>
              <a:ext uri="{FF2B5EF4-FFF2-40B4-BE49-F238E27FC236}">
                <a16:creationId xmlns:a16="http://schemas.microsoft.com/office/drawing/2014/main" id="{94BDDD15-C338-A91B-1AF5-1957977D3FDD}"/>
              </a:ext>
            </a:extLst>
          </p:cNvPr>
          <p:cNvPicPr>
            <a:picLocks noChangeAspect="1"/>
          </p:cNvPicPr>
          <p:nvPr/>
        </p:nvPicPr>
        <p:blipFill>
          <a:blip r:embed="rId2"/>
          <a:stretch>
            <a:fillRect/>
          </a:stretch>
        </p:blipFill>
        <p:spPr>
          <a:xfrm>
            <a:off x="5641164" y="1346563"/>
            <a:ext cx="5522457" cy="4086818"/>
          </a:xfrm>
          <a:prstGeom prst="rect">
            <a:avLst/>
          </a:prstGeom>
        </p:spPr>
      </p:pic>
      <p:sp>
        <p:nvSpPr>
          <p:cNvPr id="5" name="テキスト ボックス 4">
            <a:extLst>
              <a:ext uri="{FF2B5EF4-FFF2-40B4-BE49-F238E27FC236}">
                <a16:creationId xmlns:a16="http://schemas.microsoft.com/office/drawing/2014/main" id="{BA7DD02A-8930-AFE2-7956-30FACE1DBBA5}"/>
              </a:ext>
            </a:extLst>
          </p:cNvPr>
          <p:cNvSpPr txBox="1"/>
          <p:nvPr/>
        </p:nvSpPr>
        <p:spPr>
          <a:xfrm>
            <a:off x="723900" y="713822"/>
            <a:ext cx="3185487" cy="369332"/>
          </a:xfrm>
          <a:prstGeom prst="rect">
            <a:avLst/>
          </a:prstGeom>
          <a:noFill/>
        </p:spPr>
        <p:txBody>
          <a:bodyPr wrap="none" rtlCol="0">
            <a:spAutoFit/>
          </a:bodyPr>
          <a:lstStyle/>
          <a:p>
            <a:r>
              <a:rPr kumimoji="1" lang="ja-JP" altLang="en-US"/>
              <a:t>大学別の適正な出力形式の数</a:t>
            </a:r>
          </a:p>
        </p:txBody>
      </p:sp>
      <p:pic>
        <p:nvPicPr>
          <p:cNvPr id="11" name="図 10" descr="テキスト&#10;&#10;AI 生成コンテンツは誤りを含む可能性があります。">
            <a:extLst>
              <a:ext uri="{FF2B5EF4-FFF2-40B4-BE49-F238E27FC236}">
                <a16:creationId xmlns:a16="http://schemas.microsoft.com/office/drawing/2014/main" id="{7A49BFC5-538B-4E65-DD3C-5DB2E0E5B7E5}"/>
              </a:ext>
            </a:extLst>
          </p:cNvPr>
          <p:cNvPicPr>
            <a:picLocks noChangeAspect="1"/>
          </p:cNvPicPr>
          <p:nvPr/>
        </p:nvPicPr>
        <p:blipFill>
          <a:blip r:embed="rId3"/>
          <a:stretch>
            <a:fillRect/>
          </a:stretch>
        </p:blipFill>
        <p:spPr>
          <a:xfrm>
            <a:off x="1020260" y="1371963"/>
            <a:ext cx="2889127" cy="2183261"/>
          </a:xfrm>
          <a:prstGeom prst="rect">
            <a:avLst/>
          </a:prstGeom>
        </p:spPr>
      </p:pic>
      <p:sp>
        <p:nvSpPr>
          <p:cNvPr id="13" name="テキスト ボックス 12">
            <a:extLst>
              <a:ext uri="{FF2B5EF4-FFF2-40B4-BE49-F238E27FC236}">
                <a16:creationId xmlns:a16="http://schemas.microsoft.com/office/drawing/2014/main" id="{DFEDC0C1-D712-3518-075D-AEF3C45834F0}"/>
              </a:ext>
            </a:extLst>
          </p:cNvPr>
          <p:cNvSpPr txBox="1"/>
          <p:nvPr/>
        </p:nvSpPr>
        <p:spPr>
          <a:xfrm>
            <a:off x="6771977" y="5509948"/>
            <a:ext cx="3260829" cy="307777"/>
          </a:xfrm>
          <a:prstGeom prst="rect">
            <a:avLst/>
          </a:prstGeom>
          <a:noFill/>
        </p:spPr>
        <p:txBody>
          <a:bodyPr wrap="none" rtlCol="0">
            <a:spAutoFit/>
          </a:bodyPr>
          <a:lstStyle/>
          <a:p>
            <a:r>
              <a:rPr lang="en" altLang="ja-JP" sz="1400" dirty="0"/>
              <a:t>Kruskal-Wallis</a:t>
            </a:r>
            <a:r>
              <a:rPr lang="ja-JP" altLang="en-US" sz="1400"/>
              <a:t>法による検定</a:t>
            </a:r>
            <a:r>
              <a:rPr lang="en-US" altLang="ja-JP" sz="1400" dirty="0"/>
              <a:t>: P=0.029</a:t>
            </a:r>
            <a:endParaRPr lang="ja-JP" altLang="en-US" sz="1400"/>
          </a:p>
        </p:txBody>
      </p:sp>
    </p:spTree>
    <p:extLst>
      <p:ext uri="{BB962C8B-B14F-4D97-AF65-F5344CB8AC3E}">
        <p14:creationId xmlns:p14="http://schemas.microsoft.com/office/powerpoint/2010/main" val="360602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D9E6F-3BE1-24B5-5230-E8569C56598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C87057-C932-90B2-F7E7-6BA387992F48}"/>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lang="ja-JP" altLang="en-US" sz="3600"/>
              <a:t>結果</a:t>
            </a:r>
            <a:r>
              <a:rPr lang="en-US" altLang="ja-JP" sz="3600" dirty="0">
                <a:sym typeface="Wingdings" pitchFamily="2" charset="2"/>
              </a:rPr>
              <a:t>(</a:t>
            </a:r>
            <a:r>
              <a:rPr lang="ja-JP" altLang="en-US" sz="3600">
                <a:sym typeface="Wingdings" pitchFamily="2" charset="2"/>
              </a:rPr>
              <a:t>決定された地名について</a:t>
            </a:r>
            <a:r>
              <a:rPr lang="en-US" altLang="ja-JP" sz="3600" dirty="0">
                <a:sym typeface="Wingdings" pitchFamily="2" charset="2"/>
              </a:rPr>
              <a:t>)</a:t>
            </a:r>
            <a:endParaRPr kumimoji="1" lang="ja-JP" altLang="en-US" sz="3600"/>
          </a:p>
        </p:txBody>
      </p:sp>
      <p:pic>
        <p:nvPicPr>
          <p:cNvPr id="4" name="図 3">
            <a:extLst>
              <a:ext uri="{FF2B5EF4-FFF2-40B4-BE49-F238E27FC236}">
                <a16:creationId xmlns:a16="http://schemas.microsoft.com/office/drawing/2014/main" id="{3F13B2AF-A565-AEE8-9550-E535F476209B}"/>
              </a:ext>
            </a:extLst>
          </p:cNvPr>
          <p:cNvPicPr>
            <a:picLocks noChangeAspect="1"/>
          </p:cNvPicPr>
          <p:nvPr/>
        </p:nvPicPr>
        <p:blipFill>
          <a:blip r:embed="rId2"/>
          <a:stretch>
            <a:fillRect/>
          </a:stretch>
        </p:blipFill>
        <p:spPr>
          <a:xfrm>
            <a:off x="1485628" y="1095419"/>
            <a:ext cx="3951064" cy="5185064"/>
          </a:xfrm>
          <a:prstGeom prst="rect">
            <a:avLst/>
          </a:prstGeom>
        </p:spPr>
      </p:pic>
      <p:sp>
        <p:nvSpPr>
          <p:cNvPr id="5" name="テキスト ボックス 4">
            <a:extLst>
              <a:ext uri="{FF2B5EF4-FFF2-40B4-BE49-F238E27FC236}">
                <a16:creationId xmlns:a16="http://schemas.microsoft.com/office/drawing/2014/main" id="{FA73A07A-9A65-F2F6-82DC-5E13314311AB}"/>
              </a:ext>
            </a:extLst>
          </p:cNvPr>
          <p:cNvSpPr txBox="1"/>
          <p:nvPr/>
        </p:nvSpPr>
        <p:spPr>
          <a:xfrm>
            <a:off x="1155214" y="566389"/>
            <a:ext cx="2723823" cy="369332"/>
          </a:xfrm>
          <a:prstGeom prst="rect">
            <a:avLst/>
          </a:prstGeom>
          <a:noFill/>
        </p:spPr>
        <p:txBody>
          <a:bodyPr wrap="none" rtlCol="0">
            <a:spAutoFit/>
          </a:bodyPr>
          <a:lstStyle/>
          <a:p>
            <a:r>
              <a:rPr kumimoji="1" lang="ja-JP" altLang="en-US"/>
              <a:t>大学ごとの地名の出現数</a:t>
            </a:r>
          </a:p>
        </p:txBody>
      </p:sp>
      <p:sp>
        <p:nvSpPr>
          <p:cNvPr id="6" name="テキスト ボックス 5">
            <a:extLst>
              <a:ext uri="{FF2B5EF4-FFF2-40B4-BE49-F238E27FC236}">
                <a16:creationId xmlns:a16="http://schemas.microsoft.com/office/drawing/2014/main" id="{39B58FBD-9DC2-8D17-676E-4A87A49211D1}"/>
              </a:ext>
            </a:extLst>
          </p:cNvPr>
          <p:cNvSpPr txBox="1"/>
          <p:nvPr/>
        </p:nvSpPr>
        <p:spPr>
          <a:xfrm>
            <a:off x="6731882" y="2414481"/>
            <a:ext cx="3203121" cy="369332"/>
          </a:xfrm>
          <a:prstGeom prst="rect">
            <a:avLst/>
          </a:prstGeom>
          <a:noFill/>
        </p:spPr>
        <p:txBody>
          <a:bodyPr wrap="none" rtlCol="0">
            <a:spAutoFit/>
          </a:bodyPr>
          <a:lstStyle/>
          <a:p>
            <a:r>
              <a:rPr lang="ja-JP" altLang="en-US"/>
              <a:t>決定</a:t>
            </a:r>
            <a:r>
              <a:rPr kumimoji="1" lang="ja-JP" altLang="en-US"/>
              <a:t>した地名による</a:t>
            </a:r>
            <a:r>
              <a:rPr kumimoji="1" lang="en-US" altLang="ja-JP"/>
              <a:t>Dice</a:t>
            </a:r>
            <a:r>
              <a:rPr kumimoji="1" lang="ja-JP" altLang="en-US"/>
              <a:t>係数</a:t>
            </a:r>
          </a:p>
        </p:txBody>
      </p:sp>
      <p:pic>
        <p:nvPicPr>
          <p:cNvPr id="8" name="図 7">
            <a:extLst>
              <a:ext uri="{FF2B5EF4-FFF2-40B4-BE49-F238E27FC236}">
                <a16:creationId xmlns:a16="http://schemas.microsoft.com/office/drawing/2014/main" id="{B96BBF83-052A-C45E-E03C-22D1BD14F97C}"/>
              </a:ext>
            </a:extLst>
          </p:cNvPr>
          <p:cNvPicPr>
            <a:picLocks noChangeAspect="1"/>
          </p:cNvPicPr>
          <p:nvPr/>
        </p:nvPicPr>
        <p:blipFill>
          <a:blip r:embed="rId3"/>
          <a:stretch>
            <a:fillRect/>
          </a:stretch>
        </p:blipFill>
        <p:spPr>
          <a:xfrm>
            <a:off x="7003278" y="2783604"/>
            <a:ext cx="2573294" cy="1218570"/>
          </a:xfrm>
          <a:prstGeom prst="rect">
            <a:avLst/>
          </a:prstGeom>
        </p:spPr>
      </p:pic>
      <p:cxnSp>
        <p:nvCxnSpPr>
          <p:cNvPr id="10" name="直線コネクタ 9">
            <a:extLst>
              <a:ext uri="{FF2B5EF4-FFF2-40B4-BE49-F238E27FC236}">
                <a16:creationId xmlns:a16="http://schemas.microsoft.com/office/drawing/2014/main" id="{C214B49A-A5EA-8290-E05D-632FF0D4B0C8}"/>
              </a:ext>
            </a:extLst>
          </p:cNvPr>
          <p:cNvCxnSpPr>
            <a:cxnSpLocks/>
          </p:cNvCxnSpPr>
          <p:nvPr/>
        </p:nvCxnSpPr>
        <p:spPr>
          <a:xfrm>
            <a:off x="1442454" y="1244942"/>
            <a:ext cx="398031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279BA018-0592-0313-E129-D62615BE6E0B}"/>
              </a:ext>
            </a:extLst>
          </p:cNvPr>
          <p:cNvSpPr txBox="1"/>
          <p:nvPr/>
        </p:nvSpPr>
        <p:spPr>
          <a:xfrm>
            <a:off x="7003278" y="4887311"/>
            <a:ext cx="3495550" cy="1384995"/>
          </a:xfrm>
          <a:prstGeom prst="rect">
            <a:avLst/>
          </a:prstGeom>
          <a:noFill/>
          <a:ln w="12700">
            <a:solidFill>
              <a:schemeClr val="tx1"/>
            </a:solidFill>
          </a:ln>
        </p:spPr>
        <p:txBody>
          <a:bodyPr wrap="square" rtlCol="0">
            <a:spAutoFit/>
          </a:bodyPr>
          <a:lstStyle/>
          <a:p>
            <a:r>
              <a:rPr lang="ja-JP" altLang="en-US" sz="1400"/>
              <a:t>中</a:t>
            </a:r>
            <a:r>
              <a:rPr lang="en-US" altLang="ja-JP" sz="1400"/>
              <a:t>, </a:t>
            </a:r>
            <a:r>
              <a:rPr lang="ja-JP" altLang="en-US" sz="1400"/>
              <a:t>亘</a:t>
            </a:r>
            <a:r>
              <a:rPr lang="en-US" altLang="ja-JP" sz="1400"/>
              <a:t>, </a:t>
            </a:r>
            <a:r>
              <a:rPr lang="ja-JP" altLang="en-US" sz="1400"/>
              <a:t>亜</a:t>
            </a:r>
            <a:r>
              <a:rPr lang="en-US" altLang="ja-JP" sz="1400"/>
              <a:t>, </a:t>
            </a:r>
            <a:r>
              <a:rPr lang="ja-JP" altLang="en-US" sz="1400"/>
              <a:t>加</a:t>
            </a:r>
            <a:r>
              <a:rPr lang="en-US" altLang="ja-JP" sz="1400"/>
              <a:t>, </a:t>
            </a:r>
            <a:r>
              <a:rPr lang="ja-JP" altLang="en-US" sz="1400"/>
              <a:t>周</a:t>
            </a:r>
            <a:r>
              <a:rPr lang="en-US" altLang="ja-JP" sz="1400"/>
              <a:t>, </a:t>
            </a:r>
            <a:r>
              <a:rPr lang="ja-JP" altLang="en-US" sz="1400"/>
              <a:t>境</a:t>
            </a:r>
            <a:r>
              <a:rPr lang="en-US" altLang="ja-JP" sz="1400"/>
              <a:t>, </a:t>
            </a:r>
            <a:r>
              <a:rPr lang="ja-JP" altLang="en-US" sz="1400"/>
              <a:t>成</a:t>
            </a:r>
            <a:r>
              <a:rPr lang="en-US" altLang="ja-JP" sz="1400"/>
              <a:t>, </a:t>
            </a:r>
            <a:r>
              <a:rPr lang="ja-JP" altLang="en-US" sz="1400"/>
              <a:t>日</a:t>
            </a:r>
            <a:r>
              <a:rPr lang="en-US" altLang="ja-JP" sz="1400"/>
              <a:t>, </a:t>
            </a:r>
            <a:r>
              <a:rPr lang="ja-JP" altLang="en-US" sz="1400"/>
              <a:t>曽</a:t>
            </a:r>
            <a:r>
              <a:rPr lang="en-US" altLang="ja-JP" sz="1400"/>
              <a:t>, </a:t>
            </a:r>
            <a:r>
              <a:rPr lang="ja-JP" altLang="en-US" sz="1400"/>
              <a:t>栄</a:t>
            </a:r>
            <a:r>
              <a:rPr lang="en-US" altLang="ja-JP" sz="1400"/>
              <a:t>, </a:t>
            </a:r>
            <a:r>
              <a:rPr lang="ja-JP" altLang="en-US" sz="1400"/>
              <a:t>求</a:t>
            </a:r>
            <a:r>
              <a:rPr lang="en-US" altLang="ja-JP" sz="1400"/>
              <a:t>, </a:t>
            </a:r>
            <a:r>
              <a:rPr lang="ja-JP" altLang="en-US" sz="1400"/>
              <a:t>泰</a:t>
            </a:r>
            <a:r>
              <a:rPr lang="en-US" altLang="ja-JP" sz="1400"/>
              <a:t>, </a:t>
            </a:r>
            <a:r>
              <a:rPr lang="ja-JP" altLang="en-US" sz="1400"/>
              <a:t>清</a:t>
            </a:r>
            <a:r>
              <a:rPr lang="en-US" altLang="ja-JP" sz="1400"/>
              <a:t>, </a:t>
            </a:r>
            <a:r>
              <a:rPr lang="ja-JP" altLang="en-US" sz="1400"/>
              <a:t>継</a:t>
            </a:r>
            <a:r>
              <a:rPr lang="en-US" altLang="ja-JP" sz="1400"/>
              <a:t>, </a:t>
            </a:r>
            <a:r>
              <a:rPr lang="ja-JP" altLang="en-US" sz="1400"/>
              <a:t>纒</a:t>
            </a:r>
            <a:r>
              <a:rPr lang="en-US" altLang="ja-JP" sz="1400"/>
              <a:t>, </a:t>
            </a:r>
            <a:r>
              <a:rPr lang="ja-JP" altLang="en-US" sz="1400"/>
              <a:t>起</a:t>
            </a:r>
            <a:r>
              <a:rPr lang="en-US" altLang="ja-JP" sz="1400"/>
              <a:t>, </a:t>
            </a:r>
            <a:r>
              <a:rPr lang="ja-JP" altLang="en-US" sz="1400"/>
              <a:t>集</a:t>
            </a:r>
            <a:r>
              <a:rPr lang="en-US" altLang="ja-JP" sz="1400"/>
              <a:t>, </a:t>
            </a:r>
            <a:r>
              <a:rPr lang="ja-JP" altLang="en-US" sz="1400"/>
              <a:t>離</a:t>
            </a:r>
            <a:r>
              <a:rPr lang="en-US" altLang="ja-JP" sz="1400"/>
              <a:t>, </a:t>
            </a:r>
            <a:r>
              <a:rPr lang="ja-JP" altLang="en-US" sz="1400"/>
              <a:t>静</a:t>
            </a:r>
            <a:r>
              <a:rPr lang="en-US" altLang="ja-JP" sz="1400"/>
              <a:t>, </a:t>
            </a:r>
            <a:r>
              <a:rPr lang="ja-JP" altLang="en-US" sz="1400"/>
              <a:t>ネス</a:t>
            </a:r>
            <a:r>
              <a:rPr lang="en-US" altLang="ja-JP" sz="1400"/>
              <a:t>, </a:t>
            </a:r>
            <a:r>
              <a:rPr lang="ja-JP" altLang="en-US" sz="1400"/>
              <a:t>ポー</a:t>
            </a:r>
            <a:r>
              <a:rPr lang="en-US" altLang="ja-JP" sz="1400"/>
              <a:t>, </a:t>
            </a:r>
            <a:r>
              <a:rPr lang="ja-JP" altLang="en-US" sz="1400"/>
              <a:t>下条</a:t>
            </a:r>
            <a:r>
              <a:rPr lang="en-US" altLang="ja-JP" sz="1400"/>
              <a:t>, </a:t>
            </a:r>
            <a:r>
              <a:rPr lang="ja-JP" altLang="en-US" sz="1400"/>
              <a:t>中野</a:t>
            </a:r>
            <a:r>
              <a:rPr lang="en-US" altLang="ja-JP" sz="1400"/>
              <a:t>, </a:t>
            </a:r>
            <a:r>
              <a:rPr lang="ja-JP" altLang="en-US" sz="1400"/>
              <a:t>丹後</a:t>
            </a:r>
            <a:r>
              <a:rPr lang="en-US" altLang="ja-JP" sz="1400"/>
              <a:t>, </a:t>
            </a:r>
            <a:r>
              <a:rPr lang="ja-JP" altLang="en-US" sz="1400"/>
              <a:t>京都</a:t>
            </a:r>
            <a:r>
              <a:rPr lang="en-US" altLang="ja-JP" sz="1400"/>
              <a:t>, </a:t>
            </a:r>
            <a:r>
              <a:rPr lang="ja-JP" altLang="en-US" sz="1400"/>
              <a:t>元岡</a:t>
            </a:r>
            <a:r>
              <a:rPr lang="en-US" altLang="ja-JP" sz="1400"/>
              <a:t>, </a:t>
            </a:r>
            <a:r>
              <a:rPr lang="ja-JP" altLang="en-US" sz="1400"/>
              <a:t>内保</a:t>
            </a:r>
            <a:r>
              <a:rPr lang="en-US" altLang="ja-JP" sz="1400"/>
              <a:t>, </a:t>
            </a:r>
            <a:r>
              <a:rPr lang="ja-JP" altLang="en-US" sz="1400"/>
              <a:t>土井</a:t>
            </a:r>
            <a:r>
              <a:rPr lang="en-US" altLang="ja-JP" sz="1400"/>
              <a:t>, </a:t>
            </a:r>
            <a:r>
              <a:rPr lang="ja-JP" altLang="en-US" sz="1400"/>
              <a:t>宮谷</a:t>
            </a:r>
            <a:r>
              <a:rPr lang="en-US" altLang="ja-JP" sz="1400"/>
              <a:t>, </a:t>
            </a:r>
            <a:r>
              <a:rPr lang="ja-JP" altLang="en-US" sz="1400"/>
              <a:t>山口</a:t>
            </a:r>
            <a:r>
              <a:rPr lang="en-US" altLang="ja-JP" sz="1400"/>
              <a:t>, </a:t>
            </a:r>
            <a:r>
              <a:rPr lang="ja-JP" altLang="en-US" sz="1400"/>
              <a:t>彦沢</a:t>
            </a:r>
            <a:r>
              <a:rPr lang="en-US" altLang="ja-JP" sz="1400"/>
              <a:t>, </a:t>
            </a:r>
            <a:r>
              <a:rPr lang="ja-JP" altLang="en-US" sz="1400"/>
              <a:t>日内</a:t>
            </a:r>
            <a:r>
              <a:rPr lang="en-US" altLang="ja-JP" sz="1400"/>
              <a:t>, </a:t>
            </a:r>
            <a:r>
              <a:rPr lang="ja-JP" altLang="en-US" sz="1400"/>
              <a:t>毛利</a:t>
            </a:r>
            <a:r>
              <a:rPr lang="en-US" altLang="ja-JP" sz="1400"/>
              <a:t>, </a:t>
            </a:r>
            <a:r>
              <a:rPr lang="ja-JP" altLang="en-US" sz="1400"/>
              <a:t>生葉</a:t>
            </a:r>
            <a:r>
              <a:rPr lang="en-US" altLang="ja-JP" sz="1400"/>
              <a:t>, </a:t>
            </a:r>
            <a:r>
              <a:rPr lang="ja-JP" altLang="en-US" sz="1400"/>
              <a:t>的場</a:t>
            </a:r>
            <a:r>
              <a:rPr lang="en-US" altLang="ja-JP" sz="1400"/>
              <a:t>, </a:t>
            </a:r>
            <a:r>
              <a:rPr lang="ja-JP" altLang="en-US" sz="1400"/>
              <a:t>福生</a:t>
            </a:r>
            <a:r>
              <a:rPr lang="en-US" altLang="ja-JP" sz="1400"/>
              <a:t>, </a:t>
            </a:r>
            <a:r>
              <a:rPr lang="ja-JP" altLang="en-US" sz="1400"/>
              <a:t>稲津</a:t>
            </a:r>
            <a:r>
              <a:rPr lang="en-US" altLang="ja-JP" sz="1400"/>
              <a:t>, </a:t>
            </a:r>
            <a:r>
              <a:rPr lang="ja-JP" altLang="en-US" sz="1400"/>
              <a:t>大学北</a:t>
            </a:r>
            <a:r>
              <a:rPr lang="en-US" altLang="ja-JP" sz="1400"/>
              <a:t>, </a:t>
            </a:r>
            <a:r>
              <a:rPr lang="ja-JP" altLang="en-US" sz="1400"/>
              <a:t>小笠原</a:t>
            </a:r>
            <a:r>
              <a:rPr lang="en-US" altLang="ja-JP" sz="1400"/>
              <a:t>, </a:t>
            </a:r>
            <a:r>
              <a:rPr lang="ja-JP" altLang="en-US" sz="1400"/>
              <a:t>東日本</a:t>
            </a:r>
            <a:r>
              <a:rPr lang="en-US" altLang="ja-JP" sz="1400"/>
              <a:t>, </a:t>
            </a:r>
            <a:r>
              <a:rPr lang="ja-JP" altLang="en-US" sz="1400"/>
              <a:t>琵琶湖</a:t>
            </a:r>
            <a:r>
              <a:rPr lang="en-US" altLang="ja-JP" sz="1400"/>
              <a:t>, </a:t>
            </a:r>
            <a:r>
              <a:rPr lang="ja-JP" altLang="en-US" sz="1400"/>
              <a:t>ベルゲン</a:t>
            </a:r>
            <a:r>
              <a:rPr lang="en-US" altLang="ja-JP" sz="1400"/>
              <a:t>, </a:t>
            </a:r>
            <a:r>
              <a:rPr lang="ja-JP" altLang="en-US" sz="1400"/>
              <a:t>ワシントン</a:t>
            </a:r>
            <a:r>
              <a:rPr lang="en-US" altLang="ja-JP" sz="1400"/>
              <a:t>, </a:t>
            </a:r>
            <a:r>
              <a:rPr lang="ja-JP" altLang="en-US" sz="1400"/>
              <a:t>マンチェスター</a:t>
            </a:r>
            <a:r>
              <a:rPr lang="en-US" altLang="ja-JP" sz="1400"/>
              <a:t>, </a:t>
            </a:r>
            <a:r>
              <a:rPr lang="en" altLang="ja-JP" sz="1400"/>
              <a:t>ATP</a:t>
            </a:r>
          </a:p>
        </p:txBody>
      </p:sp>
      <p:sp>
        <p:nvSpPr>
          <p:cNvPr id="14" name="テキスト ボックス 13">
            <a:extLst>
              <a:ext uri="{FF2B5EF4-FFF2-40B4-BE49-F238E27FC236}">
                <a16:creationId xmlns:a16="http://schemas.microsoft.com/office/drawing/2014/main" id="{C94994D4-CB44-7FED-88F4-CD690297D941}"/>
              </a:ext>
            </a:extLst>
          </p:cNvPr>
          <p:cNvSpPr txBox="1"/>
          <p:nvPr/>
        </p:nvSpPr>
        <p:spPr>
          <a:xfrm>
            <a:off x="6674732" y="4507916"/>
            <a:ext cx="4570482" cy="369332"/>
          </a:xfrm>
          <a:prstGeom prst="rect">
            <a:avLst/>
          </a:prstGeom>
          <a:noFill/>
        </p:spPr>
        <p:txBody>
          <a:bodyPr wrap="none" rtlCol="0">
            <a:spAutoFit/>
          </a:bodyPr>
          <a:lstStyle/>
          <a:p>
            <a:r>
              <a:rPr kumimoji="1" lang="ja-JP" altLang="en-US"/>
              <a:t>地名でないと判定された場合があるターム</a:t>
            </a:r>
          </a:p>
        </p:txBody>
      </p:sp>
      <p:sp>
        <p:nvSpPr>
          <p:cNvPr id="3" name="テキスト ボックス 2">
            <a:extLst>
              <a:ext uri="{FF2B5EF4-FFF2-40B4-BE49-F238E27FC236}">
                <a16:creationId xmlns:a16="http://schemas.microsoft.com/office/drawing/2014/main" id="{1AC3567B-D659-985B-5383-1843046D4AA0}"/>
              </a:ext>
            </a:extLst>
          </p:cNvPr>
          <p:cNvSpPr txBox="1"/>
          <p:nvPr/>
        </p:nvSpPr>
        <p:spPr>
          <a:xfrm>
            <a:off x="1442454" y="6440076"/>
            <a:ext cx="3707085" cy="276999"/>
          </a:xfrm>
          <a:prstGeom prst="rect">
            <a:avLst/>
          </a:prstGeom>
          <a:noFill/>
        </p:spPr>
        <p:txBody>
          <a:bodyPr wrap="square" rtlCol="0">
            <a:spAutoFit/>
          </a:bodyPr>
          <a:lstStyle/>
          <a:p>
            <a:r>
              <a:rPr kumimoji="1" lang="en-US" altLang="ja-JP" sz="1200" dirty="0"/>
              <a:t>※</a:t>
            </a:r>
            <a:r>
              <a:rPr kumimoji="1" lang="ja-JP" altLang="en-US" sz="1200"/>
              <a:t>決定は</a:t>
            </a:r>
            <a:r>
              <a:rPr kumimoji="1" lang="en-US" altLang="ja-JP" sz="1200" dirty="0"/>
              <a:t>2</a:t>
            </a:r>
            <a:r>
              <a:rPr kumimoji="1" lang="ja-JP" altLang="en-US" sz="1200"/>
              <a:t>種の</a:t>
            </a:r>
            <a:r>
              <a:rPr kumimoji="1" lang="en-US" altLang="ja-JP" sz="1200" dirty="0"/>
              <a:t>AI</a:t>
            </a:r>
            <a:r>
              <a:rPr kumimoji="1" lang="ja-JP" altLang="en-US" sz="1200"/>
              <a:t>、</a:t>
            </a:r>
            <a:r>
              <a:rPr kumimoji="1" lang="en-US" altLang="ja-JP" sz="1200" dirty="0"/>
              <a:t>3</a:t>
            </a:r>
            <a:r>
              <a:rPr kumimoji="1" lang="ja-JP" altLang="en-US" sz="1200"/>
              <a:t>名の人による各サイトの多数決</a:t>
            </a:r>
            <a:endParaRPr kumimoji="1" lang="en-US" altLang="ja-JP" sz="1200" dirty="0"/>
          </a:p>
        </p:txBody>
      </p:sp>
      <p:sp>
        <p:nvSpPr>
          <p:cNvPr id="7" name="テキスト ボックス 6">
            <a:extLst>
              <a:ext uri="{FF2B5EF4-FFF2-40B4-BE49-F238E27FC236}">
                <a16:creationId xmlns:a16="http://schemas.microsoft.com/office/drawing/2014/main" id="{EBC72453-F203-9733-C732-74FCECACCD22}"/>
              </a:ext>
            </a:extLst>
          </p:cNvPr>
          <p:cNvSpPr txBox="1"/>
          <p:nvPr/>
        </p:nvSpPr>
        <p:spPr>
          <a:xfrm>
            <a:off x="6731881" y="585694"/>
            <a:ext cx="2723823" cy="369332"/>
          </a:xfrm>
          <a:prstGeom prst="rect">
            <a:avLst/>
          </a:prstGeom>
          <a:noFill/>
        </p:spPr>
        <p:txBody>
          <a:bodyPr wrap="none" rtlCol="0">
            <a:spAutoFit/>
          </a:bodyPr>
          <a:lstStyle/>
          <a:p>
            <a:r>
              <a:rPr kumimoji="1" lang="ja-JP" altLang="en-US"/>
              <a:t>地名が出現した報告書数</a:t>
            </a:r>
          </a:p>
        </p:txBody>
      </p:sp>
      <p:pic>
        <p:nvPicPr>
          <p:cNvPr id="15" name="図 14">
            <a:extLst>
              <a:ext uri="{FF2B5EF4-FFF2-40B4-BE49-F238E27FC236}">
                <a16:creationId xmlns:a16="http://schemas.microsoft.com/office/drawing/2014/main" id="{F9380533-B022-AD19-01E0-1646732B0451}"/>
              </a:ext>
            </a:extLst>
          </p:cNvPr>
          <p:cNvPicPr>
            <a:picLocks noChangeAspect="1"/>
          </p:cNvPicPr>
          <p:nvPr/>
        </p:nvPicPr>
        <p:blipFill>
          <a:blip r:embed="rId4"/>
          <a:stretch>
            <a:fillRect/>
          </a:stretch>
        </p:blipFill>
        <p:spPr>
          <a:xfrm>
            <a:off x="7003278" y="997265"/>
            <a:ext cx="1185501" cy="750118"/>
          </a:xfrm>
          <a:prstGeom prst="rect">
            <a:avLst/>
          </a:prstGeom>
        </p:spPr>
      </p:pic>
    </p:spTree>
    <p:extLst>
      <p:ext uri="{BB962C8B-B14F-4D97-AF65-F5344CB8AC3E}">
        <p14:creationId xmlns:p14="http://schemas.microsoft.com/office/powerpoint/2010/main" val="2082332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9DA51-A403-7873-5F7E-B6D6929B0E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C6B37F8-D551-CB67-7D8F-C28C1E761DA6}"/>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まとめ</a:t>
            </a:r>
          </a:p>
        </p:txBody>
      </p:sp>
      <p:sp>
        <p:nvSpPr>
          <p:cNvPr id="3" name="テキスト ボックス 2">
            <a:extLst>
              <a:ext uri="{FF2B5EF4-FFF2-40B4-BE49-F238E27FC236}">
                <a16:creationId xmlns:a16="http://schemas.microsoft.com/office/drawing/2014/main" id="{ECA3ACB1-7262-E3EE-C4CE-FD8716E60AC9}"/>
              </a:ext>
            </a:extLst>
          </p:cNvPr>
          <p:cNvSpPr txBox="1"/>
          <p:nvPr/>
        </p:nvSpPr>
        <p:spPr>
          <a:xfrm>
            <a:off x="766119" y="816415"/>
            <a:ext cx="3896497" cy="646331"/>
          </a:xfrm>
          <a:prstGeom prst="rect">
            <a:avLst/>
          </a:prstGeom>
          <a:noFill/>
          <a:ln w="12700">
            <a:solidFill>
              <a:schemeClr val="tx1"/>
            </a:solidFill>
          </a:ln>
        </p:spPr>
        <p:txBody>
          <a:bodyPr wrap="square" rtlCol="0">
            <a:spAutoFit/>
          </a:bodyPr>
          <a:lstStyle/>
          <a:p>
            <a:r>
              <a:rPr lang="en-US" altLang="ja-JP"/>
              <a:t>NER</a:t>
            </a:r>
            <a:r>
              <a:rPr lang="ja-JP" altLang="en-US"/>
              <a:t>と判定との差が大きい</a:t>
            </a:r>
            <a:endParaRPr lang="en-US" altLang="ja-JP"/>
          </a:p>
          <a:p>
            <a:pPr marL="285750" indent="-285750">
              <a:buFont typeface="Arial" panose="020B0604020202020204" pitchFamily="34" charset="0"/>
              <a:buChar char="•"/>
            </a:pPr>
            <a:r>
              <a:rPr kumimoji="1" lang="en-US" altLang="ja-JP"/>
              <a:t>7%~34%</a:t>
            </a:r>
          </a:p>
        </p:txBody>
      </p:sp>
      <p:sp>
        <p:nvSpPr>
          <p:cNvPr id="7" name="テキスト ボックス 6">
            <a:extLst>
              <a:ext uri="{FF2B5EF4-FFF2-40B4-BE49-F238E27FC236}">
                <a16:creationId xmlns:a16="http://schemas.microsoft.com/office/drawing/2014/main" id="{9E2E33CE-9C6A-5290-EC10-6F434CA0EA20}"/>
              </a:ext>
            </a:extLst>
          </p:cNvPr>
          <p:cNvSpPr txBox="1"/>
          <p:nvPr/>
        </p:nvSpPr>
        <p:spPr>
          <a:xfrm>
            <a:off x="6033408" y="824566"/>
            <a:ext cx="5793112" cy="2585323"/>
          </a:xfrm>
          <a:prstGeom prst="rect">
            <a:avLst/>
          </a:prstGeom>
          <a:noFill/>
        </p:spPr>
        <p:txBody>
          <a:bodyPr wrap="square" rtlCol="0">
            <a:spAutoFit/>
          </a:bodyPr>
          <a:lstStyle/>
          <a:p>
            <a:r>
              <a:rPr kumimoji="1" lang="ja-JP" altLang="en-US"/>
              <a:t>日本語</a:t>
            </a:r>
            <a:r>
              <a:rPr kumimoji="1" lang="en-US" altLang="ja-JP" dirty="0"/>
              <a:t>NER</a:t>
            </a:r>
            <a:r>
              <a:rPr kumimoji="1" lang="ja-JP" altLang="en-US"/>
              <a:t>の</a:t>
            </a:r>
            <a:r>
              <a:rPr kumimoji="1" lang="en-US" altLang="ja-JP" dirty="0"/>
              <a:t>AI</a:t>
            </a:r>
            <a:r>
              <a:rPr kumimoji="1" lang="ja-JP" altLang="en-US"/>
              <a:t>利用に関して</a:t>
            </a:r>
            <a:endParaRPr kumimoji="1" lang="en-US" altLang="ja-JP" dirty="0"/>
          </a:p>
          <a:p>
            <a:pPr marL="285750" indent="-285750">
              <a:buFont typeface="Arial" panose="020B0604020202020204" pitchFamily="34" charset="0"/>
              <a:buChar char="•"/>
            </a:pPr>
            <a:r>
              <a:rPr kumimoji="1" lang="ja-JP" altLang="en-US"/>
              <a:t>形態素解析のみでの解決は難しい場合に対応できる可能性はある</a:t>
            </a:r>
            <a:endParaRPr kumimoji="1" lang="en-US" altLang="ja-JP" dirty="0"/>
          </a:p>
          <a:p>
            <a:pPr marL="285750" indent="-285750">
              <a:buFont typeface="Arial" panose="020B0604020202020204" pitchFamily="34" charset="0"/>
              <a:buChar char="•"/>
            </a:pPr>
            <a:r>
              <a:rPr lang="ja-JP" altLang="en-US"/>
              <a:t>非常に細やかなルールの設定とエキスパートとしての訓練が必要であることを示唆している</a:t>
            </a:r>
            <a:endParaRPr lang="en-US" altLang="ja-JP" dirty="0"/>
          </a:p>
          <a:p>
            <a:endParaRPr lang="en-US" altLang="ja-JP" dirty="0"/>
          </a:p>
          <a:p>
            <a:r>
              <a:rPr lang="en-US" altLang="ja-JP" dirty="0"/>
              <a:t>AI</a:t>
            </a:r>
            <a:r>
              <a:rPr lang="ja-JP" altLang="en-US"/>
              <a:t>特有の問題</a:t>
            </a:r>
          </a:p>
          <a:p>
            <a:pPr marL="285750" indent="-285750">
              <a:buFont typeface="Arial" panose="020B0604020202020204" pitchFamily="34" charset="0"/>
              <a:buChar char="•"/>
            </a:pPr>
            <a:r>
              <a:rPr kumimoji="1" lang="ja-JP" altLang="en-US"/>
              <a:t>本研究は、</a:t>
            </a:r>
            <a:r>
              <a:rPr kumimoji="1" lang="en-US" altLang="ja-JP" dirty="0"/>
              <a:t>AI</a:t>
            </a:r>
            <a:r>
              <a:rPr kumimoji="1" lang="ja-JP" altLang="en-US"/>
              <a:t>に関しては判定よりも「出力形式」が問題となったケースであった</a:t>
            </a:r>
          </a:p>
        </p:txBody>
      </p:sp>
      <p:sp>
        <p:nvSpPr>
          <p:cNvPr id="9" name="テキスト ボックス 8">
            <a:extLst>
              <a:ext uri="{FF2B5EF4-FFF2-40B4-BE49-F238E27FC236}">
                <a16:creationId xmlns:a16="http://schemas.microsoft.com/office/drawing/2014/main" id="{E1928388-C9F5-89BD-8736-99A9A7963599}"/>
              </a:ext>
            </a:extLst>
          </p:cNvPr>
          <p:cNvSpPr txBox="1"/>
          <p:nvPr/>
        </p:nvSpPr>
        <p:spPr>
          <a:xfrm>
            <a:off x="766119" y="1701644"/>
            <a:ext cx="3896497" cy="923330"/>
          </a:xfrm>
          <a:prstGeom prst="rect">
            <a:avLst/>
          </a:prstGeom>
          <a:noFill/>
          <a:ln w="12700">
            <a:solidFill>
              <a:schemeClr val="tx1"/>
            </a:solidFill>
          </a:ln>
        </p:spPr>
        <p:txBody>
          <a:bodyPr wrap="square" rtlCol="0">
            <a:spAutoFit/>
          </a:bodyPr>
          <a:lstStyle/>
          <a:p>
            <a:r>
              <a:rPr lang="ja-JP" altLang="en-US"/>
              <a:t>判定（者）間でも差が大きい</a:t>
            </a:r>
            <a:endParaRPr lang="en-US" altLang="ja-JP"/>
          </a:p>
          <a:p>
            <a:pPr marL="285750" indent="-285750">
              <a:buFont typeface="Arial" panose="020B0604020202020204" pitchFamily="34" charset="0"/>
              <a:buChar char="•"/>
            </a:pPr>
            <a:r>
              <a:rPr lang="ja-JP" altLang="en-US"/>
              <a:t>最大</a:t>
            </a:r>
            <a:r>
              <a:rPr lang="en-US" altLang="ja-JP"/>
              <a:t>34%</a:t>
            </a:r>
          </a:p>
          <a:p>
            <a:pPr marL="285750" indent="-285750">
              <a:buFont typeface="Arial" panose="020B0604020202020204" pitchFamily="34" charset="0"/>
              <a:buChar char="•"/>
            </a:pPr>
            <a:r>
              <a:rPr lang="ja-JP" altLang="en-US"/>
              <a:t>人と人でも</a:t>
            </a:r>
            <a:r>
              <a:rPr lang="en-US" altLang="ja-JP"/>
              <a:t>7%</a:t>
            </a:r>
          </a:p>
        </p:txBody>
      </p:sp>
      <p:sp>
        <p:nvSpPr>
          <p:cNvPr id="11" name="テキスト ボックス 10">
            <a:extLst>
              <a:ext uri="{FF2B5EF4-FFF2-40B4-BE49-F238E27FC236}">
                <a16:creationId xmlns:a16="http://schemas.microsoft.com/office/drawing/2014/main" id="{F601E439-4975-999E-D8D5-C26D7DD78E5A}"/>
              </a:ext>
            </a:extLst>
          </p:cNvPr>
          <p:cNvSpPr txBox="1"/>
          <p:nvPr/>
        </p:nvSpPr>
        <p:spPr>
          <a:xfrm>
            <a:off x="766119" y="2863872"/>
            <a:ext cx="3896496" cy="646331"/>
          </a:xfrm>
          <a:prstGeom prst="rect">
            <a:avLst/>
          </a:prstGeom>
          <a:noFill/>
          <a:ln w="12700">
            <a:solidFill>
              <a:schemeClr val="tx1"/>
            </a:solidFill>
          </a:ln>
        </p:spPr>
        <p:txBody>
          <a:bodyPr wrap="square" rtlCol="0">
            <a:spAutoFit/>
          </a:bodyPr>
          <a:lstStyle/>
          <a:p>
            <a:r>
              <a:rPr lang="en-US" altLang="ja-JP"/>
              <a:t>AI</a:t>
            </a:r>
            <a:r>
              <a:rPr lang="ja-JP" altLang="en-US"/>
              <a:t>の出力形式が課題</a:t>
            </a:r>
            <a:endParaRPr lang="en-US" altLang="ja-JP"/>
          </a:p>
          <a:p>
            <a:pPr marL="285750" indent="-285750">
              <a:buFont typeface="Arial" panose="020B0604020202020204" pitchFamily="34" charset="0"/>
              <a:buChar char="•"/>
            </a:pPr>
            <a:r>
              <a:rPr lang="ja-JP" altLang="en-US"/>
              <a:t>最大でも</a:t>
            </a:r>
            <a:r>
              <a:rPr lang="en-US" altLang="ja-JP"/>
              <a:t>75%</a:t>
            </a:r>
            <a:r>
              <a:rPr lang="ja-JP" altLang="en-US"/>
              <a:t>の適正率</a:t>
            </a:r>
            <a:endParaRPr lang="en-US" altLang="ja-JP"/>
          </a:p>
        </p:txBody>
      </p:sp>
      <p:sp>
        <p:nvSpPr>
          <p:cNvPr id="12" name="テキスト ボックス 11">
            <a:extLst>
              <a:ext uri="{FF2B5EF4-FFF2-40B4-BE49-F238E27FC236}">
                <a16:creationId xmlns:a16="http://schemas.microsoft.com/office/drawing/2014/main" id="{8880220B-4CFD-DE88-C97E-37E5DBC99497}"/>
              </a:ext>
            </a:extLst>
          </p:cNvPr>
          <p:cNvSpPr txBox="1"/>
          <p:nvPr/>
        </p:nvSpPr>
        <p:spPr>
          <a:xfrm>
            <a:off x="766119" y="3749101"/>
            <a:ext cx="3896496" cy="1200329"/>
          </a:xfrm>
          <a:prstGeom prst="rect">
            <a:avLst/>
          </a:prstGeom>
          <a:noFill/>
          <a:ln w="12700">
            <a:solidFill>
              <a:schemeClr val="tx1"/>
            </a:solidFill>
          </a:ln>
        </p:spPr>
        <p:txBody>
          <a:bodyPr wrap="square" rtlCol="0">
            <a:spAutoFit/>
          </a:bodyPr>
          <a:lstStyle/>
          <a:p>
            <a:r>
              <a:rPr lang="ja-JP" altLang="en-US"/>
              <a:t>指標（特徴化）の可能性</a:t>
            </a:r>
            <a:endParaRPr lang="en-US" altLang="ja-JP"/>
          </a:p>
          <a:p>
            <a:pPr marL="285750" indent="-285750">
              <a:buFont typeface="Arial" panose="020B0604020202020204" pitchFamily="34" charset="0"/>
              <a:buChar char="•"/>
            </a:pPr>
            <a:r>
              <a:rPr lang="ja-JP" altLang="en-US"/>
              <a:t>地名決定の精度が低いことを考慮しても大学ごとの特徴を捉えているように見える</a:t>
            </a:r>
            <a:endParaRPr lang="en-US" altLang="ja-JP"/>
          </a:p>
        </p:txBody>
      </p:sp>
      <p:sp>
        <p:nvSpPr>
          <p:cNvPr id="4" name="テキスト ボックス 3">
            <a:extLst>
              <a:ext uri="{FF2B5EF4-FFF2-40B4-BE49-F238E27FC236}">
                <a16:creationId xmlns:a16="http://schemas.microsoft.com/office/drawing/2014/main" id="{2A1EFCD4-D5E0-2B30-16D3-0C40E7A69E9A}"/>
              </a:ext>
            </a:extLst>
          </p:cNvPr>
          <p:cNvSpPr txBox="1"/>
          <p:nvPr/>
        </p:nvSpPr>
        <p:spPr>
          <a:xfrm>
            <a:off x="766119" y="5188328"/>
            <a:ext cx="3896496" cy="923330"/>
          </a:xfrm>
          <a:prstGeom prst="rect">
            <a:avLst/>
          </a:prstGeom>
          <a:noFill/>
          <a:ln w="12700">
            <a:solidFill>
              <a:schemeClr val="tx1"/>
            </a:solidFill>
          </a:ln>
        </p:spPr>
        <p:txBody>
          <a:bodyPr wrap="square" rtlCol="0">
            <a:spAutoFit/>
          </a:bodyPr>
          <a:lstStyle/>
          <a:p>
            <a:r>
              <a:rPr kumimoji="1" lang="ja-JP" altLang="en-US"/>
              <a:t>本研究の方法では</a:t>
            </a:r>
            <a:r>
              <a:rPr kumimoji="1" lang="en-US" altLang="ja-JP"/>
              <a:t>NER</a:t>
            </a:r>
            <a:r>
              <a:rPr kumimoji="1" lang="ja-JP" altLang="en-US"/>
              <a:t>にて抽出されない固有表現のリカバリには対応できない</a:t>
            </a:r>
          </a:p>
        </p:txBody>
      </p:sp>
    </p:spTree>
    <p:extLst>
      <p:ext uri="{BB962C8B-B14F-4D97-AF65-F5344CB8AC3E}">
        <p14:creationId xmlns:p14="http://schemas.microsoft.com/office/powerpoint/2010/main" val="1349135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C3CAF5-F22B-1677-3DB3-86998CD82432}"/>
              </a:ext>
            </a:extLst>
          </p:cNvPr>
          <p:cNvSpPr>
            <a:spLocks noGrp="1"/>
          </p:cNvSpPr>
          <p:nvPr>
            <p:ph type="title"/>
          </p:nvPr>
        </p:nvSpPr>
        <p:spPr>
          <a:xfrm>
            <a:off x="838200" y="2766218"/>
            <a:ext cx="10515600" cy="1325563"/>
          </a:xfrm>
        </p:spPr>
        <p:txBody>
          <a:bodyPr/>
          <a:lstStyle/>
          <a:p>
            <a:pPr algn="ctr"/>
            <a:r>
              <a:rPr kumimoji="1" lang="ja-JP" altLang="en-US"/>
              <a:t>以下、旧スライド</a:t>
            </a:r>
          </a:p>
        </p:txBody>
      </p:sp>
    </p:spTree>
    <p:extLst>
      <p:ext uri="{BB962C8B-B14F-4D97-AF65-F5344CB8AC3E}">
        <p14:creationId xmlns:p14="http://schemas.microsoft.com/office/powerpoint/2010/main" val="4055154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7D6E2-4807-6D49-E579-50570FE5A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839614-20CC-C866-2B67-588804CBF7F5}"/>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背景（</a:t>
            </a:r>
            <a:r>
              <a:rPr kumimoji="1" lang="en-US" altLang="ja-JP" sz="3600" dirty="0"/>
              <a:t>1</a:t>
            </a:r>
            <a:r>
              <a:rPr kumimoji="1" lang="ja-JP" altLang="en-US" sz="3600"/>
              <a:t>）</a:t>
            </a:r>
          </a:p>
        </p:txBody>
      </p:sp>
      <p:sp>
        <p:nvSpPr>
          <p:cNvPr id="5" name="テキスト ボックス 4">
            <a:extLst>
              <a:ext uri="{FF2B5EF4-FFF2-40B4-BE49-F238E27FC236}">
                <a16:creationId xmlns:a16="http://schemas.microsoft.com/office/drawing/2014/main" id="{B442A27C-01CD-E120-DE0D-C0869FC0E90C}"/>
              </a:ext>
            </a:extLst>
          </p:cNvPr>
          <p:cNvSpPr txBox="1"/>
          <p:nvPr/>
        </p:nvSpPr>
        <p:spPr>
          <a:xfrm>
            <a:off x="-1" y="577517"/>
            <a:ext cx="12192000" cy="4247317"/>
          </a:xfrm>
          <a:prstGeom prst="rect">
            <a:avLst/>
          </a:prstGeom>
          <a:noFill/>
        </p:spPr>
        <p:txBody>
          <a:bodyPr wrap="square" rtlCol="0">
            <a:spAutoFit/>
          </a:bodyPr>
          <a:lstStyle/>
          <a:p>
            <a:r>
              <a:rPr lang="ja-JP" altLang="en-US" b="1"/>
              <a:t>◾️地域課題の重要性</a:t>
            </a:r>
            <a:endParaRPr lang="en-US" altLang="ja-JP" b="1" dirty="0"/>
          </a:p>
          <a:p>
            <a:r>
              <a:rPr lang="ja-JP" altLang="en-US"/>
              <a:t>地域の労働人口減少等により地域課題の解決が困難化</a:t>
            </a:r>
            <a:endParaRPr lang="en-US" altLang="ja-JP" dirty="0"/>
          </a:p>
          <a:p>
            <a:endParaRPr lang="en-US" altLang="ja-JP" dirty="0"/>
          </a:p>
          <a:p>
            <a:r>
              <a:rPr lang="ja-JP" altLang="en-US" b="1"/>
              <a:t>◾️（地方）大学への期待</a:t>
            </a:r>
            <a:endParaRPr lang="en-US" altLang="ja-JP" b="1" dirty="0"/>
          </a:p>
          <a:p>
            <a:r>
              <a:rPr lang="ja-JP" altLang="en-US"/>
              <a:t>文部科学省をはじめとする機関や地域行政等からの大学への期待</a:t>
            </a:r>
            <a:endParaRPr lang="en-US" altLang="ja-JP" dirty="0"/>
          </a:p>
          <a:p>
            <a:endParaRPr lang="en-US" altLang="ja-JP" dirty="0"/>
          </a:p>
          <a:p>
            <a:r>
              <a:rPr lang="ja-JP" altLang="en-US" b="1"/>
              <a:t>◾️大学側の対応</a:t>
            </a:r>
            <a:endParaRPr lang="en-US" altLang="ja-JP" b="1" dirty="0"/>
          </a:p>
          <a:p>
            <a:r>
              <a:rPr lang="ja-JP" altLang="en-US"/>
              <a:t>実際、多くの大学が自身の存在意義を示すため、地域に根ざした研究を意識している</a:t>
            </a:r>
            <a:endParaRPr lang="en-US" altLang="ja-JP" dirty="0"/>
          </a:p>
          <a:p>
            <a:endParaRPr lang="en-US" altLang="ja-JP" dirty="0"/>
          </a:p>
          <a:p>
            <a:r>
              <a:rPr lang="ja-JP" altLang="en-US" b="1"/>
              <a:t>◾️評価視点</a:t>
            </a:r>
            <a:endParaRPr lang="en-US" altLang="ja-JP" b="1" dirty="0"/>
          </a:p>
          <a:p>
            <a:r>
              <a:rPr lang="ja-JP" altLang="en-US"/>
              <a:t>地域課題への取り組み、解決に関する計量的な視点は不足している</a:t>
            </a:r>
            <a:endParaRPr lang="en-US" altLang="ja-JP" dirty="0"/>
          </a:p>
          <a:p>
            <a:endParaRPr lang="en-US" altLang="ja-JP" dirty="0"/>
          </a:p>
          <a:p>
            <a:r>
              <a:rPr lang="ja-JP" altLang="en-US" b="1"/>
              <a:t>◾️鹿児島大学では</a:t>
            </a:r>
            <a:endParaRPr lang="en-US" altLang="ja-JP" b="1" dirty="0"/>
          </a:p>
          <a:p>
            <a:r>
              <a:rPr lang="ja-JP" altLang="en-US"/>
              <a:t>すでに地域に根ざした研究を行ってきた本学では、より実効な地域課題解決のため、地域課題にかかる計量化・評価の仕組みを整備する</a:t>
            </a:r>
          </a:p>
        </p:txBody>
      </p:sp>
      <p:cxnSp>
        <p:nvCxnSpPr>
          <p:cNvPr id="4" name="直線コネクタ 3">
            <a:extLst>
              <a:ext uri="{FF2B5EF4-FFF2-40B4-BE49-F238E27FC236}">
                <a16:creationId xmlns:a16="http://schemas.microsoft.com/office/drawing/2014/main" id="{BE82C9D2-362F-3FF9-356E-5D6E5B6E2AAA}"/>
              </a:ext>
            </a:extLst>
          </p:cNvPr>
          <p:cNvCxnSpPr/>
          <p:nvPr/>
        </p:nvCxnSpPr>
        <p:spPr>
          <a:xfrm flipV="1">
            <a:off x="515155" y="1088265"/>
            <a:ext cx="9910293" cy="465571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463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0CEB-E2CC-C15E-0575-4D62545A4B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FC559C-4174-6CFC-51E5-4526D91E919E}"/>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背景（</a:t>
            </a:r>
            <a:r>
              <a:rPr lang="en-US" altLang="ja-JP" sz="3600" dirty="0"/>
              <a:t>2</a:t>
            </a:r>
            <a:r>
              <a:rPr kumimoji="1" lang="ja-JP" altLang="en-US" sz="3600"/>
              <a:t>）</a:t>
            </a:r>
          </a:p>
        </p:txBody>
      </p:sp>
      <p:sp>
        <p:nvSpPr>
          <p:cNvPr id="5" name="テキスト ボックス 4">
            <a:extLst>
              <a:ext uri="{FF2B5EF4-FFF2-40B4-BE49-F238E27FC236}">
                <a16:creationId xmlns:a16="http://schemas.microsoft.com/office/drawing/2014/main" id="{A20BBFE0-DC1E-AF94-DBFC-1FC845E3DB69}"/>
              </a:ext>
            </a:extLst>
          </p:cNvPr>
          <p:cNvSpPr txBox="1"/>
          <p:nvPr/>
        </p:nvSpPr>
        <p:spPr>
          <a:xfrm>
            <a:off x="-1" y="577517"/>
            <a:ext cx="12192000" cy="2031325"/>
          </a:xfrm>
          <a:prstGeom prst="rect">
            <a:avLst/>
          </a:prstGeom>
          <a:noFill/>
        </p:spPr>
        <p:txBody>
          <a:bodyPr wrap="square" rtlCol="0">
            <a:spAutoFit/>
          </a:bodyPr>
          <a:lstStyle/>
          <a:p>
            <a:r>
              <a:rPr lang="ja-JP" altLang="en-US" b="1"/>
              <a:t>◾️未来共創オープンサイエンス推進事業－地域課題解決型「</a:t>
            </a:r>
            <a:r>
              <a:rPr lang="en" altLang="ja-JP" b="1" dirty="0"/>
              <a:t>KAGOSHIMA </a:t>
            </a:r>
            <a:r>
              <a:rPr lang="ja-JP" altLang="en-US" b="1"/>
              <a:t>モデル」の形成－</a:t>
            </a:r>
            <a:endParaRPr lang="en-US" altLang="ja-JP" b="1" dirty="0"/>
          </a:p>
          <a:p>
            <a:r>
              <a:rPr lang="ja-JP" altLang="en-US"/>
              <a:t>地域課題解決には複数分野（複数学部・部局）の協調が必須であり、オープンサイエンス研究開発部門がこのための有機的なハブとなると同時に、「データ」を中心とするシステム連携を創出する</a:t>
            </a:r>
            <a:endParaRPr lang="en-US" altLang="ja-JP" dirty="0"/>
          </a:p>
          <a:p>
            <a:endParaRPr lang="en-US" altLang="ja-JP" dirty="0"/>
          </a:p>
          <a:p>
            <a:r>
              <a:rPr lang="ja-JP" altLang="en-US" b="1"/>
              <a:t>◾️鹿児島大学知識基盤システム</a:t>
            </a:r>
            <a:endParaRPr lang="en-US" altLang="ja-JP" b="1" dirty="0"/>
          </a:p>
          <a:p>
            <a:r>
              <a:rPr lang="ja-JP" altLang="en-US"/>
              <a:t>オープンサイエンス研究開発部門は、「地域課題」や「データ」だけでなく、研究リソースやファシリティ情報までを結びつけた、研究活動計量・評価の基盤となる「鹿児島大学知識基盤システム」の構築にチャレンジする</a:t>
            </a:r>
            <a:endParaRPr lang="en-US" altLang="ja-JP" dirty="0"/>
          </a:p>
        </p:txBody>
      </p:sp>
      <p:sp>
        <p:nvSpPr>
          <p:cNvPr id="76" name="正方形/長方形 75">
            <a:extLst>
              <a:ext uri="{FF2B5EF4-FFF2-40B4-BE49-F238E27FC236}">
                <a16:creationId xmlns:a16="http://schemas.microsoft.com/office/drawing/2014/main" id="{3BB246FF-B7B0-8D17-CC3C-BCD6BC927252}"/>
              </a:ext>
            </a:extLst>
          </p:cNvPr>
          <p:cNvSpPr/>
          <p:nvPr/>
        </p:nvSpPr>
        <p:spPr>
          <a:xfrm>
            <a:off x="2406513" y="2861146"/>
            <a:ext cx="6618168" cy="3751764"/>
          </a:xfrm>
          <a:prstGeom prst="rect">
            <a:avLst/>
          </a:prstGeom>
          <a:solidFill>
            <a:schemeClr val="accent2">
              <a:alpha val="3345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正方形/長方形 76">
            <a:extLst>
              <a:ext uri="{FF2B5EF4-FFF2-40B4-BE49-F238E27FC236}">
                <a16:creationId xmlns:a16="http://schemas.microsoft.com/office/drawing/2014/main" id="{35BCE917-A39F-7308-A76B-A535E09A503A}"/>
              </a:ext>
            </a:extLst>
          </p:cNvPr>
          <p:cNvSpPr/>
          <p:nvPr/>
        </p:nvSpPr>
        <p:spPr>
          <a:xfrm>
            <a:off x="2496500" y="3014173"/>
            <a:ext cx="2949627" cy="3071465"/>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円/楕円 77">
            <a:extLst>
              <a:ext uri="{FF2B5EF4-FFF2-40B4-BE49-F238E27FC236}">
                <a16:creationId xmlns:a16="http://schemas.microsoft.com/office/drawing/2014/main" id="{6864CFE5-FA8D-AC50-9202-0518BFB5E20D}"/>
              </a:ext>
            </a:extLst>
          </p:cNvPr>
          <p:cNvSpPr/>
          <p:nvPr/>
        </p:nvSpPr>
        <p:spPr>
          <a:xfrm>
            <a:off x="4508679" y="5265280"/>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円/楕円 78">
            <a:extLst>
              <a:ext uri="{FF2B5EF4-FFF2-40B4-BE49-F238E27FC236}">
                <a16:creationId xmlns:a16="http://schemas.microsoft.com/office/drawing/2014/main" id="{271DE3B5-8E0E-6340-7672-4B3169F7F859}"/>
              </a:ext>
            </a:extLst>
          </p:cNvPr>
          <p:cNvSpPr/>
          <p:nvPr/>
        </p:nvSpPr>
        <p:spPr>
          <a:xfrm>
            <a:off x="4500994" y="3797520"/>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テキスト ボックス 79">
            <a:extLst>
              <a:ext uri="{FF2B5EF4-FFF2-40B4-BE49-F238E27FC236}">
                <a16:creationId xmlns:a16="http://schemas.microsoft.com/office/drawing/2014/main" id="{940D75DE-F8D0-54C7-8F4A-0D89348425EE}"/>
              </a:ext>
            </a:extLst>
          </p:cNvPr>
          <p:cNvSpPr txBox="1"/>
          <p:nvPr/>
        </p:nvSpPr>
        <p:spPr>
          <a:xfrm>
            <a:off x="4408505" y="5482353"/>
            <a:ext cx="415498" cy="230832"/>
          </a:xfrm>
          <a:prstGeom prst="rect">
            <a:avLst/>
          </a:prstGeom>
          <a:noFill/>
        </p:spPr>
        <p:txBody>
          <a:bodyPr wrap="none" rtlCol="0">
            <a:spAutoFit/>
          </a:bodyPr>
          <a:lstStyle/>
          <a:p>
            <a:r>
              <a:rPr kumimoji="1" lang="ja-JP" altLang="en-US" sz="900" b="1"/>
              <a:t>論文</a:t>
            </a:r>
          </a:p>
        </p:txBody>
      </p:sp>
      <p:sp>
        <p:nvSpPr>
          <p:cNvPr id="81" name="テキスト ボックス 80">
            <a:extLst>
              <a:ext uri="{FF2B5EF4-FFF2-40B4-BE49-F238E27FC236}">
                <a16:creationId xmlns:a16="http://schemas.microsoft.com/office/drawing/2014/main" id="{C306EF7F-75AD-E5A4-B25F-5C80CAB6A632}"/>
              </a:ext>
            </a:extLst>
          </p:cNvPr>
          <p:cNvSpPr txBox="1"/>
          <p:nvPr/>
        </p:nvSpPr>
        <p:spPr>
          <a:xfrm>
            <a:off x="4347033" y="4032839"/>
            <a:ext cx="530915" cy="230832"/>
          </a:xfrm>
          <a:prstGeom prst="rect">
            <a:avLst/>
          </a:prstGeom>
          <a:noFill/>
        </p:spPr>
        <p:txBody>
          <a:bodyPr wrap="none" rtlCol="0">
            <a:spAutoFit/>
          </a:bodyPr>
          <a:lstStyle/>
          <a:p>
            <a:r>
              <a:rPr lang="ja-JP" altLang="en-US" sz="900" b="1"/>
              <a:t>データ</a:t>
            </a:r>
            <a:endParaRPr kumimoji="1" lang="ja-JP" altLang="en-US" sz="900" b="1"/>
          </a:p>
        </p:txBody>
      </p:sp>
      <p:sp>
        <p:nvSpPr>
          <p:cNvPr id="82" name="円/楕円 81">
            <a:extLst>
              <a:ext uri="{FF2B5EF4-FFF2-40B4-BE49-F238E27FC236}">
                <a16:creationId xmlns:a16="http://schemas.microsoft.com/office/drawing/2014/main" id="{40B41763-321F-CA3D-138D-ECF45E0A1B70}"/>
              </a:ext>
            </a:extLst>
          </p:cNvPr>
          <p:cNvSpPr/>
          <p:nvPr/>
        </p:nvSpPr>
        <p:spPr>
          <a:xfrm>
            <a:off x="2983519" y="3489189"/>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6345EA1A-1726-FBE4-D55B-3E2CE238BE0E}"/>
              </a:ext>
            </a:extLst>
          </p:cNvPr>
          <p:cNvSpPr txBox="1"/>
          <p:nvPr/>
        </p:nvSpPr>
        <p:spPr>
          <a:xfrm>
            <a:off x="2649081" y="4491049"/>
            <a:ext cx="877163" cy="230832"/>
          </a:xfrm>
          <a:prstGeom prst="rect">
            <a:avLst/>
          </a:prstGeom>
          <a:noFill/>
        </p:spPr>
        <p:txBody>
          <a:bodyPr wrap="none" rtlCol="0">
            <a:spAutoFit/>
          </a:bodyPr>
          <a:lstStyle/>
          <a:p>
            <a:r>
              <a:rPr lang="ja-JP" altLang="en-US" sz="900" b="1"/>
              <a:t>ファシリティ</a:t>
            </a:r>
            <a:endParaRPr kumimoji="1" lang="ja-JP" altLang="en-US" sz="900" b="1"/>
          </a:p>
        </p:txBody>
      </p:sp>
      <p:sp>
        <p:nvSpPr>
          <p:cNvPr id="84" name="円/楕円 83">
            <a:extLst>
              <a:ext uri="{FF2B5EF4-FFF2-40B4-BE49-F238E27FC236}">
                <a16:creationId xmlns:a16="http://schemas.microsoft.com/office/drawing/2014/main" id="{83467E3B-F7E9-1DED-1908-6F4D57FA2B38}"/>
              </a:ext>
            </a:extLst>
          </p:cNvPr>
          <p:cNvSpPr/>
          <p:nvPr/>
        </p:nvSpPr>
        <p:spPr>
          <a:xfrm>
            <a:off x="2988975" y="4973663"/>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テキスト ボックス 84">
            <a:extLst>
              <a:ext uri="{FF2B5EF4-FFF2-40B4-BE49-F238E27FC236}">
                <a16:creationId xmlns:a16="http://schemas.microsoft.com/office/drawing/2014/main" id="{E5620A43-CC32-C3B6-6480-F4BFC65EBE15}"/>
              </a:ext>
            </a:extLst>
          </p:cNvPr>
          <p:cNvSpPr txBox="1"/>
          <p:nvPr/>
        </p:nvSpPr>
        <p:spPr>
          <a:xfrm>
            <a:off x="2887620" y="5196554"/>
            <a:ext cx="415498" cy="230832"/>
          </a:xfrm>
          <a:prstGeom prst="rect">
            <a:avLst/>
          </a:prstGeom>
          <a:noFill/>
        </p:spPr>
        <p:txBody>
          <a:bodyPr wrap="none" rtlCol="0">
            <a:spAutoFit/>
          </a:bodyPr>
          <a:lstStyle/>
          <a:p>
            <a:r>
              <a:rPr kumimoji="1" lang="ja-JP" altLang="en-US" sz="900" b="1"/>
              <a:t>地名</a:t>
            </a:r>
          </a:p>
        </p:txBody>
      </p:sp>
      <p:sp>
        <p:nvSpPr>
          <p:cNvPr id="86" name="円/楕円 85">
            <a:extLst>
              <a:ext uri="{FF2B5EF4-FFF2-40B4-BE49-F238E27FC236}">
                <a16:creationId xmlns:a16="http://schemas.microsoft.com/office/drawing/2014/main" id="{D2A05924-4C42-8B37-AB49-B891DF4F06C1}"/>
              </a:ext>
            </a:extLst>
          </p:cNvPr>
          <p:cNvSpPr/>
          <p:nvPr/>
        </p:nvSpPr>
        <p:spPr>
          <a:xfrm>
            <a:off x="4493310" y="4531400"/>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テキスト ボックス 86">
            <a:extLst>
              <a:ext uri="{FF2B5EF4-FFF2-40B4-BE49-F238E27FC236}">
                <a16:creationId xmlns:a16="http://schemas.microsoft.com/office/drawing/2014/main" id="{943FE445-74D8-6282-9FA1-DD81F2CBB08E}"/>
              </a:ext>
            </a:extLst>
          </p:cNvPr>
          <p:cNvSpPr txBox="1"/>
          <p:nvPr/>
        </p:nvSpPr>
        <p:spPr>
          <a:xfrm>
            <a:off x="4347033" y="4747927"/>
            <a:ext cx="530915" cy="230832"/>
          </a:xfrm>
          <a:prstGeom prst="rect">
            <a:avLst/>
          </a:prstGeom>
          <a:noFill/>
        </p:spPr>
        <p:txBody>
          <a:bodyPr wrap="none" rtlCol="0">
            <a:spAutoFit/>
          </a:bodyPr>
          <a:lstStyle/>
          <a:p>
            <a:r>
              <a:rPr lang="ja-JP" altLang="en-US" sz="900" b="1"/>
              <a:t>有体物</a:t>
            </a:r>
            <a:endParaRPr kumimoji="1" lang="ja-JP" altLang="en-US" sz="900" b="1"/>
          </a:p>
        </p:txBody>
      </p:sp>
      <p:cxnSp>
        <p:nvCxnSpPr>
          <p:cNvPr id="88" name="直線矢印コネクタ 87">
            <a:extLst>
              <a:ext uri="{FF2B5EF4-FFF2-40B4-BE49-F238E27FC236}">
                <a16:creationId xmlns:a16="http://schemas.microsoft.com/office/drawing/2014/main" id="{EDFC972B-68D6-F5A4-765F-73051C5C2407}"/>
              </a:ext>
            </a:extLst>
          </p:cNvPr>
          <p:cNvCxnSpPr>
            <a:cxnSpLocks/>
            <a:stCxn id="86" idx="2"/>
            <a:endCxn id="82" idx="6"/>
          </p:cNvCxnSpPr>
          <p:nvPr/>
        </p:nvCxnSpPr>
        <p:spPr>
          <a:xfrm flipH="1" flipV="1">
            <a:off x="3198672" y="3597726"/>
            <a:ext cx="1294638" cy="104221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9" name="直線矢印コネクタ 88">
            <a:extLst>
              <a:ext uri="{FF2B5EF4-FFF2-40B4-BE49-F238E27FC236}">
                <a16:creationId xmlns:a16="http://schemas.microsoft.com/office/drawing/2014/main" id="{E7B5871F-063F-F072-1DD1-BD1CBEA0705E}"/>
              </a:ext>
            </a:extLst>
          </p:cNvPr>
          <p:cNvCxnSpPr>
            <a:cxnSpLocks/>
            <a:stCxn id="78" idx="2"/>
            <a:endCxn id="82" idx="6"/>
          </p:cNvCxnSpPr>
          <p:nvPr/>
        </p:nvCxnSpPr>
        <p:spPr>
          <a:xfrm flipH="1" flipV="1">
            <a:off x="3198672" y="3597726"/>
            <a:ext cx="1310007" cy="177609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0" name="直線矢印コネクタ 89">
            <a:extLst>
              <a:ext uri="{FF2B5EF4-FFF2-40B4-BE49-F238E27FC236}">
                <a16:creationId xmlns:a16="http://schemas.microsoft.com/office/drawing/2014/main" id="{64D9E810-3DD4-7CBD-14D5-6C25A188221E}"/>
              </a:ext>
            </a:extLst>
          </p:cNvPr>
          <p:cNvCxnSpPr>
            <a:cxnSpLocks/>
            <a:stCxn id="79" idx="2"/>
            <a:endCxn id="82" idx="6"/>
          </p:cNvCxnSpPr>
          <p:nvPr/>
        </p:nvCxnSpPr>
        <p:spPr>
          <a:xfrm flipH="1" flipV="1">
            <a:off x="3198672" y="3597726"/>
            <a:ext cx="1302322" cy="30833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1" name="直線矢印コネクタ 90">
            <a:extLst>
              <a:ext uri="{FF2B5EF4-FFF2-40B4-BE49-F238E27FC236}">
                <a16:creationId xmlns:a16="http://schemas.microsoft.com/office/drawing/2014/main" id="{F3ABF083-5FF3-99C2-1E7A-DA71FEAF7F88}"/>
              </a:ext>
            </a:extLst>
          </p:cNvPr>
          <p:cNvCxnSpPr>
            <a:cxnSpLocks/>
            <a:stCxn id="78" idx="2"/>
            <a:endCxn id="84" idx="6"/>
          </p:cNvCxnSpPr>
          <p:nvPr/>
        </p:nvCxnSpPr>
        <p:spPr>
          <a:xfrm flipH="1" flipV="1">
            <a:off x="3204128" y="5082200"/>
            <a:ext cx="1304551" cy="291617"/>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2" name="曲線コネクタ 91">
            <a:extLst>
              <a:ext uri="{FF2B5EF4-FFF2-40B4-BE49-F238E27FC236}">
                <a16:creationId xmlns:a16="http://schemas.microsoft.com/office/drawing/2014/main" id="{EE69635E-D0EC-038E-B59A-42BB7BB63016}"/>
              </a:ext>
            </a:extLst>
          </p:cNvPr>
          <p:cNvCxnSpPr>
            <a:stCxn id="78" idx="6"/>
            <a:endCxn id="86" idx="6"/>
          </p:cNvCxnSpPr>
          <p:nvPr/>
        </p:nvCxnSpPr>
        <p:spPr>
          <a:xfrm flipH="1" flipV="1">
            <a:off x="4708463" y="4639937"/>
            <a:ext cx="15369" cy="733880"/>
          </a:xfrm>
          <a:prstGeom prst="curvedConnector3">
            <a:avLst>
              <a:gd name="adj1" fmla="val -148741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3" name="曲線コネクタ 92">
            <a:extLst>
              <a:ext uri="{FF2B5EF4-FFF2-40B4-BE49-F238E27FC236}">
                <a16:creationId xmlns:a16="http://schemas.microsoft.com/office/drawing/2014/main" id="{BEA0EDE6-B5F6-5FCC-E2BC-EB1C25D326BF}"/>
              </a:ext>
            </a:extLst>
          </p:cNvPr>
          <p:cNvCxnSpPr>
            <a:cxnSpLocks/>
            <a:stCxn id="78" idx="6"/>
            <a:endCxn id="79" idx="6"/>
          </p:cNvCxnSpPr>
          <p:nvPr/>
        </p:nvCxnSpPr>
        <p:spPr>
          <a:xfrm flipH="1" flipV="1">
            <a:off x="4716147" y="3906057"/>
            <a:ext cx="7685" cy="1467760"/>
          </a:xfrm>
          <a:prstGeom prst="curvedConnector3">
            <a:avLst>
              <a:gd name="adj1" fmla="val -2974626"/>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94" name="テキスト ボックス 93">
            <a:extLst>
              <a:ext uri="{FF2B5EF4-FFF2-40B4-BE49-F238E27FC236}">
                <a16:creationId xmlns:a16="http://schemas.microsoft.com/office/drawing/2014/main" id="{14A7DAC0-F4ED-D8B9-9D96-78D0A42F2CDD}"/>
              </a:ext>
            </a:extLst>
          </p:cNvPr>
          <p:cNvSpPr txBox="1"/>
          <p:nvPr/>
        </p:nvSpPr>
        <p:spPr>
          <a:xfrm>
            <a:off x="3230278" y="6089689"/>
            <a:ext cx="1800493" cy="523220"/>
          </a:xfrm>
          <a:prstGeom prst="rect">
            <a:avLst/>
          </a:prstGeom>
          <a:noFill/>
        </p:spPr>
        <p:txBody>
          <a:bodyPr wrap="none" rtlCol="0">
            <a:spAutoFit/>
          </a:bodyPr>
          <a:lstStyle/>
          <a:p>
            <a:r>
              <a:rPr kumimoji="1" lang="en-US" altLang="ja-JP" sz="1400" dirty="0"/>
              <a:t>Knowledge Graph</a:t>
            </a:r>
          </a:p>
          <a:p>
            <a:r>
              <a:rPr lang="ja-JP" altLang="en-US" sz="1400"/>
              <a:t>（キュレーション）</a:t>
            </a:r>
            <a:endParaRPr kumimoji="1" lang="ja-JP" altLang="en-US" sz="1400"/>
          </a:p>
        </p:txBody>
      </p:sp>
      <p:sp>
        <p:nvSpPr>
          <p:cNvPr id="95" name="正方形/長方形 94">
            <a:extLst>
              <a:ext uri="{FF2B5EF4-FFF2-40B4-BE49-F238E27FC236}">
                <a16:creationId xmlns:a16="http://schemas.microsoft.com/office/drawing/2014/main" id="{363EC912-A9F4-5F93-08B6-40408C69005A}"/>
              </a:ext>
            </a:extLst>
          </p:cNvPr>
          <p:cNvSpPr/>
          <p:nvPr/>
        </p:nvSpPr>
        <p:spPr>
          <a:xfrm>
            <a:off x="7023227" y="3617876"/>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96" name="正方形/長方形 95">
            <a:extLst>
              <a:ext uri="{FF2B5EF4-FFF2-40B4-BE49-F238E27FC236}">
                <a16:creationId xmlns:a16="http://schemas.microsoft.com/office/drawing/2014/main" id="{7E316746-64EC-A1BC-ED98-05A7646F9A80}"/>
              </a:ext>
            </a:extLst>
          </p:cNvPr>
          <p:cNvSpPr/>
          <p:nvPr/>
        </p:nvSpPr>
        <p:spPr>
          <a:xfrm>
            <a:off x="7023227" y="4184803"/>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97" name="正方形/長方形 96">
            <a:extLst>
              <a:ext uri="{FF2B5EF4-FFF2-40B4-BE49-F238E27FC236}">
                <a16:creationId xmlns:a16="http://schemas.microsoft.com/office/drawing/2014/main" id="{577DEB4F-59D1-CD04-9662-D8EF81612D13}"/>
              </a:ext>
            </a:extLst>
          </p:cNvPr>
          <p:cNvSpPr/>
          <p:nvPr/>
        </p:nvSpPr>
        <p:spPr>
          <a:xfrm>
            <a:off x="7023227" y="4751730"/>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98" name="正方形/長方形 97">
            <a:extLst>
              <a:ext uri="{FF2B5EF4-FFF2-40B4-BE49-F238E27FC236}">
                <a16:creationId xmlns:a16="http://schemas.microsoft.com/office/drawing/2014/main" id="{A8399119-0B30-3D41-3492-03C56E2408AD}"/>
              </a:ext>
            </a:extLst>
          </p:cNvPr>
          <p:cNvSpPr/>
          <p:nvPr/>
        </p:nvSpPr>
        <p:spPr>
          <a:xfrm>
            <a:off x="7023227" y="5318657"/>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cxnSp>
        <p:nvCxnSpPr>
          <p:cNvPr id="99" name="直線矢印コネクタ 98">
            <a:extLst>
              <a:ext uri="{FF2B5EF4-FFF2-40B4-BE49-F238E27FC236}">
                <a16:creationId xmlns:a16="http://schemas.microsoft.com/office/drawing/2014/main" id="{8BAABACC-B2A9-0AD1-F336-6857026C532A}"/>
              </a:ext>
            </a:extLst>
          </p:cNvPr>
          <p:cNvCxnSpPr>
            <a:cxnSpLocks/>
            <a:stCxn id="114" idx="3"/>
            <a:endCxn id="98" idx="1"/>
          </p:cNvCxnSpPr>
          <p:nvPr/>
        </p:nvCxnSpPr>
        <p:spPr>
          <a:xfrm>
            <a:off x="6374995" y="4429828"/>
            <a:ext cx="648232" cy="997366"/>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100" name="テキスト ボックス 99">
            <a:extLst>
              <a:ext uri="{FF2B5EF4-FFF2-40B4-BE49-F238E27FC236}">
                <a16:creationId xmlns:a16="http://schemas.microsoft.com/office/drawing/2014/main" id="{58075EDB-8693-ED35-29B3-4D5A64C245A8}"/>
              </a:ext>
            </a:extLst>
          </p:cNvPr>
          <p:cNvSpPr txBox="1"/>
          <p:nvPr/>
        </p:nvSpPr>
        <p:spPr>
          <a:xfrm>
            <a:off x="6985589" y="5510899"/>
            <a:ext cx="606256" cy="230832"/>
          </a:xfrm>
          <a:prstGeom prst="rect">
            <a:avLst/>
          </a:prstGeom>
          <a:noFill/>
        </p:spPr>
        <p:txBody>
          <a:bodyPr wrap="none" rtlCol="0">
            <a:spAutoFit/>
          </a:bodyPr>
          <a:lstStyle/>
          <a:p>
            <a:r>
              <a:rPr kumimoji="1" lang="en-US" altLang="ja-JP" sz="900" b="1" dirty="0"/>
              <a:t>GIS-DB</a:t>
            </a:r>
            <a:endParaRPr kumimoji="1" lang="ja-JP" altLang="en-US" sz="900" b="1"/>
          </a:p>
        </p:txBody>
      </p:sp>
      <p:sp>
        <p:nvSpPr>
          <p:cNvPr id="101" name="テキスト ボックス 100">
            <a:extLst>
              <a:ext uri="{FF2B5EF4-FFF2-40B4-BE49-F238E27FC236}">
                <a16:creationId xmlns:a16="http://schemas.microsoft.com/office/drawing/2014/main" id="{1141F35F-6D60-39BC-BB29-AC0269E16072}"/>
              </a:ext>
            </a:extLst>
          </p:cNvPr>
          <p:cNvSpPr txBox="1"/>
          <p:nvPr/>
        </p:nvSpPr>
        <p:spPr>
          <a:xfrm>
            <a:off x="6940339" y="3814018"/>
            <a:ext cx="761747" cy="230832"/>
          </a:xfrm>
          <a:prstGeom prst="rect">
            <a:avLst/>
          </a:prstGeom>
          <a:noFill/>
        </p:spPr>
        <p:txBody>
          <a:bodyPr wrap="none" rtlCol="0">
            <a:spAutoFit/>
          </a:bodyPr>
          <a:lstStyle/>
          <a:p>
            <a:r>
              <a:rPr lang="ja-JP" altLang="en-US" sz="900" b="1"/>
              <a:t>リポジトリ</a:t>
            </a:r>
            <a:endParaRPr kumimoji="1" lang="ja-JP" altLang="en-US" sz="900" b="1"/>
          </a:p>
        </p:txBody>
      </p:sp>
      <p:sp>
        <p:nvSpPr>
          <p:cNvPr id="102" name="テキスト ボックス 101">
            <a:extLst>
              <a:ext uri="{FF2B5EF4-FFF2-40B4-BE49-F238E27FC236}">
                <a16:creationId xmlns:a16="http://schemas.microsoft.com/office/drawing/2014/main" id="{EE31930E-8384-A57B-215A-EF61C5248DD2}"/>
              </a:ext>
            </a:extLst>
          </p:cNvPr>
          <p:cNvSpPr txBox="1"/>
          <p:nvPr/>
        </p:nvSpPr>
        <p:spPr>
          <a:xfrm>
            <a:off x="6749696" y="3249403"/>
            <a:ext cx="1107996" cy="230832"/>
          </a:xfrm>
          <a:prstGeom prst="rect">
            <a:avLst/>
          </a:prstGeom>
          <a:noFill/>
        </p:spPr>
        <p:txBody>
          <a:bodyPr wrap="none" rtlCol="0">
            <a:spAutoFit/>
          </a:bodyPr>
          <a:lstStyle/>
          <a:p>
            <a:r>
              <a:rPr lang="ja-JP" altLang="en-US" sz="900" b="1"/>
              <a:t>データリポジトリ</a:t>
            </a:r>
            <a:endParaRPr kumimoji="1" lang="ja-JP" altLang="en-US" sz="900" b="1"/>
          </a:p>
        </p:txBody>
      </p:sp>
      <p:sp>
        <p:nvSpPr>
          <p:cNvPr id="103" name="テキスト ボックス 102">
            <a:extLst>
              <a:ext uri="{FF2B5EF4-FFF2-40B4-BE49-F238E27FC236}">
                <a16:creationId xmlns:a16="http://schemas.microsoft.com/office/drawing/2014/main" id="{7C532AD1-5CD4-81AD-033D-24A7D9569358}"/>
              </a:ext>
            </a:extLst>
          </p:cNvPr>
          <p:cNvSpPr txBox="1"/>
          <p:nvPr/>
        </p:nvSpPr>
        <p:spPr>
          <a:xfrm>
            <a:off x="6713427" y="4365383"/>
            <a:ext cx="1339264" cy="369332"/>
          </a:xfrm>
          <a:prstGeom prst="rect">
            <a:avLst/>
          </a:prstGeom>
          <a:noFill/>
        </p:spPr>
        <p:txBody>
          <a:bodyPr wrap="square" rtlCol="0">
            <a:spAutoFit/>
          </a:bodyPr>
          <a:lstStyle/>
          <a:p>
            <a:r>
              <a:rPr kumimoji="1" lang="ja-JP" altLang="en-US" sz="900" b="1"/>
              <a:t>有体物管理</a:t>
            </a:r>
            <a:r>
              <a:rPr kumimoji="1" lang="en-US" altLang="ja-JP" sz="900" b="1" dirty="0"/>
              <a:t>/</a:t>
            </a:r>
            <a:r>
              <a:rPr kumimoji="1" lang="ja-JP" altLang="en-US" sz="900" b="1"/>
              <a:t>トラッキングシステム</a:t>
            </a:r>
          </a:p>
        </p:txBody>
      </p:sp>
      <p:sp>
        <p:nvSpPr>
          <p:cNvPr id="104" name="正方形/長方形 103">
            <a:extLst>
              <a:ext uri="{FF2B5EF4-FFF2-40B4-BE49-F238E27FC236}">
                <a16:creationId xmlns:a16="http://schemas.microsoft.com/office/drawing/2014/main" id="{BFD02286-06BA-B7FB-B8EC-8CB5B05A7262}"/>
              </a:ext>
            </a:extLst>
          </p:cNvPr>
          <p:cNvSpPr/>
          <p:nvPr/>
        </p:nvSpPr>
        <p:spPr>
          <a:xfrm>
            <a:off x="7030911" y="5885583"/>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05" name="テキスト ボックス 104">
            <a:extLst>
              <a:ext uri="{FF2B5EF4-FFF2-40B4-BE49-F238E27FC236}">
                <a16:creationId xmlns:a16="http://schemas.microsoft.com/office/drawing/2014/main" id="{316A6EED-38B2-C89C-FEEB-E5D8CE4F3D40}"/>
              </a:ext>
            </a:extLst>
          </p:cNvPr>
          <p:cNvSpPr txBox="1"/>
          <p:nvPr/>
        </p:nvSpPr>
        <p:spPr>
          <a:xfrm>
            <a:off x="6931872" y="6088758"/>
            <a:ext cx="761747" cy="230832"/>
          </a:xfrm>
          <a:prstGeom prst="rect">
            <a:avLst/>
          </a:prstGeom>
          <a:noFill/>
        </p:spPr>
        <p:txBody>
          <a:bodyPr wrap="none" rtlCol="0">
            <a:spAutoFit/>
          </a:bodyPr>
          <a:lstStyle/>
          <a:p>
            <a:r>
              <a:rPr kumimoji="1" lang="ja-JP" altLang="en-US" sz="900" b="1"/>
              <a:t>キーワード</a:t>
            </a:r>
          </a:p>
        </p:txBody>
      </p:sp>
      <p:cxnSp>
        <p:nvCxnSpPr>
          <p:cNvPr id="106" name="直線矢印コネクタ 105">
            <a:extLst>
              <a:ext uri="{FF2B5EF4-FFF2-40B4-BE49-F238E27FC236}">
                <a16:creationId xmlns:a16="http://schemas.microsoft.com/office/drawing/2014/main" id="{EA61AC62-CE4F-4276-CFE2-F1B736B9B7C2}"/>
              </a:ext>
            </a:extLst>
          </p:cNvPr>
          <p:cNvCxnSpPr>
            <a:cxnSpLocks/>
            <a:stCxn id="78" idx="5"/>
            <a:endCxn id="104" idx="1"/>
          </p:cNvCxnSpPr>
          <p:nvPr/>
        </p:nvCxnSpPr>
        <p:spPr>
          <a:xfrm>
            <a:off x="4692324" y="5450564"/>
            <a:ext cx="2338587" cy="543556"/>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7" name="直線矢印コネクタ 106">
            <a:extLst>
              <a:ext uri="{FF2B5EF4-FFF2-40B4-BE49-F238E27FC236}">
                <a16:creationId xmlns:a16="http://schemas.microsoft.com/office/drawing/2014/main" id="{DFBDB900-E25C-8330-5FB4-F9F9C797B7FF}"/>
              </a:ext>
            </a:extLst>
          </p:cNvPr>
          <p:cNvCxnSpPr>
            <a:cxnSpLocks/>
            <a:stCxn id="114" idx="3"/>
            <a:endCxn id="97" idx="1"/>
          </p:cNvCxnSpPr>
          <p:nvPr/>
        </p:nvCxnSpPr>
        <p:spPr>
          <a:xfrm>
            <a:off x="6374995" y="4429828"/>
            <a:ext cx="648232" cy="430439"/>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8" name="直線矢印コネクタ 107">
            <a:extLst>
              <a:ext uri="{FF2B5EF4-FFF2-40B4-BE49-F238E27FC236}">
                <a16:creationId xmlns:a16="http://schemas.microsoft.com/office/drawing/2014/main" id="{6B6CC6EE-D319-E45C-47FE-E07D7BF2E7B1}"/>
              </a:ext>
            </a:extLst>
          </p:cNvPr>
          <p:cNvCxnSpPr>
            <a:cxnSpLocks/>
            <a:stCxn id="114" idx="3"/>
            <a:endCxn id="96" idx="1"/>
          </p:cNvCxnSpPr>
          <p:nvPr/>
        </p:nvCxnSpPr>
        <p:spPr>
          <a:xfrm flipV="1">
            <a:off x="6374995" y="4293340"/>
            <a:ext cx="648232" cy="136488"/>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9" name="直線矢印コネクタ 108">
            <a:extLst>
              <a:ext uri="{FF2B5EF4-FFF2-40B4-BE49-F238E27FC236}">
                <a16:creationId xmlns:a16="http://schemas.microsoft.com/office/drawing/2014/main" id="{AB8C9C24-90ED-000A-B186-DCFEC5501E4F}"/>
              </a:ext>
            </a:extLst>
          </p:cNvPr>
          <p:cNvCxnSpPr>
            <a:cxnSpLocks/>
            <a:stCxn id="114" idx="3"/>
            <a:endCxn id="95" idx="1"/>
          </p:cNvCxnSpPr>
          <p:nvPr/>
        </p:nvCxnSpPr>
        <p:spPr>
          <a:xfrm flipV="1">
            <a:off x="6374995" y="3726413"/>
            <a:ext cx="648232" cy="703415"/>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110" name="正方形/長方形 109">
            <a:extLst>
              <a:ext uri="{FF2B5EF4-FFF2-40B4-BE49-F238E27FC236}">
                <a16:creationId xmlns:a16="http://schemas.microsoft.com/office/drawing/2014/main" id="{0EE09BFD-1730-3757-6C48-12C98347EF41}"/>
              </a:ext>
            </a:extLst>
          </p:cNvPr>
          <p:cNvSpPr/>
          <p:nvPr/>
        </p:nvSpPr>
        <p:spPr>
          <a:xfrm>
            <a:off x="7030911" y="3050949"/>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11" name="テキスト ボックス 110">
            <a:extLst>
              <a:ext uri="{FF2B5EF4-FFF2-40B4-BE49-F238E27FC236}">
                <a16:creationId xmlns:a16="http://schemas.microsoft.com/office/drawing/2014/main" id="{1D6995E0-1003-B075-10C9-1D49E6C9D4B4}"/>
              </a:ext>
            </a:extLst>
          </p:cNvPr>
          <p:cNvSpPr txBox="1"/>
          <p:nvPr/>
        </p:nvSpPr>
        <p:spPr>
          <a:xfrm>
            <a:off x="6884931" y="4943401"/>
            <a:ext cx="761747" cy="230832"/>
          </a:xfrm>
          <a:prstGeom prst="rect">
            <a:avLst/>
          </a:prstGeom>
          <a:noFill/>
        </p:spPr>
        <p:txBody>
          <a:bodyPr wrap="none" rtlCol="0">
            <a:spAutoFit/>
          </a:bodyPr>
          <a:lstStyle/>
          <a:p>
            <a:r>
              <a:rPr kumimoji="1" lang="ja-JP" altLang="en-US" sz="900" b="1"/>
              <a:t>研究者一覧</a:t>
            </a:r>
          </a:p>
        </p:txBody>
      </p:sp>
      <p:cxnSp>
        <p:nvCxnSpPr>
          <p:cNvPr id="112" name="直線矢印コネクタ 111">
            <a:extLst>
              <a:ext uri="{FF2B5EF4-FFF2-40B4-BE49-F238E27FC236}">
                <a16:creationId xmlns:a16="http://schemas.microsoft.com/office/drawing/2014/main" id="{A4968E4E-5A43-A15C-C55F-6822B43941CE}"/>
              </a:ext>
            </a:extLst>
          </p:cNvPr>
          <p:cNvCxnSpPr>
            <a:cxnSpLocks/>
            <a:stCxn id="114" idx="3"/>
            <a:endCxn id="110" idx="1"/>
          </p:cNvCxnSpPr>
          <p:nvPr/>
        </p:nvCxnSpPr>
        <p:spPr>
          <a:xfrm flipV="1">
            <a:off x="6374995" y="3159486"/>
            <a:ext cx="655916" cy="1270342"/>
          </a:xfrm>
          <a:prstGeom prst="straightConnector1">
            <a:avLst/>
          </a:prstGeom>
          <a:ln>
            <a:solidFill>
              <a:schemeClr val="accent1"/>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113" name="テキスト ボックス 112">
            <a:extLst>
              <a:ext uri="{FF2B5EF4-FFF2-40B4-BE49-F238E27FC236}">
                <a16:creationId xmlns:a16="http://schemas.microsoft.com/office/drawing/2014/main" id="{5AE7FFE7-353E-DA7A-5765-F47CAC594911}"/>
              </a:ext>
            </a:extLst>
          </p:cNvPr>
          <p:cNvSpPr txBox="1"/>
          <p:nvPr/>
        </p:nvSpPr>
        <p:spPr>
          <a:xfrm rot="16200000">
            <a:off x="8046108" y="5283847"/>
            <a:ext cx="2319569" cy="338554"/>
          </a:xfrm>
          <a:prstGeom prst="rect">
            <a:avLst/>
          </a:prstGeom>
          <a:noFill/>
          <a:ln w="25400">
            <a:solidFill>
              <a:schemeClr val="accent6"/>
            </a:solidFill>
          </a:ln>
        </p:spPr>
        <p:txBody>
          <a:bodyPr wrap="square" rtlCol="0">
            <a:spAutoFit/>
          </a:bodyPr>
          <a:lstStyle/>
          <a:p>
            <a:pPr algn="ctr"/>
            <a:r>
              <a:rPr lang="ja-JP" altLang="en-US" sz="1600"/>
              <a:t>検索</a:t>
            </a:r>
            <a:r>
              <a:rPr kumimoji="1" lang="ja-JP" altLang="en-US" sz="1600"/>
              <a:t>インターフェイス</a:t>
            </a:r>
          </a:p>
        </p:txBody>
      </p:sp>
      <p:sp>
        <p:nvSpPr>
          <p:cNvPr id="114" name="正方形/長方形 113">
            <a:extLst>
              <a:ext uri="{FF2B5EF4-FFF2-40B4-BE49-F238E27FC236}">
                <a16:creationId xmlns:a16="http://schemas.microsoft.com/office/drawing/2014/main" id="{8D77D8E8-9A35-2903-E2BF-BB8C686C372D}"/>
              </a:ext>
            </a:extLst>
          </p:cNvPr>
          <p:cNvSpPr/>
          <p:nvPr/>
        </p:nvSpPr>
        <p:spPr>
          <a:xfrm>
            <a:off x="5829429" y="4321291"/>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テキスト ボックス 114">
            <a:extLst>
              <a:ext uri="{FF2B5EF4-FFF2-40B4-BE49-F238E27FC236}">
                <a16:creationId xmlns:a16="http://schemas.microsoft.com/office/drawing/2014/main" id="{979A120F-98AE-C53F-A9CD-D0BA32EE6EC4}"/>
              </a:ext>
            </a:extLst>
          </p:cNvPr>
          <p:cNvSpPr txBox="1"/>
          <p:nvPr/>
        </p:nvSpPr>
        <p:spPr>
          <a:xfrm>
            <a:off x="5616535" y="4546733"/>
            <a:ext cx="1003801" cy="230832"/>
          </a:xfrm>
          <a:prstGeom prst="rect">
            <a:avLst/>
          </a:prstGeom>
          <a:noFill/>
        </p:spPr>
        <p:txBody>
          <a:bodyPr wrap="none" rtlCol="0">
            <a:spAutoFit/>
          </a:bodyPr>
          <a:lstStyle/>
          <a:p>
            <a:r>
              <a:rPr lang="en-US" altLang="ja-JP" sz="900" b="1" dirty="0"/>
              <a:t>ID</a:t>
            </a:r>
            <a:r>
              <a:rPr lang="ja-JP" altLang="en-US" sz="900" b="1"/>
              <a:t>管理システム</a:t>
            </a:r>
            <a:endParaRPr kumimoji="1" lang="ja-JP" altLang="en-US" sz="900" b="1"/>
          </a:p>
        </p:txBody>
      </p:sp>
      <p:cxnSp>
        <p:nvCxnSpPr>
          <p:cNvPr id="116" name="直線矢印コネクタ 115">
            <a:extLst>
              <a:ext uri="{FF2B5EF4-FFF2-40B4-BE49-F238E27FC236}">
                <a16:creationId xmlns:a16="http://schemas.microsoft.com/office/drawing/2014/main" id="{6FA3DE59-CCE1-024A-0FE1-3EE44AB84B12}"/>
              </a:ext>
            </a:extLst>
          </p:cNvPr>
          <p:cNvCxnSpPr>
            <a:cxnSpLocks/>
            <a:stCxn id="84" idx="5"/>
            <a:endCxn id="114" idx="1"/>
          </p:cNvCxnSpPr>
          <p:nvPr/>
        </p:nvCxnSpPr>
        <p:spPr>
          <a:xfrm flipV="1">
            <a:off x="3172620" y="4429828"/>
            <a:ext cx="2656809" cy="729119"/>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7" name="直線矢印コネクタ 116">
            <a:extLst>
              <a:ext uri="{FF2B5EF4-FFF2-40B4-BE49-F238E27FC236}">
                <a16:creationId xmlns:a16="http://schemas.microsoft.com/office/drawing/2014/main" id="{11D6CC17-7CAC-6991-61B3-45C771322D7F}"/>
              </a:ext>
            </a:extLst>
          </p:cNvPr>
          <p:cNvCxnSpPr>
            <a:cxnSpLocks/>
            <a:stCxn id="78" idx="5"/>
            <a:endCxn id="114" idx="1"/>
          </p:cNvCxnSpPr>
          <p:nvPr/>
        </p:nvCxnSpPr>
        <p:spPr>
          <a:xfrm flipV="1">
            <a:off x="4692324" y="4429828"/>
            <a:ext cx="1137105" cy="102073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8" name="直線矢印コネクタ 117">
            <a:extLst>
              <a:ext uri="{FF2B5EF4-FFF2-40B4-BE49-F238E27FC236}">
                <a16:creationId xmlns:a16="http://schemas.microsoft.com/office/drawing/2014/main" id="{B092D014-E363-353C-73F5-704BEDD0951B}"/>
              </a:ext>
            </a:extLst>
          </p:cNvPr>
          <p:cNvCxnSpPr>
            <a:cxnSpLocks/>
            <a:stCxn id="82" idx="5"/>
            <a:endCxn id="114" idx="1"/>
          </p:cNvCxnSpPr>
          <p:nvPr/>
        </p:nvCxnSpPr>
        <p:spPr>
          <a:xfrm>
            <a:off x="3167164" y="3674473"/>
            <a:ext cx="2662265" cy="755355"/>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9" name="直線矢印コネクタ 118">
            <a:extLst>
              <a:ext uri="{FF2B5EF4-FFF2-40B4-BE49-F238E27FC236}">
                <a16:creationId xmlns:a16="http://schemas.microsoft.com/office/drawing/2014/main" id="{15B236BB-1875-C69E-1AC6-D500F8383CA3}"/>
              </a:ext>
            </a:extLst>
          </p:cNvPr>
          <p:cNvCxnSpPr>
            <a:cxnSpLocks/>
            <a:stCxn id="86" idx="5"/>
            <a:endCxn id="114" idx="1"/>
          </p:cNvCxnSpPr>
          <p:nvPr/>
        </p:nvCxnSpPr>
        <p:spPr>
          <a:xfrm flipV="1">
            <a:off x="4676955" y="4429828"/>
            <a:ext cx="1152474" cy="28685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0" name="直線矢印コネクタ 119">
            <a:extLst>
              <a:ext uri="{FF2B5EF4-FFF2-40B4-BE49-F238E27FC236}">
                <a16:creationId xmlns:a16="http://schemas.microsoft.com/office/drawing/2014/main" id="{3486BED5-DA27-5D0D-E6B6-26A9B9656FF5}"/>
              </a:ext>
            </a:extLst>
          </p:cNvPr>
          <p:cNvCxnSpPr>
            <a:cxnSpLocks/>
            <a:stCxn id="79" idx="5"/>
            <a:endCxn id="114" idx="1"/>
          </p:cNvCxnSpPr>
          <p:nvPr/>
        </p:nvCxnSpPr>
        <p:spPr>
          <a:xfrm>
            <a:off x="4684639" y="3982804"/>
            <a:ext cx="1144790" cy="447024"/>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21" name="テキスト ボックス 120">
            <a:extLst>
              <a:ext uri="{FF2B5EF4-FFF2-40B4-BE49-F238E27FC236}">
                <a16:creationId xmlns:a16="http://schemas.microsoft.com/office/drawing/2014/main" id="{A36C807A-287B-461E-FA5E-3A836D8FB957}"/>
              </a:ext>
            </a:extLst>
          </p:cNvPr>
          <p:cNvSpPr txBox="1"/>
          <p:nvPr/>
        </p:nvSpPr>
        <p:spPr>
          <a:xfrm rot="16200000">
            <a:off x="7273197" y="4311367"/>
            <a:ext cx="2236510" cy="584775"/>
          </a:xfrm>
          <a:prstGeom prst="rect">
            <a:avLst/>
          </a:prstGeom>
          <a:noFill/>
        </p:spPr>
        <p:txBody>
          <a:bodyPr wrap="none" rtlCol="0">
            <a:spAutoFit/>
          </a:bodyPr>
          <a:lstStyle/>
          <a:p>
            <a:pPr algn="ctr"/>
            <a:r>
              <a:rPr kumimoji="1" lang="ja-JP" altLang="en-US" sz="1600"/>
              <a:t>コントロールプレーン</a:t>
            </a:r>
            <a:endParaRPr kumimoji="1" lang="en-US" altLang="ja-JP" sz="1600" dirty="0"/>
          </a:p>
          <a:p>
            <a:pPr algn="ctr"/>
            <a:r>
              <a:rPr lang="en-US" altLang="ja-JP" sz="1600" dirty="0" err="1"/>
              <a:t>IaC</a:t>
            </a:r>
            <a:endParaRPr kumimoji="1" lang="ja-JP" altLang="en-US" sz="1600"/>
          </a:p>
        </p:txBody>
      </p:sp>
      <p:sp>
        <p:nvSpPr>
          <p:cNvPr id="122" name="テキスト ボックス 121">
            <a:extLst>
              <a:ext uri="{FF2B5EF4-FFF2-40B4-BE49-F238E27FC236}">
                <a16:creationId xmlns:a16="http://schemas.microsoft.com/office/drawing/2014/main" id="{771C174D-171E-5ED4-3DE8-298A360BF520}"/>
              </a:ext>
            </a:extLst>
          </p:cNvPr>
          <p:cNvSpPr txBox="1"/>
          <p:nvPr/>
        </p:nvSpPr>
        <p:spPr>
          <a:xfrm>
            <a:off x="9637974" y="5828157"/>
            <a:ext cx="902811" cy="307777"/>
          </a:xfrm>
          <a:prstGeom prst="rect">
            <a:avLst/>
          </a:prstGeom>
          <a:noFill/>
        </p:spPr>
        <p:txBody>
          <a:bodyPr wrap="none" rtlCol="0">
            <a:spAutoFit/>
          </a:bodyPr>
          <a:lstStyle/>
          <a:p>
            <a:r>
              <a:rPr lang="ja-JP" altLang="en-US" sz="1400"/>
              <a:t>ユーザー</a:t>
            </a:r>
            <a:endParaRPr kumimoji="1" lang="ja-JP" altLang="en-US" sz="1400"/>
          </a:p>
        </p:txBody>
      </p:sp>
      <p:cxnSp>
        <p:nvCxnSpPr>
          <p:cNvPr id="123" name="直線矢印コネクタ 122">
            <a:extLst>
              <a:ext uri="{FF2B5EF4-FFF2-40B4-BE49-F238E27FC236}">
                <a16:creationId xmlns:a16="http://schemas.microsoft.com/office/drawing/2014/main" id="{09059E05-F44F-CD65-C851-E9AA4DD7034D}"/>
              </a:ext>
            </a:extLst>
          </p:cNvPr>
          <p:cNvCxnSpPr>
            <a:cxnSpLocks/>
          </p:cNvCxnSpPr>
          <p:nvPr/>
        </p:nvCxnSpPr>
        <p:spPr>
          <a:xfrm>
            <a:off x="5452859" y="3141063"/>
            <a:ext cx="4141757"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24" name="テキスト ボックス 123">
            <a:extLst>
              <a:ext uri="{FF2B5EF4-FFF2-40B4-BE49-F238E27FC236}">
                <a16:creationId xmlns:a16="http://schemas.microsoft.com/office/drawing/2014/main" id="{D8901054-BCEF-7D09-BA98-C7A0AA212FA2}"/>
              </a:ext>
            </a:extLst>
          </p:cNvPr>
          <p:cNvSpPr txBox="1"/>
          <p:nvPr/>
        </p:nvSpPr>
        <p:spPr>
          <a:xfrm>
            <a:off x="9594616" y="2962587"/>
            <a:ext cx="1829433" cy="830997"/>
          </a:xfrm>
          <a:prstGeom prst="rect">
            <a:avLst/>
          </a:prstGeom>
          <a:noFill/>
        </p:spPr>
        <p:txBody>
          <a:bodyPr wrap="square" rtlCol="0">
            <a:spAutoFit/>
          </a:bodyPr>
          <a:lstStyle/>
          <a:p>
            <a:r>
              <a:rPr kumimoji="1" lang="en-US" altLang="ja-JP" sz="1200" dirty="0" err="1"/>
              <a:t>KGdump</a:t>
            </a:r>
            <a:r>
              <a:rPr kumimoji="1" lang="ja-JP" altLang="en-US" sz="1200" dirty="0" err="1"/>
              <a:t>：</a:t>
            </a:r>
            <a:endParaRPr lang="en-US" altLang="ja-JP" sz="1200" dirty="0"/>
          </a:p>
          <a:p>
            <a:r>
              <a:rPr lang="ja-JP" altLang="en-US" sz="1200"/>
              <a:t>ローカル</a:t>
            </a:r>
            <a:r>
              <a:rPr lang="en-US" altLang="ja-JP" sz="1200" dirty="0"/>
              <a:t>KG</a:t>
            </a:r>
            <a:r>
              <a:rPr lang="ja-JP" altLang="en-US" sz="1200"/>
              <a:t>のダンプ、複数</a:t>
            </a:r>
            <a:r>
              <a:rPr lang="en-US" altLang="ja-JP" sz="1200" dirty="0"/>
              <a:t>KG</a:t>
            </a:r>
            <a:r>
              <a:rPr lang="ja-JP" altLang="en-US" sz="1200"/>
              <a:t>の</a:t>
            </a:r>
            <a:r>
              <a:rPr lang="en-US" altLang="ja-JP" sz="1200" dirty="0"/>
              <a:t>join</a:t>
            </a:r>
            <a:r>
              <a:rPr lang="ja-JP" altLang="en-US" sz="1200"/>
              <a:t>を可能とする</a:t>
            </a:r>
            <a:endParaRPr kumimoji="1" lang="ja-JP" altLang="en-US" sz="1200"/>
          </a:p>
        </p:txBody>
      </p:sp>
      <p:sp>
        <p:nvSpPr>
          <p:cNvPr id="125" name="テキスト ボックス 124">
            <a:extLst>
              <a:ext uri="{FF2B5EF4-FFF2-40B4-BE49-F238E27FC236}">
                <a16:creationId xmlns:a16="http://schemas.microsoft.com/office/drawing/2014/main" id="{475B8916-3CE7-8CCD-433B-2ECD9CD743EA}"/>
              </a:ext>
            </a:extLst>
          </p:cNvPr>
          <p:cNvSpPr txBox="1"/>
          <p:nvPr/>
        </p:nvSpPr>
        <p:spPr>
          <a:xfrm rot="16200000">
            <a:off x="8483364" y="3402581"/>
            <a:ext cx="1442960" cy="338554"/>
          </a:xfrm>
          <a:prstGeom prst="rect">
            <a:avLst/>
          </a:prstGeom>
          <a:noFill/>
          <a:ln w="25400">
            <a:solidFill>
              <a:schemeClr val="accent6"/>
            </a:solidFill>
          </a:ln>
        </p:spPr>
        <p:txBody>
          <a:bodyPr wrap="square" rtlCol="0">
            <a:spAutoFit/>
          </a:bodyPr>
          <a:lstStyle/>
          <a:p>
            <a:pPr algn="ctr"/>
            <a:r>
              <a:rPr kumimoji="1" lang="ja-JP" altLang="en-US" sz="1600"/>
              <a:t>データ公開</a:t>
            </a:r>
          </a:p>
        </p:txBody>
      </p:sp>
      <p:cxnSp>
        <p:nvCxnSpPr>
          <p:cNvPr id="126" name="直線矢印コネクタ 125">
            <a:extLst>
              <a:ext uri="{FF2B5EF4-FFF2-40B4-BE49-F238E27FC236}">
                <a16:creationId xmlns:a16="http://schemas.microsoft.com/office/drawing/2014/main" id="{DB9F0D36-4E1B-3907-0CBF-ACE6A285552A}"/>
              </a:ext>
            </a:extLst>
          </p:cNvPr>
          <p:cNvCxnSpPr>
            <a:cxnSpLocks/>
            <a:stCxn id="86" idx="5"/>
            <a:endCxn id="104" idx="1"/>
          </p:cNvCxnSpPr>
          <p:nvPr/>
        </p:nvCxnSpPr>
        <p:spPr>
          <a:xfrm>
            <a:off x="4676955" y="4716684"/>
            <a:ext cx="2353956" cy="1277436"/>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7" name="直線矢印コネクタ 126">
            <a:extLst>
              <a:ext uri="{FF2B5EF4-FFF2-40B4-BE49-F238E27FC236}">
                <a16:creationId xmlns:a16="http://schemas.microsoft.com/office/drawing/2014/main" id="{9077665B-0D9F-8513-D9C5-4790B7FEB96C}"/>
              </a:ext>
            </a:extLst>
          </p:cNvPr>
          <p:cNvCxnSpPr>
            <a:cxnSpLocks/>
            <a:stCxn id="79" idx="5"/>
            <a:endCxn id="104" idx="1"/>
          </p:cNvCxnSpPr>
          <p:nvPr/>
        </p:nvCxnSpPr>
        <p:spPr>
          <a:xfrm>
            <a:off x="4684639" y="3982804"/>
            <a:ext cx="2346272" cy="2011316"/>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8" name="直線矢印コネクタ 127">
            <a:extLst>
              <a:ext uri="{FF2B5EF4-FFF2-40B4-BE49-F238E27FC236}">
                <a16:creationId xmlns:a16="http://schemas.microsoft.com/office/drawing/2014/main" id="{0F6F59DF-9B5A-56FB-29B2-520B10D12157}"/>
              </a:ext>
            </a:extLst>
          </p:cNvPr>
          <p:cNvCxnSpPr>
            <a:cxnSpLocks/>
            <a:stCxn id="84" idx="5"/>
            <a:endCxn id="104" idx="1"/>
          </p:cNvCxnSpPr>
          <p:nvPr/>
        </p:nvCxnSpPr>
        <p:spPr>
          <a:xfrm>
            <a:off x="3172620" y="5158947"/>
            <a:ext cx="3858291" cy="835173"/>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9" name="直線矢印コネクタ 128">
            <a:extLst>
              <a:ext uri="{FF2B5EF4-FFF2-40B4-BE49-F238E27FC236}">
                <a16:creationId xmlns:a16="http://schemas.microsoft.com/office/drawing/2014/main" id="{E62B933D-9ECA-C5EE-4FDC-1A2ADE683A25}"/>
              </a:ext>
            </a:extLst>
          </p:cNvPr>
          <p:cNvCxnSpPr>
            <a:cxnSpLocks/>
            <a:endCxn id="122" idx="1"/>
          </p:cNvCxnSpPr>
          <p:nvPr/>
        </p:nvCxnSpPr>
        <p:spPr>
          <a:xfrm>
            <a:off x="5452859" y="5981371"/>
            <a:ext cx="4185115" cy="67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カギ線コネクタ 129">
            <a:extLst>
              <a:ext uri="{FF2B5EF4-FFF2-40B4-BE49-F238E27FC236}">
                <a16:creationId xmlns:a16="http://schemas.microsoft.com/office/drawing/2014/main" id="{8B1DA905-522F-B83C-73D2-F63C297B78EB}"/>
              </a:ext>
            </a:extLst>
          </p:cNvPr>
          <p:cNvCxnSpPr>
            <a:cxnSpLocks/>
            <a:stCxn id="121" idx="2"/>
            <a:endCxn id="124" idx="1"/>
          </p:cNvCxnSpPr>
          <p:nvPr/>
        </p:nvCxnSpPr>
        <p:spPr>
          <a:xfrm flipV="1">
            <a:off x="8683840" y="3378086"/>
            <a:ext cx="910776" cy="1225669"/>
          </a:xfrm>
          <a:prstGeom prst="bentConnector3">
            <a:avLst>
              <a:gd name="adj1" fmla="val 2174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31" name="円/楕円 130">
            <a:extLst>
              <a:ext uri="{FF2B5EF4-FFF2-40B4-BE49-F238E27FC236}">
                <a16:creationId xmlns:a16="http://schemas.microsoft.com/office/drawing/2014/main" id="{8A369BF7-B989-D14B-9529-A591301B171B}"/>
              </a:ext>
            </a:extLst>
          </p:cNvPr>
          <p:cNvSpPr/>
          <p:nvPr/>
        </p:nvSpPr>
        <p:spPr>
          <a:xfrm>
            <a:off x="2978063" y="4231426"/>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テキスト ボックス 131">
            <a:extLst>
              <a:ext uri="{FF2B5EF4-FFF2-40B4-BE49-F238E27FC236}">
                <a16:creationId xmlns:a16="http://schemas.microsoft.com/office/drawing/2014/main" id="{479EE2E1-749A-EE78-F708-9B97BD88CECF}"/>
              </a:ext>
            </a:extLst>
          </p:cNvPr>
          <p:cNvSpPr txBox="1"/>
          <p:nvPr/>
        </p:nvSpPr>
        <p:spPr>
          <a:xfrm>
            <a:off x="2883858" y="3719424"/>
            <a:ext cx="415498" cy="230832"/>
          </a:xfrm>
          <a:prstGeom prst="rect">
            <a:avLst/>
          </a:prstGeom>
          <a:noFill/>
        </p:spPr>
        <p:txBody>
          <a:bodyPr wrap="none" rtlCol="0">
            <a:spAutoFit/>
          </a:bodyPr>
          <a:lstStyle/>
          <a:p>
            <a:r>
              <a:rPr kumimoji="1" lang="ja-JP" altLang="en-US" sz="900" b="1"/>
              <a:t>作者</a:t>
            </a:r>
          </a:p>
        </p:txBody>
      </p:sp>
      <p:cxnSp>
        <p:nvCxnSpPr>
          <p:cNvPr id="133" name="直線矢印コネクタ 132">
            <a:extLst>
              <a:ext uri="{FF2B5EF4-FFF2-40B4-BE49-F238E27FC236}">
                <a16:creationId xmlns:a16="http://schemas.microsoft.com/office/drawing/2014/main" id="{B48CB873-B187-880A-C2EC-E624B96C0E8A}"/>
              </a:ext>
            </a:extLst>
          </p:cNvPr>
          <p:cNvCxnSpPr>
            <a:cxnSpLocks/>
            <a:stCxn id="78" idx="2"/>
            <a:endCxn id="131" idx="6"/>
          </p:cNvCxnSpPr>
          <p:nvPr/>
        </p:nvCxnSpPr>
        <p:spPr>
          <a:xfrm flipH="1" flipV="1">
            <a:off x="3193216" y="4339963"/>
            <a:ext cx="1315463" cy="1033854"/>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34" name="直線矢印コネクタ 133">
            <a:extLst>
              <a:ext uri="{FF2B5EF4-FFF2-40B4-BE49-F238E27FC236}">
                <a16:creationId xmlns:a16="http://schemas.microsoft.com/office/drawing/2014/main" id="{0CFDA654-CB76-4840-4A4F-6FC4A23A2383}"/>
              </a:ext>
            </a:extLst>
          </p:cNvPr>
          <p:cNvCxnSpPr>
            <a:cxnSpLocks/>
            <a:stCxn id="131" idx="5"/>
            <a:endCxn id="114" idx="1"/>
          </p:cNvCxnSpPr>
          <p:nvPr/>
        </p:nvCxnSpPr>
        <p:spPr>
          <a:xfrm>
            <a:off x="3161708" y="4416710"/>
            <a:ext cx="2667721" cy="13118"/>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5" name="直線矢印コネクタ 134">
            <a:extLst>
              <a:ext uri="{FF2B5EF4-FFF2-40B4-BE49-F238E27FC236}">
                <a16:creationId xmlns:a16="http://schemas.microsoft.com/office/drawing/2014/main" id="{8F088135-1047-3FB9-15DC-411A9040DE3C}"/>
              </a:ext>
            </a:extLst>
          </p:cNvPr>
          <p:cNvCxnSpPr>
            <a:cxnSpLocks/>
            <a:stCxn id="79" idx="2"/>
            <a:endCxn id="131" idx="6"/>
          </p:cNvCxnSpPr>
          <p:nvPr/>
        </p:nvCxnSpPr>
        <p:spPr>
          <a:xfrm flipH="1">
            <a:off x="3193216" y="3906057"/>
            <a:ext cx="1307778" cy="43390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直線矢印コネクタ 135">
            <a:extLst>
              <a:ext uri="{FF2B5EF4-FFF2-40B4-BE49-F238E27FC236}">
                <a16:creationId xmlns:a16="http://schemas.microsoft.com/office/drawing/2014/main" id="{1D222093-6A0C-1D31-3E88-B82DCEC6326C}"/>
              </a:ext>
            </a:extLst>
          </p:cNvPr>
          <p:cNvCxnSpPr>
            <a:cxnSpLocks/>
            <a:stCxn id="82" idx="5"/>
            <a:endCxn id="104" idx="1"/>
          </p:cNvCxnSpPr>
          <p:nvPr/>
        </p:nvCxnSpPr>
        <p:spPr>
          <a:xfrm>
            <a:off x="3167164" y="3674473"/>
            <a:ext cx="3863747" cy="2319647"/>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37" name="直線矢印コネクタ 136">
            <a:extLst>
              <a:ext uri="{FF2B5EF4-FFF2-40B4-BE49-F238E27FC236}">
                <a16:creationId xmlns:a16="http://schemas.microsoft.com/office/drawing/2014/main" id="{C4D5E505-922A-6586-76FE-CFD28D6FE776}"/>
              </a:ext>
            </a:extLst>
          </p:cNvPr>
          <p:cNvCxnSpPr>
            <a:cxnSpLocks/>
            <a:stCxn id="131" idx="5"/>
            <a:endCxn id="104" idx="1"/>
          </p:cNvCxnSpPr>
          <p:nvPr/>
        </p:nvCxnSpPr>
        <p:spPr>
          <a:xfrm>
            <a:off x="3161708" y="4416710"/>
            <a:ext cx="3869203" cy="1577410"/>
          </a:xfrm>
          <a:prstGeom prst="straightConnector1">
            <a:avLst/>
          </a:prstGeom>
          <a:ln>
            <a:solidFill>
              <a:schemeClr val="accent1"/>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38" name="曲線コネクタ 137">
            <a:extLst>
              <a:ext uri="{FF2B5EF4-FFF2-40B4-BE49-F238E27FC236}">
                <a16:creationId xmlns:a16="http://schemas.microsoft.com/office/drawing/2014/main" id="{534B222D-E01E-9340-A602-FC54BBD27923}"/>
              </a:ext>
            </a:extLst>
          </p:cNvPr>
          <p:cNvCxnSpPr>
            <a:cxnSpLocks/>
            <a:stCxn id="110" idx="3"/>
            <a:endCxn id="104" idx="3"/>
          </p:cNvCxnSpPr>
          <p:nvPr/>
        </p:nvCxnSpPr>
        <p:spPr>
          <a:xfrm>
            <a:off x="7576477" y="3159486"/>
            <a:ext cx="12700" cy="2834634"/>
          </a:xfrm>
          <a:prstGeom prst="curvedConnector3">
            <a:avLst>
              <a:gd name="adj1" fmla="val 180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9" name="曲線コネクタ 138">
            <a:extLst>
              <a:ext uri="{FF2B5EF4-FFF2-40B4-BE49-F238E27FC236}">
                <a16:creationId xmlns:a16="http://schemas.microsoft.com/office/drawing/2014/main" id="{68435FC4-DBBA-9671-FFBD-FA6D371C92A1}"/>
              </a:ext>
            </a:extLst>
          </p:cNvPr>
          <p:cNvCxnSpPr>
            <a:cxnSpLocks/>
            <a:stCxn id="95" idx="3"/>
            <a:endCxn id="104" idx="3"/>
          </p:cNvCxnSpPr>
          <p:nvPr/>
        </p:nvCxnSpPr>
        <p:spPr>
          <a:xfrm>
            <a:off x="7568793" y="3726413"/>
            <a:ext cx="7684" cy="2267707"/>
          </a:xfrm>
          <a:prstGeom prst="curvedConnector3">
            <a:avLst>
              <a:gd name="adj1" fmla="val 3075013"/>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40" name="曲線コネクタ 139">
            <a:extLst>
              <a:ext uri="{FF2B5EF4-FFF2-40B4-BE49-F238E27FC236}">
                <a16:creationId xmlns:a16="http://schemas.microsoft.com/office/drawing/2014/main" id="{72735D1D-C7DD-A122-5A4F-6CCD7049568C}"/>
              </a:ext>
            </a:extLst>
          </p:cNvPr>
          <p:cNvCxnSpPr>
            <a:cxnSpLocks/>
            <a:stCxn id="96" idx="3"/>
            <a:endCxn id="104" idx="3"/>
          </p:cNvCxnSpPr>
          <p:nvPr/>
        </p:nvCxnSpPr>
        <p:spPr>
          <a:xfrm>
            <a:off x="7568793" y="4293340"/>
            <a:ext cx="7684" cy="1700780"/>
          </a:xfrm>
          <a:prstGeom prst="curvedConnector3">
            <a:avLst>
              <a:gd name="adj1" fmla="val 3075013"/>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41" name="曲線コネクタ 140">
            <a:extLst>
              <a:ext uri="{FF2B5EF4-FFF2-40B4-BE49-F238E27FC236}">
                <a16:creationId xmlns:a16="http://schemas.microsoft.com/office/drawing/2014/main" id="{77DDC61A-74C5-534D-80FD-13F4EB1B9848}"/>
              </a:ext>
            </a:extLst>
          </p:cNvPr>
          <p:cNvCxnSpPr>
            <a:cxnSpLocks/>
            <a:stCxn id="97" idx="3"/>
            <a:endCxn id="104" idx="3"/>
          </p:cNvCxnSpPr>
          <p:nvPr/>
        </p:nvCxnSpPr>
        <p:spPr>
          <a:xfrm>
            <a:off x="7568793" y="4860267"/>
            <a:ext cx="7684" cy="1133853"/>
          </a:xfrm>
          <a:prstGeom prst="curvedConnector3">
            <a:avLst>
              <a:gd name="adj1" fmla="val 3075013"/>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42" name="曲線コネクタ 141">
            <a:extLst>
              <a:ext uri="{FF2B5EF4-FFF2-40B4-BE49-F238E27FC236}">
                <a16:creationId xmlns:a16="http://schemas.microsoft.com/office/drawing/2014/main" id="{F460CF87-6E82-C6AD-D48A-005DB82EB46F}"/>
              </a:ext>
            </a:extLst>
          </p:cNvPr>
          <p:cNvCxnSpPr>
            <a:cxnSpLocks/>
            <a:stCxn id="98" idx="3"/>
            <a:endCxn id="104" idx="3"/>
          </p:cNvCxnSpPr>
          <p:nvPr/>
        </p:nvCxnSpPr>
        <p:spPr>
          <a:xfrm>
            <a:off x="7568793" y="5427194"/>
            <a:ext cx="7684" cy="566926"/>
          </a:xfrm>
          <a:prstGeom prst="curvedConnector3">
            <a:avLst>
              <a:gd name="adj1" fmla="val 3075013"/>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43" name="円/楕円 142">
            <a:extLst>
              <a:ext uri="{FF2B5EF4-FFF2-40B4-BE49-F238E27FC236}">
                <a16:creationId xmlns:a16="http://schemas.microsoft.com/office/drawing/2014/main" id="{E70D1513-C42C-D32F-76E8-11C202CD1FBD}"/>
              </a:ext>
            </a:extLst>
          </p:cNvPr>
          <p:cNvSpPr/>
          <p:nvPr/>
        </p:nvSpPr>
        <p:spPr>
          <a:xfrm>
            <a:off x="700273" y="2887960"/>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4" name="テキスト ボックス 143">
            <a:extLst>
              <a:ext uri="{FF2B5EF4-FFF2-40B4-BE49-F238E27FC236}">
                <a16:creationId xmlns:a16="http://schemas.microsoft.com/office/drawing/2014/main" id="{7CBB87B1-1997-AD1F-3F8F-63844CA7326B}"/>
              </a:ext>
            </a:extLst>
          </p:cNvPr>
          <p:cNvSpPr txBox="1"/>
          <p:nvPr/>
        </p:nvSpPr>
        <p:spPr>
          <a:xfrm>
            <a:off x="860242" y="2864064"/>
            <a:ext cx="732893" cy="276999"/>
          </a:xfrm>
          <a:prstGeom prst="rect">
            <a:avLst/>
          </a:prstGeom>
          <a:noFill/>
        </p:spPr>
        <p:txBody>
          <a:bodyPr wrap="none" rtlCol="0">
            <a:spAutoFit/>
          </a:bodyPr>
          <a:lstStyle/>
          <a:p>
            <a:r>
              <a:rPr kumimoji="1" lang="en-US" altLang="ja-JP" sz="1200" dirty="0"/>
              <a:t>: </a:t>
            </a:r>
            <a:r>
              <a:rPr kumimoji="1" lang="ja-JP" altLang="en-US" sz="1200"/>
              <a:t>ノード</a:t>
            </a:r>
          </a:p>
        </p:txBody>
      </p:sp>
      <p:sp>
        <p:nvSpPr>
          <p:cNvPr id="145" name="正方形/長方形 144">
            <a:extLst>
              <a:ext uri="{FF2B5EF4-FFF2-40B4-BE49-F238E27FC236}">
                <a16:creationId xmlns:a16="http://schemas.microsoft.com/office/drawing/2014/main" id="{89F552C5-E9E3-E772-06B7-11A15DD9BC8F}"/>
              </a:ext>
            </a:extLst>
          </p:cNvPr>
          <p:cNvSpPr/>
          <p:nvPr/>
        </p:nvSpPr>
        <p:spPr>
          <a:xfrm>
            <a:off x="697058" y="3169011"/>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テキスト ボックス 145">
            <a:extLst>
              <a:ext uri="{FF2B5EF4-FFF2-40B4-BE49-F238E27FC236}">
                <a16:creationId xmlns:a16="http://schemas.microsoft.com/office/drawing/2014/main" id="{3536CCDB-FD05-53D5-15EF-EEE92BA781E0}"/>
              </a:ext>
            </a:extLst>
          </p:cNvPr>
          <p:cNvSpPr txBox="1"/>
          <p:nvPr/>
        </p:nvSpPr>
        <p:spPr>
          <a:xfrm>
            <a:off x="1201450" y="3145114"/>
            <a:ext cx="798617" cy="276999"/>
          </a:xfrm>
          <a:prstGeom prst="rect">
            <a:avLst/>
          </a:prstGeom>
          <a:noFill/>
        </p:spPr>
        <p:txBody>
          <a:bodyPr wrap="none" rtlCol="0">
            <a:spAutoFit/>
          </a:bodyPr>
          <a:lstStyle/>
          <a:p>
            <a:r>
              <a:rPr lang="en-US" altLang="ja-JP" sz="1200" dirty="0"/>
              <a:t>: </a:t>
            </a:r>
            <a:r>
              <a:rPr lang="ja-JP" altLang="en-US" sz="1200"/>
              <a:t>外部</a:t>
            </a:r>
            <a:r>
              <a:rPr lang="en-US" altLang="ja-JP" sz="1200" dirty="0"/>
              <a:t>DB</a:t>
            </a:r>
            <a:endParaRPr kumimoji="1" lang="ja-JP" altLang="en-US" sz="1200"/>
          </a:p>
        </p:txBody>
      </p:sp>
      <p:sp>
        <p:nvSpPr>
          <p:cNvPr id="147" name="テキスト ボックス 146">
            <a:extLst>
              <a:ext uri="{FF2B5EF4-FFF2-40B4-BE49-F238E27FC236}">
                <a16:creationId xmlns:a16="http://schemas.microsoft.com/office/drawing/2014/main" id="{947E49C5-5904-146B-B6CA-77CE23009718}"/>
              </a:ext>
            </a:extLst>
          </p:cNvPr>
          <p:cNvSpPr txBox="1"/>
          <p:nvPr/>
        </p:nvSpPr>
        <p:spPr>
          <a:xfrm>
            <a:off x="539342" y="3481161"/>
            <a:ext cx="1648825" cy="1015663"/>
          </a:xfrm>
          <a:prstGeom prst="rect">
            <a:avLst/>
          </a:prstGeom>
          <a:noFill/>
        </p:spPr>
        <p:txBody>
          <a:bodyPr wrap="square" rtlCol="0">
            <a:spAutoFit/>
          </a:bodyPr>
          <a:lstStyle/>
          <a:p>
            <a:r>
              <a:rPr lang="ja-JP" altLang="en-US" sz="1200"/>
              <a:t>リンクポリシー</a:t>
            </a:r>
            <a:r>
              <a:rPr lang="en-US" altLang="ja-JP" sz="1200" dirty="0"/>
              <a:t>: </a:t>
            </a:r>
            <a:r>
              <a:rPr lang="ja-JP" altLang="en-US" sz="1200"/>
              <a:t>データセントリック</a:t>
            </a:r>
            <a:r>
              <a:rPr lang="en-US" altLang="ja-JP" sz="1200" dirty="0"/>
              <a:t> -&gt; </a:t>
            </a:r>
            <a:r>
              <a:rPr lang="ja-JP" altLang="en-US" sz="1200"/>
              <a:t>データソースから見えるものをそのままグラフ関係にする</a:t>
            </a:r>
            <a:endParaRPr kumimoji="1" lang="ja-JP" altLang="en-US" sz="1200"/>
          </a:p>
        </p:txBody>
      </p:sp>
      <p:cxnSp>
        <p:nvCxnSpPr>
          <p:cNvPr id="3" name="直線コネクタ 2">
            <a:extLst>
              <a:ext uri="{FF2B5EF4-FFF2-40B4-BE49-F238E27FC236}">
                <a16:creationId xmlns:a16="http://schemas.microsoft.com/office/drawing/2014/main" id="{96BA9489-BBD2-DACF-8E8C-F1870C6C8B7E}"/>
              </a:ext>
            </a:extLst>
          </p:cNvPr>
          <p:cNvCxnSpPr/>
          <p:nvPr/>
        </p:nvCxnSpPr>
        <p:spPr>
          <a:xfrm flipV="1">
            <a:off x="515155" y="1088265"/>
            <a:ext cx="9910293" cy="465571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746795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1204</TotalTime>
  <Words>3503</Words>
  <Application>Microsoft Macintosh PowerPoint</Application>
  <PresentationFormat>ワイド画面</PresentationFormat>
  <Paragraphs>347</Paragraphs>
  <Slides>21</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21</vt:i4>
      </vt:variant>
    </vt:vector>
  </HeadingPairs>
  <TitlesOfParts>
    <vt:vector size="27" baseType="lpstr">
      <vt:lpstr>Hiragino Kaku Gothic ProN</vt:lpstr>
      <vt:lpstr>游ゴシック</vt:lpstr>
      <vt:lpstr>游ゴシック Light</vt:lpstr>
      <vt:lpstr>Arial</vt:lpstr>
      <vt:lpstr>Wingdings</vt:lpstr>
      <vt:lpstr>Office テーマ</vt:lpstr>
      <vt:lpstr>PowerPoint プレゼンテーション</vt:lpstr>
      <vt:lpstr>背景（1）</vt:lpstr>
      <vt:lpstr>背景（2）</vt:lpstr>
      <vt:lpstr>背景（3）</vt:lpstr>
      <vt:lpstr>関連研究（1）</vt:lpstr>
      <vt:lpstr>関連研究（2）</vt:lpstr>
      <vt:lpstr>目的</vt:lpstr>
      <vt:lpstr>マテリアル・方法（概要）</vt:lpstr>
      <vt:lpstr>マテリアル・方法（NER）</vt:lpstr>
      <vt:lpstr>マテリアル・方法（判定依頼プロンプト）</vt:lpstr>
      <vt:lpstr>マテリアル・方法（AI・人への依頼条件等）</vt:lpstr>
      <vt:lpstr>マテリアル・方法（JSON形式の例）</vt:lpstr>
      <vt:lpstr>結果(出力の例)</vt:lpstr>
      <vt:lpstr>結果(正しい出力形式)</vt:lpstr>
      <vt:lpstr>結果(NERに対する判定の差異)</vt:lpstr>
      <vt:lpstr>結果(NERに対する修正の程度)</vt:lpstr>
      <vt:lpstr>結果(決定された地名について)</vt:lpstr>
      <vt:lpstr>まとめ</vt:lpstr>
      <vt:lpstr>以下、旧スライド</vt:lpstr>
      <vt:lpstr>背景（1）</vt:lpstr>
      <vt:lpstr>背景（2）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天野　晃</dc:creator>
  <cp:lastModifiedBy>天野　晃</cp:lastModifiedBy>
  <cp:revision>204</cp:revision>
  <dcterms:created xsi:type="dcterms:W3CDTF">2026-03-04T23:37:53Z</dcterms:created>
  <dcterms:modified xsi:type="dcterms:W3CDTF">2026-05-14T00:28:46Z</dcterms:modified>
</cp:coreProperties>
</file>