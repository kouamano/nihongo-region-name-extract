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320" r:id="rId3"/>
    <p:sldId id="321"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 id="322" r:id="rId20"/>
    <p:sldId id="296" r:id="rId21"/>
    <p:sldId id="303" r:id="rId2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45"/>
    <p:restoredTop sz="94658"/>
  </p:normalViewPr>
  <p:slideViewPr>
    <p:cSldViewPr snapToGrid="0">
      <p:cViewPr varScale="1">
        <p:scale>
          <a:sx n="120" d="100"/>
          <a:sy n="120" d="100"/>
        </p:scale>
        <p:origin x="126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2026/5/14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2026.5.24 </a:t>
            </a:r>
            <a:r>
              <a:rPr kumimoji="1" lang="ja-JP" altLang="en-US"/>
              <a:t>一般セッション</a:t>
            </a:r>
            <a:r>
              <a:rPr kumimoji="1" lang="en-US" altLang="ja-JP"/>
              <a:t>2 4</a:t>
            </a:r>
            <a:r>
              <a:rPr kumimoji="1" lang="ja-JP" altLang="en-US"/>
              <a:t>番目</a:t>
            </a:r>
            <a:r>
              <a:rPr kumimoji="1" lang="en-US" altLang="ja-JP"/>
              <a:t> </a:t>
            </a:r>
            <a:r>
              <a:rPr kumimoji="1" lang="ja-JP" altLang="en-US"/>
              <a:t>全</a:t>
            </a:r>
            <a:r>
              <a:rPr kumimoji="1" lang="en-US" altLang="ja-JP"/>
              <a:t>20</a:t>
            </a:r>
            <a:r>
              <a:rPr kumimoji="1" lang="ja-JP" altLang="en-US"/>
              <a:t>分</a:t>
            </a:r>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a:t>
            </a:fld>
            <a:endParaRPr kumimoji="1" lang="ja-JP" altLang="en-US"/>
          </a:p>
        </p:txBody>
      </p:sp>
    </p:spTree>
    <p:extLst>
      <p:ext uri="{BB962C8B-B14F-4D97-AF65-F5344CB8AC3E}">
        <p14:creationId xmlns:p14="http://schemas.microsoft.com/office/powerpoint/2010/main" val="25860267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2026/5/14</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 Id="rId4" Type="http://schemas.openxmlformats.org/officeDocument/2006/relationships/hyperlink" Target="https://dl.acm.org/doi/abs/10.1002/asi.2149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dirty="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64894-CE9F-00B8-15E7-F46738BD46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0813A6-2A40-7505-3C92-84A0AC349D2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1</a:t>
            </a:r>
            <a:r>
              <a:rPr kumimoji="1" lang="ja-JP" altLang="en-US" sz="3600" dirty="0"/>
              <a:t>）</a:t>
            </a:r>
          </a:p>
        </p:txBody>
      </p:sp>
      <p:sp>
        <p:nvSpPr>
          <p:cNvPr id="5" name="テキスト ボックス 4">
            <a:extLst>
              <a:ext uri="{FF2B5EF4-FFF2-40B4-BE49-F238E27FC236}">
                <a16:creationId xmlns:a16="http://schemas.microsoft.com/office/drawing/2014/main" id="{FC072985-171F-5D77-276A-30C4206B2E62}"/>
              </a:ext>
            </a:extLst>
          </p:cNvPr>
          <p:cNvSpPr txBox="1"/>
          <p:nvPr/>
        </p:nvSpPr>
        <p:spPr>
          <a:xfrm>
            <a:off x="-1" y="577517"/>
            <a:ext cx="12192000" cy="6463308"/>
          </a:xfrm>
          <a:prstGeom prst="rect">
            <a:avLst/>
          </a:prstGeom>
          <a:noFill/>
        </p:spPr>
        <p:txBody>
          <a:bodyPr wrap="square" rtlCol="0">
            <a:spAutoFit/>
          </a:bodyPr>
          <a:lstStyle/>
          <a:p>
            <a:r>
              <a:rPr lang="ja-JP" altLang="en-US" b="1" dirty="0"/>
              <a:t>◾️日本の高等教育を取り巻く外部環境</a:t>
            </a:r>
            <a:endParaRPr lang="en-US" altLang="ja-JP" b="1" dirty="0"/>
          </a:p>
          <a:p>
            <a:r>
              <a:rPr lang="ja-JP" altLang="en-US" dirty="0"/>
              <a:t>・少子化に伴う高等教育入学人口の減少</a:t>
            </a:r>
            <a:endParaRPr lang="en-US" altLang="ja-JP" dirty="0"/>
          </a:p>
          <a:p>
            <a:r>
              <a:rPr lang="ja-JP" altLang="en-US" dirty="0"/>
              <a:t>・国際的な研究競争力強化の必要性</a:t>
            </a:r>
            <a:endParaRPr lang="en-US" altLang="ja-JP" dirty="0"/>
          </a:p>
          <a:p>
            <a:r>
              <a:rPr lang="ja-JP" altLang="en-US" dirty="0"/>
              <a:t>・地域における活力の低下</a:t>
            </a:r>
            <a:endParaRPr lang="en-US" altLang="ja-JP" dirty="0"/>
          </a:p>
          <a:p>
            <a:endParaRPr lang="en-US" altLang="ja-JP" dirty="0"/>
          </a:p>
          <a:p>
            <a:r>
              <a:rPr lang="ja-JP" altLang="en-US" b="1" dirty="0"/>
              <a:t>◾️国の高等教育政策</a:t>
            </a:r>
            <a:endParaRPr lang="en-US" altLang="ja-JP" b="1" dirty="0"/>
          </a:p>
          <a:p>
            <a:r>
              <a:rPr lang="ja-JP" altLang="en-US" dirty="0"/>
              <a:t>・大学の再編統合による規模縮小</a:t>
            </a:r>
            <a:endParaRPr lang="en-US" altLang="ja-JP" dirty="0"/>
          </a:p>
          <a:p>
            <a:r>
              <a:rPr lang="ja-JP" altLang="en-US" dirty="0"/>
              <a:t>・大学の機能分化（</a:t>
            </a:r>
            <a:r>
              <a:rPr lang="en-US" altLang="ja-JP" dirty="0"/>
              <a:t>SGU</a:t>
            </a:r>
            <a:r>
              <a:rPr lang="ja-JP" altLang="en-US" dirty="0"/>
              <a:t>、地域の知の中核、専門大学）</a:t>
            </a:r>
            <a:endParaRPr lang="en-US" altLang="ja-JP" dirty="0"/>
          </a:p>
          <a:p>
            <a:r>
              <a:rPr lang="ja-JP" altLang="en-US" dirty="0"/>
              <a:t>によるメリハリある高等教育発展の構想</a:t>
            </a:r>
            <a:endParaRPr lang="en-US" altLang="ja-JP" dirty="0"/>
          </a:p>
          <a:p>
            <a:endParaRPr lang="en-US" altLang="ja-JP" dirty="0"/>
          </a:p>
          <a:p>
            <a:r>
              <a:rPr lang="ja-JP" altLang="en-US" b="1" dirty="0"/>
              <a:t>◾️大学評価における課題</a:t>
            </a:r>
            <a:endParaRPr lang="en-US" altLang="ja-JP" b="1" dirty="0"/>
          </a:p>
          <a:p>
            <a:r>
              <a:rPr lang="ja-JP" altLang="en-US" dirty="0"/>
              <a:t>・論文の被引用状況に基づく評価指標の過大視</a:t>
            </a:r>
            <a:endParaRPr lang="en-US" altLang="ja-JP" dirty="0"/>
          </a:p>
          <a:p>
            <a:r>
              <a:rPr lang="ja-JP" altLang="en-US" dirty="0"/>
              <a:t>・大学の地域力を計量化可能な評価指標の不在</a:t>
            </a:r>
            <a:endParaRPr lang="en-US" altLang="ja-JP" dirty="0"/>
          </a:p>
          <a:p>
            <a:r>
              <a:rPr lang="ja-JP" altLang="en-US" dirty="0"/>
              <a:t>→結果として、「地域の知の中核」として発展すべき大学を抽出し、評価、資金投下できない。</a:t>
            </a:r>
            <a:endParaRPr lang="en-US" altLang="ja-JP" dirty="0"/>
          </a:p>
          <a:p>
            <a:endParaRPr lang="en-US" altLang="ja-JP" dirty="0"/>
          </a:p>
          <a:p>
            <a:r>
              <a:rPr lang="ja-JP" altLang="en-US" b="1" dirty="0"/>
              <a:t>◾️鹿児島県の高等教育の現状</a:t>
            </a:r>
            <a:endParaRPr lang="en-US" altLang="ja-JP" b="1" dirty="0"/>
          </a:p>
          <a:p>
            <a:r>
              <a:rPr lang="ja-JP" altLang="en-US" dirty="0"/>
              <a:t>・県内に６大学（国立大２（鹿大、鹿屋体育大）、私立大４）</a:t>
            </a:r>
            <a:endParaRPr lang="en-US" altLang="ja-JP" dirty="0"/>
          </a:p>
          <a:p>
            <a:r>
              <a:rPr lang="ja-JP" altLang="en-US" dirty="0"/>
              <a:t>・鹿児島大学は、県内唯一の国立総合大学として既に「地域の知の拠点」として機能</a:t>
            </a:r>
            <a:endParaRPr lang="en-US" altLang="ja-JP" dirty="0"/>
          </a:p>
          <a:p>
            <a:r>
              <a:rPr lang="ja-JP" altLang="en-US" dirty="0"/>
              <a:t>・鹿大教員は、幅広く地域活動や地域に関わる研究を展開</a:t>
            </a:r>
            <a:endParaRPr lang="en-US" altLang="ja-JP" dirty="0"/>
          </a:p>
          <a:p>
            <a:r>
              <a:rPr lang="ja-JP" altLang="en-US" dirty="0"/>
              <a:t>→ただし、その地域活動は十分に評価されていない。</a:t>
            </a:r>
            <a:endParaRPr lang="en-US" altLang="ja-JP" dirty="0"/>
          </a:p>
          <a:p>
            <a:endParaRPr lang="en-US" altLang="ja-JP" dirty="0"/>
          </a:p>
          <a:p>
            <a:r>
              <a:rPr lang="ja-JP" altLang="en-US" dirty="0"/>
              <a:t>⇒ </a:t>
            </a:r>
            <a:r>
              <a:rPr lang="ja-JP" altLang="en-US" sz="2000" u="sng" dirty="0"/>
              <a:t>大学の地域活動の見える化、評価指標の形成が必要</a:t>
            </a:r>
            <a:endParaRPr lang="en-US" altLang="ja-JP" sz="2000" u="sng" dirty="0"/>
          </a:p>
          <a:p>
            <a:endParaRPr lang="ja-JP" altLang="en-US" dirty="0"/>
          </a:p>
        </p:txBody>
      </p:sp>
    </p:spTree>
    <p:extLst>
      <p:ext uri="{BB962C8B-B14F-4D97-AF65-F5344CB8AC3E}">
        <p14:creationId xmlns:p14="http://schemas.microsoft.com/office/powerpoint/2010/main" val="4253336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D288E-8D25-E767-CF91-F0E1E3BC78D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1A9E296-D053-E27A-BC76-DA005600C3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dirty="0"/>
              <a:t>背景（</a:t>
            </a:r>
            <a:r>
              <a:rPr kumimoji="1" lang="en-US" altLang="ja-JP" sz="3600" dirty="0"/>
              <a:t>2</a:t>
            </a:r>
            <a:r>
              <a:rPr kumimoji="1" lang="ja-JP" altLang="en-US" sz="3600" dirty="0"/>
              <a:t>）</a:t>
            </a:r>
          </a:p>
        </p:txBody>
      </p:sp>
      <p:sp>
        <p:nvSpPr>
          <p:cNvPr id="5" name="テキスト ボックス 4">
            <a:extLst>
              <a:ext uri="{FF2B5EF4-FFF2-40B4-BE49-F238E27FC236}">
                <a16:creationId xmlns:a16="http://schemas.microsoft.com/office/drawing/2014/main" id="{97088CE3-A990-F39F-3F9E-9AA86B5F5979}"/>
              </a:ext>
            </a:extLst>
          </p:cNvPr>
          <p:cNvSpPr txBox="1"/>
          <p:nvPr/>
        </p:nvSpPr>
        <p:spPr>
          <a:xfrm>
            <a:off x="-1" y="577517"/>
            <a:ext cx="12192000" cy="4247317"/>
          </a:xfrm>
          <a:prstGeom prst="rect">
            <a:avLst/>
          </a:prstGeom>
          <a:noFill/>
        </p:spPr>
        <p:txBody>
          <a:bodyPr wrap="square" rtlCol="0">
            <a:spAutoFit/>
          </a:bodyPr>
          <a:lstStyle/>
          <a:p>
            <a:r>
              <a:rPr lang="ja-JP" altLang="en-US" b="1" dirty="0"/>
              <a:t>◾️大学の地域活動の評価指標形成のアプローチ</a:t>
            </a:r>
          </a:p>
          <a:p>
            <a:r>
              <a:rPr lang="ja-JP" altLang="en-US" dirty="0"/>
              <a:t>・大学の研究業績からの地域に関わる研究の抽出</a:t>
            </a:r>
            <a:endParaRPr lang="en-US" altLang="ja-JP" dirty="0"/>
          </a:p>
          <a:p>
            <a:endParaRPr lang="en-US" altLang="ja-JP" dirty="0"/>
          </a:p>
          <a:p>
            <a:r>
              <a:rPr lang="ja-JP" altLang="en-US" b="1" dirty="0"/>
              <a:t>◾️地域に関係する文献抽出のステップ</a:t>
            </a:r>
            <a:endParaRPr lang="en-US" altLang="ja-JP" b="1" dirty="0"/>
          </a:p>
          <a:p>
            <a:pPr marL="342900" indent="-342900">
              <a:buAutoNum type="arabicPeriod"/>
            </a:pPr>
            <a:r>
              <a:rPr lang="ja-JP" altLang="en-US" dirty="0"/>
              <a:t>文献の形態素解析</a:t>
            </a:r>
            <a:endParaRPr lang="en-US" altLang="ja-JP" dirty="0"/>
          </a:p>
          <a:p>
            <a:pPr marL="342900" indent="-342900">
              <a:buAutoNum type="arabicPeriod"/>
            </a:pPr>
            <a:r>
              <a:rPr lang="ja-JP" altLang="en-US" dirty="0"/>
              <a:t>地名、人名等の固有表現の抽出</a:t>
            </a:r>
            <a:endParaRPr lang="en-US" altLang="ja-JP" dirty="0"/>
          </a:p>
          <a:p>
            <a:pPr marL="342900" indent="-342900">
              <a:buAutoNum type="arabicPeriod"/>
            </a:pPr>
            <a:r>
              <a:rPr lang="ja-JP" altLang="en-US" dirty="0"/>
              <a:t>抽出された固有表現の精度評価</a:t>
            </a:r>
            <a:endParaRPr lang="en-US" altLang="ja-JP" dirty="0"/>
          </a:p>
          <a:p>
            <a:pPr marL="342900" indent="-342900">
              <a:buAutoNum type="arabicPeriod"/>
            </a:pPr>
            <a:r>
              <a:rPr lang="ja-JP" altLang="en-US" dirty="0"/>
              <a:t>精度向上に繋がる固有表現抽出手法の改良→３．に戻る</a:t>
            </a:r>
            <a:endParaRPr lang="en-US" altLang="ja-JP" dirty="0"/>
          </a:p>
          <a:p>
            <a:pPr marL="342900" indent="-342900">
              <a:buAutoNum type="arabicPeriod"/>
            </a:pPr>
            <a:r>
              <a:rPr lang="ja-JP" altLang="en-US" dirty="0"/>
              <a:t>十分</a:t>
            </a:r>
            <a:r>
              <a:rPr lang="ja-JP" altLang="en-US"/>
              <a:t>な精度を持つ固有</a:t>
            </a:r>
            <a:r>
              <a:rPr lang="ja-JP" altLang="en-US" dirty="0"/>
              <a:t>表現抽出手法の確定</a:t>
            </a:r>
            <a:endParaRPr lang="en-US" altLang="ja-JP" dirty="0"/>
          </a:p>
          <a:p>
            <a:endParaRPr lang="en-US" altLang="ja-JP" dirty="0"/>
          </a:p>
          <a:p>
            <a:r>
              <a:rPr lang="ja-JP" altLang="en-US" b="1" dirty="0"/>
              <a:t>◾️大学の地域活動指標モデルの形成</a:t>
            </a:r>
            <a:endParaRPr lang="en-US" altLang="ja-JP" b="1" dirty="0"/>
          </a:p>
          <a:p>
            <a:pPr marL="342900" indent="-342900">
              <a:buFont typeface="+mj-lt"/>
              <a:buAutoNum type="arabicPeriod"/>
            </a:pPr>
            <a:r>
              <a:rPr lang="ja-JP" altLang="en-US"/>
              <a:t>大学の地域活動にかかる指標の作成</a:t>
            </a:r>
            <a:endParaRPr lang="en-US" altLang="ja-JP" dirty="0"/>
          </a:p>
          <a:p>
            <a:pPr marL="342900" indent="-342900">
              <a:buFont typeface="+mj-lt"/>
              <a:buAutoNum type="arabicPeriod"/>
            </a:pPr>
            <a:r>
              <a:rPr lang="ja-JP" altLang="en-US"/>
              <a:t>指標を用いた個別の地域活動分析・成果発信</a:t>
            </a:r>
            <a:endParaRPr lang="en-US" altLang="ja-JP" dirty="0"/>
          </a:p>
          <a:p>
            <a:pPr marL="342900" indent="-342900">
              <a:buFont typeface="+mj-lt"/>
              <a:buAutoNum type="arabicPeriod"/>
            </a:pPr>
            <a:r>
              <a:rPr lang="ja-JP" altLang="en-US"/>
              <a:t>より統括的・戦略的な地域活動・研究の発信とフィードバック</a:t>
            </a:r>
            <a:endParaRPr lang="en-US" altLang="ja-JP" dirty="0"/>
          </a:p>
          <a:p>
            <a:pPr marL="342900" indent="-342900">
              <a:buFont typeface="+mj-lt"/>
              <a:buAutoNum type="arabicPeriod"/>
            </a:pPr>
            <a:r>
              <a:rPr lang="ja-JP" altLang="en-US"/>
              <a:t>地域活動や地域に関わる研究のさらなる展開</a:t>
            </a:r>
            <a:endParaRPr lang="en-US" altLang="ja-JP" dirty="0"/>
          </a:p>
        </p:txBody>
      </p:sp>
    </p:spTree>
    <p:extLst>
      <p:ext uri="{BB962C8B-B14F-4D97-AF65-F5344CB8AC3E}">
        <p14:creationId xmlns:p14="http://schemas.microsoft.com/office/powerpoint/2010/main" val="1930175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5632311"/>
          </a:xfrm>
          <a:prstGeom prst="rect">
            <a:avLst/>
          </a:prstGeom>
          <a:noFill/>
        </p:spPr>
        <p:txBody>
          <a:bodyPr wrap="square" rtlCol="0">
            <a:spAutoFit/>
          </a:bodyPr>
          <a:lstStyle/>
          <a:p>
            <a:r>
              <a:rPr lang="ja-JP" altLang="en-US"/>
              <a:t>文書（特に日本語）からの固有表現の抽出・判定に関しての課題</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◾️同一表現の曖昧性（特に地名）</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a:p>
          <a:p>
            <a:endParaRPr lang="en-US" altLang="ja-JP"/>
          </a:p>
          <a:p>
            <a:r>
              <a:rPr lang="ja-JP" altLang="en-US" b="1"/>
              <a:t>◾️</a:t>
            </a:r>
            <a:r>
              <a:rPr lang="en-US" altLang="ja-JP" b="1"/>
              <a:t>AI</a:t>
            </a:r>
            <a:r>
              <a:rPr lang="ja-JP" altLang="en-US" b="1"/>
              <a:t>活用の可能性</a:t>
            </a:r>
            <a:endParaRPr lang="en-US" altLang="ja-JP" b="1"/>
          </a:p>
          <a:p>
            <a:pPr marL="285750" indent="-285750">
              <a:buFont typeface="Arial" panose="020B0604020202020204" pitchFamily="34" charset="0"/>
              <a:buChar char="•"/>
            </a:pPr>
            <a:r>
              <a:rPr lang="en-US" altLang="ja-JP" dirty="0"/>
              <a:t>LLM</a:t>
            </a:r>
            <a:r>
              <a:rPr lang="ja-JP" altLang="en-US" dirty="0"/>
              <a:t>の急激な進化</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ja-JP" altLang="en-US" dirty="0"/>
              <a:t>既存</a:t>
            </a: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 (</a:t>
            </a:r>
            <a:r>
              <a:rPr lang="en" altLang="ja-JP" dirty="0">
                <a:hlinkClick r:id="rId4"/>
              </a:rPr>
              <a:t>https://dl.acm.org/doi/abs/10.1002/asi.21491</a:t>
            </a:r>
            <a:r>
              <a:rPr lang="en" altLang="ja-JP" dirty="0"/>
              <a:t>)</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306906"/>
            <a:ext cx="1033238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が用いられはじめたのはさらにごく最近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日本語における事例は少ないが、辞書ベース・ルールベースのものが</a:t>
            </a:r>
            <a:r>
              <a:rPr kumimoji="1" lang="en-US" altLang="ja-JP"/>
              <a:t>2000</a:t>
            </a:r>
            <a:r>
              <a:rPr kumimoji="1" lang="ja-JP" altLang="en-US"/>
              <a:t>年頃までは見られる</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研究課題名・本文からの地名抽出結果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175596" cy="369332"/>
          </a:xfrm>
          <a:prstGeom prst="rect">
            <a:avLst/>
          </a:prstGeom>
          <a:noFill/>
        </p:spPr>
        <p:txBody>
          <a:bodyPr wrap="none" rtlCol="0">
            <a:spAutoFit/>
          </a:bodyPr>
          <a:lstStyle/>
          <a:p>
            <a:r>
              <a:rPr kumimoji="1" lang="en-US" altLang="ja-JP" dirty="0"/>
              <a:t>n=1200 </a:t>
            </a:r>
            <a:r>
              <a:rPr kumimoji="1" lang="ja-JP" altLang="en-US" dirty="0"/>
              <a:t>→</a:t>
            </a:r>
            <a:r>
              <a:rPr kumimoji="1" lang="en-US" altLang="ja-JP" dirty="0"/>
              <a: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78450"/>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25398"/>
            <a:ext cx="1146468" cy="323165"/>
          </a:xfrm>
          <a:prstGeom prst="rect">
            <a:avLst/>
          </a:prstGeom>
          <a:noFill/>
        </p:spPr>
        <p:txBody>
          <a:bodyPr wrap="none" rtlCol="0">
            <a:spAutoFit/>
          </a:bodyPr>
          <a:lstStyle/>
          <a:p>
            <a:r>
              <a:rPr lang="ja-JP" altLang="en-US" sz="1500" b="1"/>
              <a:t>プロンプト</a:t>
            </a:r>
            <a:endParaRPr kumimoji="1" lang="ja-JP" altLang="en-US" sz="15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590256"/>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954655" cy="369332"/>
          </a:xfrm>
          <a:prstGeom prst="rect">
            <a:avLst/>
          </a:prstGeom>
          <a:noFill/>
        </p:spPr>
        <p:txBody>
          <a:bodyPr wrap="none" rtlCol="0">
            <a:spAutoFit/>
          </a:bodyPr>
          <a:lstStyle/>
          <a:p>
            <a:r>
              <a:rPr kumimoji="1" lang="ja-JP" altLang="en-US"/>
              <a:t>正しい出力形式としたもの</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445722" cy="369332"/>
          </a:xfrm>
          <a:prstGeom prst="rect">
            <a:avLst/>
          </a:prstGeom>
          <a:noFill/>
        </p:spPr>
        <p:txBody>
          <a:bodyPr wrap="none" rtlCol="0">
            <a:spAutoFit/>
          </a:bodyPr>
          <a:lstStyle/>
          <a:p>
            <a:r>
              <a:rPr lang="en-US" altLang="ja-JP" dirty="0"/>
              <a:t>2</a:t>
            </a:r>
            <a:r>
              <a:rPr kumimoji="1" lang="en-US" altLang="ja-JP" dirty="0"/>
              <a:t> AIs</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a:ln w="12700"/>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1029503"/>
            <a:ext cx="8427630"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189319" y="305644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189319" y="3560276"/>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173354" y="3276088"/>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8881916" y="1752778"/>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12509" y="3529499"/>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65300" y="3056446"/>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295105" y="3698776"/>
            <a:ext cx="6917404" cy="15389"/>
          </a:xfrm>
          <a:prstGeom prst="straightConnector1">
            <a:avLst/>
          </a:prstGeom>
          <a:ln w="190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dirty="0">
                <a:sym typeface="Wingdings" pitchFamily="2" charset="2"/>
              </a:rPr>
              <a:t>に対する</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決定された地名について</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485628" y="1095419"/>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155214" y="566389"/>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6731882" y="2414481"/>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003278" y="2783604"/>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442454"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003278" y="4887311"/>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6674732" y="4507916"/>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1442454" y="6440076"/>
            <a:ext cx="3707085" cy="276999"/>
          </a:xfrm>
          <a:prstGeom prst="rect">
            <a:avLst/>
          </a:prstGeom>
          <a:noFill/>
        </p:spPr>
        <p:txBody>
          <a:bodyPr wrap="square" rtlCol="0">
            <a:spAutoFit/>
          </a:bodyPr>
          <a:lstStyle/>
          <a:p>
            <a:r>
              <a:rPr kumimoji="1" lang="en-US" altLang="ja-JP" sz="1200" dirty="0"/>
              <a:t>※</a:t>
            </a:r>
            <a:r>
              <a:rPr kumimoji="1" lang="ja-JP" altLang="en-US" sz="1200"/>
              <a:t>決定は</a:t>
            </a:r>
            <a:r>
              <a:rPr kumimoji="1" lang="en-US" altLang="ja-JP" sz="1200" dirty="0"/>
              <a:t>2</a:t>
            </a:r>
            <a:r>
              <a:rPr kumimoji="1" lang="ja-JP" altLang="en-US" sz="1200"/>
              <a:t>種の</a:t>
            </a:r>
            <a:r>
              <a:rPr kumimoji="1" lang="en-US" altLang="ja-JP" sz="1200" dirty="0"/>
              <a:t>AI</a:t>
            </a:r>
            <a:r>
              <a:rPr kumimoji="1" lang="ja-JP" altLang="en-US" sz="1200"/>
              <a:t>、</a:t>
            </a:r>
            <a:r>
              <a:rPr kumimoji="1" lang="en-US" altLang="ja-JP" sz="1200" dirty="0"/>
              <a:t>3</a:t>
            </a:r>
            <a:r>
              <a:rPr kumimoji="1" lang="ja-JP" altLang="en-US" sz="1200"/>
              <a:t>名の人による各サイトの多数決</a:t>
            </a:r>
            <a:endParaRPr kumimoji="1" lang="en-US" altLang="ja-JP" sz="1200" dirty="0"/>
          </a:p>
        </p:txBody>
      </p:sp>
      <p:sp>
        <p:nvSpPr>
          <p:cNvPr id="7" name="テキスト ボックス 6">
            <a:extLst>
              <a:ext uri="{FF2B5EF4-FFF2-40B4-BE49-F238E27FC236}">
                <a16:creationId xmlns:a16="http://schemas.microsoft.com/office/drawing/2014/main" id="{EBC72453-F203-9733-C732-74FCECACCD22}"/>
              </a:ext>
            </a:extLst>
          </p:cNvPr>
          <p:cNvSpPr txBox="1"/>
          <p:nvPr/>
        </p:nvSpPr>
        <p:spPr>
          <a:xfrm>
            <a:off x="6731881" y="585694"/>
            <a:ext cx="2723823" cy="369332"/>
          </a:xfrm>
          <a:prstGeom prst="rect">
            <a:avLst/>
          </a:prstGeom>
          <a:noFill/>
        </p:spPr>
        <p:txBody>
          <a:bodyPr wrap="none" rtlCol="0">
            <a:spAutoFit/>
          </a:bodyPr>
          <a:lstStyle/>
          <a:p>
            <a:r>
              <a:rPr kumimoji="1" lang="ja-JP" altLang="en-US"/>
              <a:t>地名が出現した報告書数</a:t>
            </a:r>
          </a:p>
        </p:txBody>
      </p:sp>
      <p:pic>
        <p:nvPicPr>
          <p:cNvPr id="15" name="図 14">
            <a:extLst>
              <a:ext uri="{FF2B5EF4-FFF2-40B4-BE49-F238E27FC236}">
                <a16:creationId xmlns:a16="http://schemas.microsoft.com/office/drawing/2014/main" id="{F9380533-B022-AD19-01E0-1646732B0451}"/>
              </a:ext>
            </a:extLst>
          </p:cNvPr>
          <p:cNvPicPr>
            <a:picLocks noChangeAspect="1"/>
          </p:cNvPicPr>
          <p:nvPr/>
        </p:nvPicPr>
        <p:blipFill>
          <a:blip r:embed="rId4"/>
          <a:stretch>
            <a:fillRect/>
          </a:stretch>
        </p:blipFill>
        <p:spPr>
          <a:xfrm>
            <a:off x="7003278" y="997265"/>
            <a:ext cx="1185501" cy="750118"/>
          </a:xfrm>
          <a:prstGeom prst="rect">
            <a:avLst/>
          </a:prstGeom>
        </p:spPr>
      </p:pic>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33408" y="824566"/>
            <a:ext cx="5793112" cy="2585323"/>
          </a:xfrm>
          <a:prstGeom prst="rect">
            <a:avLst/>
          </a:prstGeom>
          <a:noFill/>
        </p:spPr>
        <p:txBody>
          <a:bodyPr wrap="square" rtlCol="0">
            <a:spAutoFit/>
          </a:bodyPr>
          <a:lstStyle/>
          <a:p>
            <a:r>
              <a:rPr kumimoji="1" lang="ja-JP" altLang="en-US"/>
              <a:t>日本語</a:t>
            </a:r>
            <a:r>
              <a:rPr kumimoji="1" lang="en-US" altLang="ja-JP" dirty="0"/>
              <a:t>NER</a:t>
            </a:r>
            <a:r>
              <a:rPr kumimoji="1" lang="ja-JP" altLang="en-US"/>
              <a:t>の</a:t>
            </a:r>
            <a:r>
              <a:rPr kumimoji="1" lang="en-US" altLang="ja-JP" dirty="0"/>
              <a:t>AI</a:t>
            </a:r>
            <a:r>
              <a:rPr kumimoji="1" lang="ja-JP" altLang="en-US"/>
              <a:t>利用に関して</a:t>
            </a:r>
            <a:endParaRPr kumimoji="1" lang="en-US" altLang="ja-JP" dirty="0"/>
          </a:p>
          <a:p>
            <a:pPr marL="285750" indent="-285750">
              <a:buFont typeface="Arial" panose="020B0604020202020204" pitchFamily="34" charset="0"/>
              <a:buChar char="•"/>
            </a:pPr>
            <a:r>
              <a:rPr kumimoji="1" lang="ja-JP" altLang="en-US"/>
              <a:t>形態素解析のみでの解決は難しい場合に対応できる可能性はある</a:t>
            </a:r>
            <a:endParaRPr kumimoji="1" lang="en-US" altLang="ja-JP" dirty="0"/>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endParaRPr lang="en-US" altLang="ja-JP" dirty="0"/>
          </a:p>
          <a:p>
            <a:endParaRPr lang="en-US" altLang="ja-JP" dirty="0"/>
          </a:p>
          <a:p>
            <a:r>
              <a:rPr lang="en-US" altLang="ja-JP" dirty="0"/>
              <a:t>AI</a:t>
            </a:r>
            <a:r>
              <a:rPr lang="ja-JP" altLang="en-US"/>
              <a:t>特有の問題</a:t>
            </a:r>
          </a:p>
          <a:p>
            <a:pPr marL="285750" indent="-285750">
              <a:buFont typeface="Arial" panose="020B0604020202020204" pitchFamily="34" charset="0"/>
              <a:buChar char="•"/>
            </a:pPr>
            <a:r>
              <a:rPr kumimoji="1" lang="ja-JP" altLang="en-US"/>
              <a:t>本研究は、</a:t>
            </a:r>
            <a:r>
              <a:rPr kumimoji="1" lang="en-US" altLang="ja-JP" dirty="0"/>
              <a:t>AI</a:t>
            </a:r>
            <a:r>
              <a:rPr kumimoji="1" lang="ja-JP" altLang="en-US"/>
              <a:t>に関しては判定よりも「出力形式」が問題となったケースであった</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701644"/>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286387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3749101"/>
            <a:ext cx="3896496" cy="1200329"/>
          </a:xfrm>
          <a:prstGeom prst="rect">
            <a:avLst/>
          </a:prstGeom>
          <a:noFill/>
          <a:ln w="12700">
            <a:solidFill>
              <a:schemeClr val="tx1"/>
            </a:solidFill>
          </a:ln>
        </p:spPr>
        <p:txBody>
          <a:bodyPr wrap="square" rtlCol="0">
            <a:spAutoFit/>
          </a:bodyPr>
          <a:lstStyle/>
          <a:p>
            <a:r>
              <a:rPr lang="ja-JP" altLang="en-US"/>
              <a:t>指標（特徴化）の可能性</a:t>
            </a:r>
            <a:endParaRPr lang="en-US" altLang="ja-JP"/>
          </a:p>
          <a:p>
            <a:pPr marL="285750" indent="-285750">
              <a:buFont typeface="Arial" panose="020B0604020202020204" pitchFamily="34" charset="0"/>
              <a:buChar char="•"/>
            </a:pPr>
            <a:r>
              <a:rPr lang="ja-JP" altLang="en-US"/>
              <a:t>地名決定の精度が低いことを考慮しても大学ごとの特徴を捉えているように見える</a:t>
            </a:r>
            <a:endParaRPr lang="en-US" altLang="ja-JP"/>
          </a:p>
        </p:txBody>
      </p:sp>
      <p:sp>
        <p:nvSpPr>
          <p:cNvPr id="4" name="テキスト ボックス 3">
            <a:extLst>
              <a:ext uri="{FF2B5EF4-FFF2-40B4-BE49-F238E27FC236}">
                <a16:creationId xmlns:a16="http://schemas.microsoft.com/office/drawing/2014/main" id="{2A1EFCD4-D5E0-2B30-16D3-0C40E7A69E9A}"/>
              </a:ext>
            </a:extLst>
          </p:cNvPr>
          <p:cNvSpPr txBox="1"/>
          <p:nvPr/>
        </p:nvSpPr>
        <p:spPr>
          <a:xfrm>
            <a:off x="766119" y="5188328"/>
            <a:ext cx="3896496" cy="923330"/>
          </a:xfrm>
          <a:prstGeom prst="rect">
            <a:avLst/>
          </a:prstGeom>
          <a:noFill/>
          <a:ln w="12700">
            <a:solidFill>
              <a:schemeClr val="tx1"/>
            </a:solidFill>
          </a:ln>
        </p:spPr>
        <p:txBody>
          <a:bodyPr wrap="square" rtlCol="0">
            <a:spAutoFit/>
          </a:bodyPr>
          <a:lstStyle/>
          <a:p>
            <a:r>
              <a:rPr kumimoji="1" lang="ja-JP" altLang="en-US"/>
              <a:t>本研究の方法では</a:t>
            </a:r>
            <a:r>
              <a:rPr kumimoji="1" lang="en-US" altLang="ja-JP"/>
              <a:t>NER</a:t>
            </a:r>
            <a:r>
              <a:rPr kumimoji="1" lang="ja-JP" altLang="en-US"/>
              <a:t>にて抽出されない固有表現のリカバリには対応できない</a:t>
            </a:r>
          </a:p>
        </p:txBody>
      </p:sp>
    </p:spTree>
    <p:extLst>
      <p:ext uri="{BB962C8B-B14F-4D97-AF65-F5344CB8AC3E}">
        <p14:creationId xmlns:p14="http://schemas.microsoft.com/office/powerpoint/2010/main" val="1349135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C3CAF5-F22B-1677-3DB3-86998CD82432}"/>
              </a:ext>
            </a:extLst>
          </p:cNvPr>
          <p:cNvSpPr>
            <a:spLocks noGrp="1"/>
          </p:cNvSpPr>
          <p:nvPr>
            <p:ph type="title"/>
          </p:nvPr>
        </p:nvSpPr>
        <p:spPr>
          <a:xfrm>
            <a:off x="838200" y="2766218"/>
            <a:ext cx="10515600" cy="1325563"/>
          </a:xfrm>
        </p:spPr>
        <p:txBody>
          <a:bodyPr/>
          <a:lstStyle/>
          <a:p>
            <a:pPr algn="ctr"/>
            <a:r>
              <a:rPr kumimoji="1" lang="ja-JP" altLang="en-US"/>
              <a:t>以下、旧スライド</a:t>
            </a:r>
          </a:p>
        </p:txBody>
      </p:sp>
    </p:spTree>
    <p:extLst>
      <p:ext uri="{BB962C8B-B14F-4D97-AF65-F5344CB8AC3E}">
        <p14:creationId xmlns:p14="http://schemas.microsoft.com/office/powerpoint/2010/main" val="40551540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cxnSp>
        <p:nvCxnSpPr>
          <p:cNvPr id="4" name="直線コネクタ 3">
            <a:extLst>
              <a:ext uri="{FF2B5EF4-FFF2-40B4-BE49-F238E27FC236}">
                <a16:creationId xmlns:a16="http://schemas.microsoft.com/office/drawing/2014/main" id="{BE82C9D2-362F-3FF9-356E-5D6E5B6E2AAA}"/>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4633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cxnSp>
        <p:nvCxnSpPr>
          <p:cNvPr id="3" name="直線コネクタ 2">
            <a:extLst>
              <a:ext uri="{FF2B5EF4-FFF2-40B4-BE49-F238E27FC236}">
                <a16:creationId xmlns:a16="http://schemas.microsoft.com/office/drawing/2014/main" id="{96BA9489-BBD2-DACF-8E8C-F1870C6C8B7E}"/>
              </a:ext>
            </a:extLst>
          </p:cNvPr>
          <p:cNvCxnSpPr/>
          <p:nvPr/>
        </p:nvCxnSpPr>
        <p:spPr>
          <a:xfrm flipV="1">
            <a:off x="515155" y="1088265"/>
            <a:ext cx="9910293" cy="465571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6746795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1235</TotalTime>
  <Words>3526</Words>
  <Application>Microsoft Macintosh PowerPoint</Application>
  <PresentationFormat>ワイド画面</PresentationFormat>
  <Paragraphs>352</Paragraphs>
  <Slides>21</Slides>
  <Notes>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21</vt:i4>
      </vt:variant>
    </vt:vector>
  </HeadingPairs>
  <TitlesOfParts>
    <vt:vector size="27"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結果(NERに対する修正の程度)</vt:lpstr>
      <vt:lpstr>結果(決定された地名について)</vt:lpstr>
      <vt:lpstr>まとめ</vt:lpstr>
      <vt:lpstr>以下、旧スライド</vt:lpstr>
      <vt:lpstr>背景（1）</vt:lpstr>
      <vt:lpstr>背景（2）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214</cp:revision>
  <dcterms:created xsi:type="dcterms:W3CDTF">2026-03-04T23:37:53Z</dcterms:created>
  <dcterms:modified xsi:type="dcterms:W3CDTF">2026-05-14T06:34:39Z</dcterms:modified>
</cp:coreProperties>
</file>