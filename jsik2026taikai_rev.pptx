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320" r:id="rId3"/>
    <p:sldId id="321"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 id="322" r:id="rId20"/>
    <p:sldId id="296" r:id="rId21"/>
    <p:sldId id="303" r:id="rId2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245"/>
    <p:restoredTop sz="94658"/>
  </p:normalViewPr>
  <p:slideViewPr>
    <p:cSldViewPr snapToGrid="0">
      <p:cViewPr varScale="1">
        <p:scale>
          <a:sx n="120" d="100"/>
          <a:sy n="120" d="100"/>
        </p:scale>
        <p:origin x="12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dirty="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4894-CE9F-00B8-15E7-F46738BD46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0813A6-2A40-7505-3C92-84A0AC349D2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1</a:t>
            </a:r>
            <a:r>
              <a:rPr kumimoji="1" lang="ja-JP" altLang="en-US" sz="3600" dirty="0"/>
              <a:t>）</a:t>
            </a:r>
          </a:p>
        </p:txBody>
      </p:sp>
      <p:sp>
        <p:nvSpPr>
          <p:cNvPr id="5" name="テキスト ボックス 4">
            <a:extLst>
              <a:ext uri="{FF2B5EF4-FFF2-40B4-BE49-F238E27FC236}">
                <a16:creationId xmlns:a16="http://schemas.microsoft.com/office/drawing/2014/main" id="{FC072985-171F-5D77-276A-30C4206B2E62}"/>
              </a:ext>
            </a:extLst>
          </p:cNvPr>
          <p:cNvSpPr txBox="1"/>
          <p:nvPr/>
        </p:nvSpPr>
        <p:spPr>
          <a:xfrm>
            <a:off x="-1" y="577517"/>
            <a:ext cx="12192000" cy="6463308"/>
          </a:xfrm>
          <a:prstGeom prst="rect">
            <a:avLst/>
          </a:prstGeom>
          <a:noFill/>
        </p:spPr>
        <p:txBody>
          <a:bodyPr wrap="square" rtlCol="0">
            <a:spAutoFit/>
          </a:bodyPr>
          <a:lstStyle/>
          <a:p>
            <a:r>
              <a:rPr lang="ja-JP" altLang="en-US" b="1" dirty="0"/>
              <a:t>◾️日本の高等教育を取り巻く外部環境</a:t>
            </a:r>
            <a:endParaRPr lang="en-US" altLang="ja-JP" b="1" dirty="0"/>
          </a:p>
          <a:p>
            <a:r>
              <a:rPr lang="ja-JP" altLang="en-US" dirty="0"/>
              <a:t>・少子化に伴う高等教育入学人口の減少</a:t>
            </a:r>
            <a:endParaRPr lang="en-US" altLang="ja-JP" dirty="0"/>
          </a:p>
          <a:p>
            <a:r>
              <a:rPr lang="ja-JP" altLang="en-US" dirty="0"/>
              <a:t>・国際的な研究競争力強化の必要性</a:t>
            </a:r>
            <a:endParaRPr lang="en-US" altLang="ja-JP" dirty="0"/>
          </a:p>
          <a:p>
            <a:r>
              <a:rPr lang="ja-JP" altLang="en-US" dirty="0"/>
              <a:t>・地域における活力の低下</a:t>
            </a:r>
            <a:endParaRPr lang="en-US" altLang="ja-JP" dirty="0"/>
          </a:p>
          <a:p>
            <a:endParaRPr lang="en-US" altLang="ja-JP" dirty="0"/>
          </a:p>
          <a:p>
            <a:r>
              <a:rPr lang="ja-JP" altLang="en-US" b="1" dirty="0"/>
              <a:t>◾️国の高等教育政策</a:t>
            </a:r>
            <a:endParaRPr lang="en-US" altLang="ja-JP" b="1" dirty="0"/>
          </a:p>
          <a:p>
            <a:r>
              <a:rPr lang="ja-JP" altLang="en-US" dirty="0"/>
              <a:t>・大学の再編統合による規模縮小</a:t>
            </a:r>
            <a:endParaRPr lang="en-US" altLang="ja-JP" dirty="0"/>
          </a:p>
          <a:p>
            <a:r>
              <a:rPr lang="ja-JP" altLang="en-US" dirty="0"/>
              <a:t>・大学の機能分化（</a:t>
            </a:r>
            <a:r>
              <a:rPr lang="en-US" altLang="ja-JP" dirty="0"/>
              <a:t>SGU</a:t>
            </a:r>
            <a:r>
              <a:rPr lang="ja-JP" altLang="en-US" dirty="0"/>
              <a:t>、地域の知の中核、専門大学）</a:t>
            </a:r>
            <a:endParaRPr lang="en-US" altLang="ja-JP" dirty="0"/>
          </a:p>
          <a:p>
            <a:r>
              <a:rPr lang="ja-JP" altLang="en-US" dirty="0"/>
              <a:t>によるメリハリある高等教育発展の構想</a:t>
            </a:r>
            <a:endParaRPr lang="en-US" altLang="ja-JP" dirty="0"/>
          </a:p>
          <a:p>
            <a:endParaRPr lang="en-US" altLang="ja-JP" dirty="0"/>
          </a:p>
          <a:p>
            <a:r>
              <a:rPr lang="ja-JP" altLang="en-US" b="1" dirty="0"/>
              <a:t>◾️大学評価における課題</a:t>
            </a:r>
            <a:endParaRPr lang="en-US" altLang="ja-JP" b="1" dirty="0"/>
          </a:p>
          <a:p>
            <a:r>
              <a:rPr lang="ja-JP" altLang="en-US" dirty="0"/>
              <a:t>・論文の被引用状況に基づく評価指標の過大視</a:t>
            </a:r>
            <a:endParaRPr lang="en-US" altLang="ja-JP" dirty="0"/>
          </a:p>
          <a:p>
            <a:r>
              <a:rPr lang="ja-JP" altLang="en-US" dirty="0"/>
              <a:t>・大学の地域力を計量化可能な評価指標の不在</a:t>
            </a:r>
            <a:endParaRPr lang="en-US" altLang="ja-JP" dirty="0"/>
          </a:p>
          <a:p>
            <a:r>
              <a:rPr lang="ja-JP" altLang="en-US" dirty="0"/>
              <a:t>→結果として、「地域の知の中核」として発展すべき大学を抽出し、評価、資金投下できない。</a:t>
            </a:r>
            <a:endParaRPr lang="en-US" altLang="ja-JP" dirty="0"/>
          </a:p>
          <a:p>
            <a:endParaRPr lang="en-US" altLang="ja-JP" dirty="0"/>
          </a:p>
          <a:p>
            <a:r>
              <a:rPr lang="ja-JP" altLang="en-US" b="1" dirty="0"/>
              <a:t>◾️鹿児島県の高等教育の現状</a:t>
            </a:r>
            <a:endParaRPr lang="en-US" altLang="ja-JP" b="1" dirty="0"/>
          </a:p>
          <a:p>
            <a:r>
              <a:rPr lang="ja-JP" altLang="en-US" dirty="0"/>
              <a:t>・県内に６総合大学（国立大２（鹿大、鹿屋体育大）、私立大４）</a:t>
            </a:r>
            <a:endParaRPr lang="en-US" altLang="ja-JP" dirty="0"/>
          </a:p>
          <a:p>
            <a:r>
              <a:rPr lang="ja-JP" altLang="en-US" dirty="0"/>
              <a:t>・鹿児島大学は、県内唯一の国立総合大学として既に「地域の知の拠点」として機能</a:t>
            </a:r>
            <a:endParaRPr lang="en-US" altLang="ja-JP" dirty="0"/>
          </a:p>
          <a:p>
            <a:r>
              <a:rPr lang="ja-JP" altLang="en-US" dirty="0"/>
              <a:t>・鹿大教員は、幅広く地域活動や地域に関わる研究を展開</a:t>
            </a:r>
            <a:endParaRPr lang="en-US" altLang="ja-JP" dirty="0"/>
          </a:p>
          <a:p>
            <a:r>
              <a:rPr lang="ja-JP" altLang="en-US" dirty="0"/>
              <a:t>→ただし、その地域活動は十分に評価されていない。</a:t>
            </a:r>
            <a:endParaRPr lang="en-US" altLang="ja-JP" dirty="0"/>
          </a:p>
          <a:p>
            <a:endParaRPr lang="en-US" altLang="ja-JP" dirty="0"/>
          </a:p>
          <a:p>
            <a:r>
              <a:rPr lang="ja-JP" altLang="en-US" dirty="0"/>
              <a:t>⇒ </a:t>
            </a:r>
            <a:r>
              <a:rPr lang="ja-JP" altLang="en-US" sz="2000" u="sng" dirty="0"/>
              <a:t>大学の地域活動の見える化、評価指標の形成が必要</a:t>
            </a:r>
            <a:endParaRPr lang="en-US" altLang="ja-JP" sz="2000" u="sng" dirty="0"/>
          </a:p>
          <a:p>
            <a:endParaRPr lang="ja-JP" altLang="en-US" dirty="0"/>
          </a:p>
        </p:txBody>
      </p:sp>
    </p:spTree>
    <p:extLst>
      <p:ext uri="{BB962C8B-B14F-4D97-AF65-F5344CB8AC3E}">
        <p14:creationId xmlns:p14="http://schemas.microsoft.com/office/powerpoint/2010/main" val="4253336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D288E-8D25-E767-CF91-F0E1E3BC78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A9E296-D053-E27A-BC76-DA005600C3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2</a:t>
            </a:r>
            <a:r>
              <a:rPr kumimoji="1" lang="ja-JP" altLang="en-US" sz="3600" dirty="0"/>
              <a:t>）</a:t>
            </a:r>
          </a:p>
        </p:txBody>
      </p:sp>
      <p:sp>
        <p:nvSpPr>
          <p:cNvPr id="5" name="テキスト ボックス 4">
            <a:extLst>
              <a:ext uri="{FF2B5EF4-FFF2-40B4-BE49-F238E27FC236}">
                <a16:creationId xmlns:a16="http://schemas.microsoft.com/office/drawing/2014/main" id="{97088CE3-A990-F39F-3F9E-9AA86B5F5979}"/>
              </a:ext>
            </a:extLst>
          </p:cNvPr>
          <p:cNvSpPr txBox="1"/>
          <p:nvPr/>
        </p:nvSpPr>
        <p:spPr>
          <a:xfrm>
            <a:off x="-1" y="577517"/>
            <a:ext cx="12192000" cy="4247317"/>
          </a:xfrm>
          <a:prstGeom prst="rect">
            <a:avLst/>
          </a:prstGeom>
          <a:noFill/>
        </p:spPr>
        <p:txBody>
          <a:bodyPr wrap="square" rtlCol="0">
            <a:spAutoFit/>
          </a:bodyPr>
          <a:lstStyle/>
          <a:p>
            <a:r>
              <a:rPr lang="ja-JP" altLang="en-US" b="1" dirty="0"/>
              <a:t>◾️大学の地域活動の評価指標形成のアプローチ</a:t>
            </a:r>
          </a:p>
          <a:p>
            <a:r>
              <a:rPr lang="ja-JP" altLang="en-US" dirty="0"/>
              <a:t>・大学の研究業績からの地域に関わる研究の抽出</a:t>
            </a:r>
            <a:endParaRPr lang="en-US" altLang="ja-JP" dirty="0"/>
          </a:p>
          <a:p>
            <a:endParaRPr lang="en-US" altLang="ja-JP" dirty="0"/>
          </a:p>
          <a:p>
            <a:r>
              <a:rPr lang="ja-JP" altLang="en-US" b="1" dirty="0"/>
              <a:t>◾️地域に関係する文献抽出のステップ</a:t>
            </a:r>
            <a:endParaRPr lang="en-US" altLang="ja-JP" b="1" dirty="0"/>
          </a:p>
          <a:p>
            <a:pPr marL="342900" indent="-342900">
              <a:buAutoNum type="arabicPeriod"/>
            </a:pPr>
            <a:r>
              <a:rPr lang="ja-JP" altLang="en-US" dirty="0"/>
              <a:t>文献の形態素解析</a:t>
            </a:r>
            <a:endParaRPr lang="en-US" altLang="ja-JP" dirty="0"/>
          </a:p>
          <a:p>
            <a:pPr marL="342900" indent="-342900">
              <a:buAutoNum type="arabicPeriod"/>
            </a:pPr>
            <a:r>
              <a:rPr lang="ja-JP" altLang="en-US" dirty="0"/>
              <a:t>地名、人名等の固有表現の抽出</a:t>
            </a:r>
            <a:endParaRPr lang="en-US" altLang="ja-JP" dirty="0"/>
          </a:p>
          <a:p>
            <a:pPr marL="342900" indent="-342900">
              <a:buAutoNum type="arabicPeriod"/>
            </a:pPr>
            <a:r>
              <a:rPr lang="ja-JP" altLang="en-US" dirty="0"/>
              <a:t>抽出された固有表現の精度評価</a:t>
            </a:r>
            <a:endParaRPr lang="en-US" altLang="ja-JP" dirty="0"/>
          </a:p>
          <a:p>
            <a:pPr marL="342900" indent="-342900">
              <a:buAutoNum type="arabicPeriod"/>
            </a:pPr>
            <a:r>
              <a:rPr lang="ja-JP" altLang="en-US" dirty="0"/>
              <a:t>精度向上に繋がる固有表現抽出手法の改良→３．に戻る</a:t>
            </a:r>
            <a:endParaRPr lang="en-US" altLang="ja-JP" dirty="0"/>
          </a:p>
          <a:p>
            <a:pPr marL="342900" indent="-342900">
              <a:buAutoNum type="arabicPeriod"/>
            </a:pPr>
            <a:r>
              <a:rPr lang="ja-JP" altLang="en-US" dirty="0"/>
              <a:t>十分</a:t>
            </a:r>
            <a:r>
              <a:rPr lang="ja-JP" altLang="en-US"/>
              <a:t>な精度を持つ固有</a:t>
            </a:r>
            <a:r>
              <a:rPr lang="ja-JP" altLang="en-US" dirty="0"/>
              <a:t>表現抽出手法の確定</a:t>
            </a:r>
            <a:endParaRPr lang="en-US" altLang="ja-JP" dirty="0"/>
          </a:p>
          <a:p>
            <a:endParaRPr lang="en-US" altLang="ja-JP" dirty="0"/>
          </a:p>
          <a:p>
            <a:r>
              <a:rPr lang="ja-JP" altLang="en-US" b="1" dirty="0"/>
              <a:t>◾️大学の地域活動指標モデルの形成</a:t>
            </a:r>
            <a:endParaRPr lang="en-US" altLang="ja-JP" b="1" dirty="0"/>
          </a:p>
          <a:p>
            <a:pPr marL="342900" indent="-342900">
              <a:buFont typeface="+mj-lt"/>
              <a:buAutoNum type="arabicPeriod"/>
            </a:pPr>
            <a:r>
              <a:rPr lang="ja-JP" altLang="en-US"/>
              <a:t>大学の地域活動にかかる指標の作成</a:t>
            </a:r>
            <a:endParaRPr lang="en-US" altLang="ja-JP" dirty="0"/>
          </a:p>
          <a:p>
            <a:pPr marL="342900" indent="-342900">
              <a:buFont typeface="+mj-lt"/>
              <a:buAutoNum type="arabicPeriod"/>
            </a:pPr>
            <a:r>
              <a:rPr lang="ja-JP" altLang="en-US"/>
              <a:t>指標を用いた個別の地域活動分析・成果発信</a:t>
            </a:r>
            <a:endParaRPr lang="en-US" altLang="ja-JP" dirty="0"/>
          </a:p>
          <a:p>
            <a:pPr marL="342900" indent="-342900">
              <a:buFont typeface="+mj-lt"/>
              <a:buAutoNum type="arabicPeriod"/>
            </a:pPr>
            <a:r>
              <a:rPr lang="ja-JP" altLang="en-US"/>
              <a:t>より統括的な地域活動・研究の発信とフィードバック</a:t>
            </a:r>
            <a:endParaRPr lang="en-US" altLang="ja-JP" dirty="0"/>
          </a:p>
          <a:p>
            <a:pPr marL="342900" indent="-342900">
              <a:buFont typeface="+mj-lt"/>
              <a:buAutoNum type="arabicPeriod"/>
            </a:pPr>
            <a:r>
              <a:rPr lang="ja-JP" altLang="en-US"/>
              <a:t>地域活動や地域に関わる研究のさらなる展開</a:t>
            </a:r>
            <a:endParaRPr lang="en-US" altLang="ja-JP" dirty="0"/>
          </a:p>
        </p:txBody>
      </p:sp>
    </p:spTree>
    <p:extLst>
      <p:ext uri="{BB962C8B-B14F-4D97-AF65-F5344CB8AC3E}">
        <p14:creationId xmlns:p14="http://schemas.microsoft.com/office/powerpoint/2010/main" val="1930175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文書（特に日本語）からの固有表現の抽出・判定に関しての課題</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585323"/>
          </a:xfrm>
          <a:prstGeom prst="rect">
            <a:avLst/>
          </a:prstGeom>
          <a:noFill/>
        </p:spPr>
        <p:txBody>
          <a:bodyPr wrap="square" rtlCol="0">
            <a:spAutoFit/>
          </a:bodyPr>
          <a:lstStyle/>
          <a:p>
            <a:r>
              <a:rPr kumimoji="1" lang="ja-JP" altLang="en-US"/>
              <a:t>日本語</a:t>
            </a:r>
            <a:r>
              <a:rPr kumimoji="1" lang="en-US" altLang="ja-JP" dirty="0"/>
              <a:t>NER</a:t>
            </a:r>
            <a:r>
              <a:rPr kumimoji="1" lang="ja-JP" altLang="en-US"/>
              <a:t>の</a:t>
            </a:r>
            <a:r>
              <a:rPr kumimoji="1" lang="en-US" altLang="ja-JP" dirty="0"/>
              <a:t>AI</a:t>
            </a:r>
            <a:r>
              <a:rPr kumimoji="1" lang="ja-JP" altLang="en-US"/>
              <a:t>利用に関して</a:t>
            </a:r>
            <a:endParaRPr kumimoji="1" lang="en-US" altLang="ja-JP" dirty="0"/>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dirty="0"/>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dirty="0"/>
          </a:p>
          <a:p>
            <a:endParaRPr lang="en-US" altLang="ja-JP" dirty="0"/>
          </a:p>
          <a:p>
            <a:r>
              <a:rPr lang="en-US" altLang="ja-JP" dirty="0"/>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dirty="0"/>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701644"/>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286387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3749101"/>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
        <p:nvSpPr>
          <p:cNvPr id="4" name="テキスト ボックス 3">
            <a:extLst>
              <a:ext uri="{FF2B5EF4-FFF2-40B4-BE49-F238E27FC236}">
                <a16:creationId xmlns:a16="http://schemas.microsoft.com/office/drawing/2014/main" id="{2A1EFCD4-D5E0-2B30-16D3-0C40E7A69E9A}"/>
              </a:ext>
            </a:extLst>
          </p:cNvPr>
          <p:cNvSpPr txBox="1"/>
          <p:nvPr/>
        </p:nvSpPr>
        <p:spPr>
          <a:xfrm>
            <a:off x="766119" y="5188328"/>
            <a:ext cx="3896496" cy="923330"/>
          </a:xfrm>
          <a:prstGeom prst="rect">
            <a:avLst/>
          </a:prstGeom>
          <a:noFill/>
          <a:ln w="12700">
            <a:solidFill>
              <a:schemeClr val="tx1"/>
            </a:solidFill>
          </a:ln>
        </p:spPr>
        <p:txBody>
          <a:bodyPr wrap="square" rtlCol="0">
            <a:spAutoFit/>
          </a:bodyPr>
          <a:lstStyle/>
          <a:p>
            <a:r>
              <a:rPr kumimoji="1" lang="ja-JP" altLang="en-US"/>
              <a:t>本研究の方法では</a:t>
            </a:r>
            <a:r>
              <a:rPr kumimoji="1" lang="en-US" altLang="ja-JP"/>
              <a:t>NER</a:t>
            </a:r>
            <a:r>
              <a:rPr kumimoji="1" lang="ja-JP" altLang="en-US"/>
              <a:t>にて抽出されない固有表現のリカバリには対応できない</a:t>
            </a:r>
          </a:p>
        </p:txBody>
      </p:sp>
    </p:spTree>
    <p:extLst>
      <p:ext uri="{BB962C8B-B14F-4D97-AF65-F5344CB8AC3E}">
        <p14:creationId xmlns:p14="http://schemas.microsoft.com/office/powerpoint/2010/main" val="1349135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C3CAF5-F22B-1677-3DB3-86998CD82432}"/>
              </a:ext>
            </a:extLst>
          </p:cNvPr>
          <p:cNvSpPr>
            <a:spLocks noGrp="1"/>
          </p:cNvSpPr>
          <p:nvPr>
            <p:ph type="title"/>
          </p:nvPr>
        </p:nvSpPr>
        <p:spPr>
          <a:xfrm>
            <a:off x="838200" y="2766218"/>
            <a:ext cx="10515600" cy="1325563"/>
          </a:xfrm>
        </p:spPr>
        <p:txBody>
          <a:bodyPr/>
          <a:lstStyle/>
          <a:p>
            <a:pPr algn="ctr"/>
            <a:r>
              <a:rPr kumimoji="1" lang="ja-JP" altLang="en-US"/>
              <a:t>以下、旧スライド</a:t>
            </a:r>
          </a:p>
        </p:txBody>
      </p:sp>
    </p:spTree>
    <p:extLst>
      <p:ext uri="{BB962C8B-B14F-4D97-AF65-F5344CB8AC3E}">
        <p14:creationId xmlns:p14="http://schemas.microsoft.com/office/powerpoint/2010/main" val="40551540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cxnSp>
        <p:nvCxnSpPr>
          <p:cNvPr id="4" name="直線コネクタ 3">
            <a:extLst>
              <a:ext uri="{FF2B5EF4-FFF2-40B4-BE49-F238E27FC236}">
                <a16:creationId xmlns:a16="http://schemas.microsoft.com/office/drawing/2014/main" id="{BE82C9D2-362F-3FF9-356E-5D6E5B6E2AAA}"/>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463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cxnSp>
        <p:nvCxnSpPr>
          <p:cNvPr id="3" name="直線コネクタ 2">
            <a:extLst>
              <a:ext uri="{FF2B5EF4-FFF2-40B4-BE49-F238E27FC236}">
                <a16:creationId xmlns:a16="http://schemas.microsoft.com/office/drawing/2014/main" id="{96BA9489-BBD2-DACF-8E8C-F1870C6C8B7E}"/>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6746795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1213</TotalTime>
  <Words>3504</Words>
  <Application>Microsoft Macintosh PowerPoint</Application>
  <PresentationFormat>ワイド画面</PresentationFormat>
  <Paragraphs>347</Paragraphs>
  <Slides>21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21</vt:i4>
      </vt:variant>
    </vt:vector>
  </HeadingPairs>
  <TitlesOfParts>
    <vt:vector size="27"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結果(決定された地名について)</vt:lpstr>
      <vt:lpstr>まとめ</vt:lpstr>
      <vt:lpstr>以下、旧スライド</vt:lpstr>
      <vt:lpstr>背景（1）</vt:lpstr>
      <vt:lpstr>背景（2）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205</cp:revision>
  <dcterms:created xsi:type="dcterms:W3CDTF">2026-03-04T23:37:53Z</dcterms:created>
  <dcterms:modified xsi:type="dcterms:W3CDTF">2026-05-14T06:05:25Z</dcterms:modified>
</cp:coreProperties>
</file>