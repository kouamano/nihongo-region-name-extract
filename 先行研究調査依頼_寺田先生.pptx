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07" r:id="rId2"/>
    <p:sldId id="306" r:id="rId3"/>
    <p:sldId id="308" r:id="rId4"/>
    <p:sldId id="309"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12"/>
    <p:restoredTop sz="94658"/>
  </p:normalViewPr>
  <p:slideViewPr>
    <p:cSldViewPr snapToGrid="0">
      <p:cViewPr varScale="1">
        <p:scale>
          <a:sx n="82" d="100"/>
          <a:sy n="82" d="100"/>
        </p:scale>
        <p:origin x="102"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C6A632-7A03-97D6-06E6-0EF0D62B341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3631936-173F-8F1F-D668-004CD4BB5C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4E34DC1-EA52-6820-093B-3325DC9E835E}"/>
              </a:ext>
            </a:extLst>
          </p:cNvPr>
          <p:cNvSpPr>
            <a:spLocks noGrp="1"/>
          </p:cNvSpPr>
          <p:nvPr>
            <p:ph type="dt" sz="half" idx="10"/>
          </p:nvPr>
        </p:nvSpPr>
        <p:spPr/>
        <p:txBody>
          <a:bodyPr/>
          <a:lstStyle/>
          <a:p>
            <a:fld id="{716789AD-CAC3-AD41-B5C9-BF5C62A1889D}"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2F5292B1-1DB2-5D30-B95D-14114DB0C94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CCB9934-3D96-5EE5-142C-4EA0B150B50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6719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A1BD27-5452-BE2F-9511-48DA0408F69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B5889CB-59F7-D6BC-9274-59C40BC94E9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41E0B9-ADE3-E0ED-5B61-CA0048BE1375}"/>
              </a:ext>
            </a:extLst>
          </p:cNvPr>
          <p:cNvSpPr>
            <a:spLocks noGrp="1"/>
          </p:cNvSpPr>
          <p:nvPr>
            <p:ph type="dt" sz="half" idx="10"/>
          </p:nvPr>
        </p:nvSpPr>
        <p:spPr/>
        <p:txBody>
          <a:bodyPr/>
          <a:lstStyle/>
          <a:p>
            <a:fld id="{716789AD-CAC3-AD41-B5C9-BF5C62A1889D}"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63C547F7-2590-90EB-A176-23C831FAB99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77F363-5620-E337-DC00-AF52392CAE50}"/>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314534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38AFB6-A320-CAF1-87A5-2D97163836B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374E81-70CC-4423-09AA-174A2CA6DD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7F7F049-9A50-CA53-D176-71EA34995C4D}"/>
              </a:ext>
            </a:extLst>
          </p:cNvPr>
          <p:cNvSpPr>
            <a:spLocks noGrp="1"/>
          </p:cNvSpPr>
          <p:nvPr>
            <p:ph type="dt" sz="half" idx="10"/>
          </p:nvPr>
        </p:nvSpPr>
        <p:spPr/>
        <p:txBody>
          <a:bodyPr/>
          <a:lstStyle/>
          <a:p>
            <a:fld id="{716789AD-CAC3-AD41-B5C9-BF5C62A1889D}"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D8DB405D-7621-CDB8-8048-A5A36E53D71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1DDDE3-36B9-E78A-839D-8B068ACF6DCE}"/>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192029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1A47A7-B89B-8076-6D9B-8D5AC1C60BE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A2E04C-91E5-75C9-81A6-E597A649C0A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A6BC579-EA02-00FB-01CE-9BFDE251BF9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5C043F0-AC83-44E5-C367-AD3BCE55DFED}"/>
              </a:ext>
            </a:extLst>
          </p:cNvPr>
          <p:cNvSpPr>
            <a:spLocks noGrp="1"/>
          </p:cNvSpPr>
          <p:nvPr>
            <p:ph type="dt" sz="half" idx="10"/>
          </p:nvPr>
        </p:nvSpPr>
        <p:spPr/>
        <p:txBody>
          <a:bodyPr/>
          <a:lstStyle/>
          <a:p>
            <a:fld id="{716789AD-CAC3-AD41-B5C9-BF5C62A1889D}" type="datetimeFigureOut">
              <a:rPr kumimoji="1" lang="ja-JP" altLang="en-US" smtClean="0"/>
              <a:t>2026/4/23</a:t>
            </a:fld>
            <a:endParaRPr kumimoji="1" lang="ja-JP" altLang="en-US"/>
          </a:p>
        </p:txBody>
      </p:sp>
      <p:sp>
        <p:nvSpPr>
          <p:cNvPr id="6" name="フッター プレースホルダー 5">
            <a:extLst>
              <a:ext uri="{FF2B5EF4-FFF2-40B4-BE49-F238E27FC236}">
                <a16:creationId xmlns:a16="http://schemas.microsoft.com/office/drawing/2014/main" id="{B98B8877-1693-FF2A-DD22-6072009E785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8618FC4-731D-A3EA-E437-41947980846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416950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5ACE69-5C3A-A8B0-69CA-FDDF79C02DB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37F15CE-C0AA-A8EC-7450-6476E5F3B0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00725B5-8E2B-041E-CB1A-EF3E8B70D24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12D8A55-5AD7-8454-060F-F3B928F7C5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770827D-BE9F-C60D-0D4A-56BE066761B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84CAC34-A91B-913F-112C-1E98360A9B16}"/>
              </a:ext>
            </a:extLst>
          </p:cNvPr>
          <p:cNvSpPr>
            <a:spLocks noGrp="1"/>
          </p:cNvSpPr>
          <p:nvPr>
            <p:ph type="dt" sz="half" idx="10"/>
          </p:nvPr>
        </p:nvSpPr>
        <p:spPr/>
        <p:txBody>
          <a:bodyPr/>
          <a:lstStyle/>
          <a:p>
            <a:fld id="{716789AD-CAC3-AD41-B5C9-BF5C62A1889D}" type="datetimeFigureOut">
              <a:rPr kumimoji="1" lang="ja-JP" altLang="en-US" smtClean="0"/>
              <a:t>2026/4/23</a:t>
            </a:fld>
            <a:endParaRPr kumimoji="1" lang="ja-JP" altLang="en-US"/>
          </a:p>
        </p:txBody>
      </p:sp>
      <p:sp>
        <p:nvSpPr>
          <p:cNvPr id="8" name="フッター プレースホルダー 7">
            <a:extLst>
              <a:ext uri="{FF2B5EF4-FFF2-40B4-BE49-F238E27FC236}">
                <a16:creationId xmlns:a16="http://schemas.microsoft.com/office/drawing/2014/main" id="{2C9ABD3C-1F40-5841-9942-FE91F313B16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27FB7E5-8B10-1FEF-9E45-ED225BF7177A}"/>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496875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37E24E-F998-488C-A967-E2384FC951D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A32024B-6100-9240-248B-CA2A43F426D1}"/>
              </a:ext>
            </a:extLst>
          </p:cNvPr>
          <p:cNvSpPr>
            <a:spLocks noGrp="1"/>
          </p:cNvSpPr>
          <p:nvPr>
            <p:ph type="dt" sz="half" idx="10"/>
          </p:nvPr>
        </p:nvSpPr>
        <p:spPr/>
        <p:txBody>
          <a:bodyPr/>
          <a:lstStyle/>
          <a:p>
            <a:fld id="{716789AD-CAC3-AD41-B5C9-BF5C62A1889D}" type="datetimeFigureOut">
              <a:rPr kumimoji="1" lang="ja-JP" altLang="en-US" smtClean="0"/>
              <a:t>2026/4/23</a:t>
            </a:fld>
            <a:endParaRPr kumimoji="1" lang="ja-JP" altLang="en-US"/>
          </a:p>
        </p:txBody>
      </p:sp>
      <p:sp>
        <p:nvSpPr>
          <p:cNvPr id="4" name="フッター プレースホルダー 3">
            <a:extLst>
              <a:ext uri="{FF2B5EF4-FFF2-40B4-BE49-F238E27FC236}">
                <a16:creationId xmlns:a16="http://schemas.microsoft.com/office/drawing/2014/main" id="{FF2EA323-B1D3-A60C-169A-B086CB081EF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4A34271-057B-10C7-132C-A4638553ED80}"/>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504779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635FA7A-93AD-D2B1-05D6-7FAF32A2C55F}"/>
              </a:ext>
            </a:extLst>
          </p:cNvPr>
          <p:cNvSpPr>
            <a:spLocks noGrp="1"/>
          </p:cNvSpPr>
          <p:nvPr>
            <p:ph type="dt" sz="half" idx="10"/>
          </p:nvPr>
        </p:nvSpPr>
        <p:spPr/>
        <p:txBody>
          <a:bodyPr/>
          <a:lstStyle/>
          <a:p>
            <a:fld id="{716789AD-CAC3-AD41-B5C9-BF5C62A1889D}" type="datetimeFigureOut">
              <a:rPr kumimoji="1" lang="ja-JP" altLang="en-US" smtClean="0"/>
              <a:t>2026/4/23</a:t>
            </a:fld>
            <a:endParaRPr kumimoji="1" lang="ja-JP" altLang="en-US"/>
          </a:p>
        </p:txBody>
      </p:sp>
      <p:sp>
        <p:nvSpPr>
          <p:cNvPr id="3" name="フッター プレースホルダー 2">
            <a:extLst>
              <a:ext uri="{FF2B5EF4-FFF2-40B4-BE49-F238E27FC236}">
                <a16:creationId xmlns:a16="http://schemas.microsoft.com/office/drawing/2014/main" id="{CFE10980-D7A5-C75A-35A1-74922B872CE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98CCC2E-0372-7984-27A3-E7630330C95D}"/>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768944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635452-6694-48B0-2F4B-D8613133BC2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B5EA1B-7CB3-15AD-9339-95BED1FBE0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6403982-7C57-B123-55F6-4EBCC487E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DE23125-1312-B43D-D08E-A33AEE702A2C}"/>
              </a:ext>
            </a:extLst>
          </p:cNvPr>
          <p:cNvSpPr>
            <a:spLocks noGrp="1"/>
          </p:cNvSpPr>
          <p:nvPr>
            <p:ph type="dt" sz="half" idx="10"/>
          </p:nvPr>
        </p:nvSpPr>
        <p:spPr/>
        <p:txBody>
          <a:bodyPr/>
          <a:lstStyle/>
          <a:p>
            <a:fld id="{716789AD-CAC3-AD41-B5C9-BF5C62A1889D}" type="datetimeFigureOut">
              <a:rPr kumimoji="1" lang="ja-JP" altLang="en-US" smtClean="0"/>
              <a:t>2026/4/23</a:t>
            </a:fld>
            <a:endParaRPr kumimoji="1" lang="ja-JP" altLang="en-US"/>
          </a:p>
        </p:txBody>
      </p:sp>
      <p:sp>
        <p:nvSpPr>
          <p:cNvPr id="6" name="フッター プレースホルダー 5">
            <a:extLst>
              <a:ext uri="{FF2B5EF4-FFF2-40B4-BE49-F238E27FC236}">
                <a16:creationId xmlns:a16="http://schemas.microsoft.com/office/drawing/2014/main" id="{80C7F1C1-D5C2-78D7-ADF0-A07C094F4A8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4415F6-747E-12D7-7100-D414E765BC93}"/>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2400988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BB85E6-A594-1B2E-CBFB-9F5783A90A2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9F6E2E7-84FD-0A2C-CA9D-0147AC1AD6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D9FF62D-1B1E-700E-34E0-7DF45DE18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D71ECEB-348F-8EA2-45B3-C830709818FE}"/>
              </a:ext>
            </a:extLst>
          </p:cNvPr>
          <p:cNvSpPr>
            <a:spLocks noGrp="1"/>
          </p:cNvSpPr>
          <p:nvPr>
            <p:ph type="dt" sz="half" idx="10"/>
          </p:nvPr>
        </p:nvSpPr>
        <p:spPr/>
        <p:txBody>
          <a:bodyPr/>
          <a:lstStyle/>
          <a:p>
            <a:fld id="{716789AD-CAC3-AD41-B5C9-BF5C62A1889D}" type="datetimeFigureOut">
              <a:rPr kumimoji="1" lang="ja-JP" altLang="en-US" smtClean="0"/>
              <a:t>2026/4/23</a:t>
            </a:fld>
            <a:endParaRPr kumimoji="1" lang="ja-JP" altLang="en-US"/>
          </a:p>
        </p:txBody>
      </p:sp>
      <p:sp>
        <p:nvSpPr>
          <p:cNvPr id="6" name="フッター プレースホルダー 5">
            <a:extLst>
              <a:ext uri="{FF2B5EF4-FFF2-40B4-BE49-F238E27FC236}">
                <a16:creationId xmlns:a16="http://schemas.microsoft.com/office/drawing/2014/main" id="{53D40AEA-1771-3C1F-D38D-2AABEEB880B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A4CE8C9-A7E6-E91D-5202-34BC2A94AB71}"/>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5173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AA0D9F-9CE3-D3D7-C4D8-34A0001011C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AACF51F-FE5C-6320-74D8-5117657B4E3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2519A4-5425-3161-51E4-E803C2735863}"/>
              </a:ext>
            </a:extLst>
          </p:cNvPr>
          <p:cNvSpPr>
            <a:spLocks noGrp="1"/>
          </p:cNvSpPr>
          <p:nvPr>
            <p:ph type="dt" sz="half" idx="10"/>
          </p:nvPr>
        </p:nvSpPr>
        <p:spPr/>
        <p:txBody>
          <a:bodyPr/>
          <a:lstStyle/>
          <a:p>
            <a:fld id="{716789AD-CAC3-AD41-B5C9-BF5C62A1889D}"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4DA9A69C-3E26-C307-7312-17E5AB5F55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678011B-4581-EE2A-FA4E-6DBD62712FBD}"/>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51199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DC0F4E0-25A5-D9D0-89A5-79A67F1DDD7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3B8CFB4-DC17-7E0C-329E-736FD930325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E2CCDFC-48EB-123C-AE7C-FD40758CB4F3}"/>
              </a:ext>
            </a:extLst>
          </p:cNvPr>
          <p:cNvSpPr>
            <a:spLocks noGrp="1"/>
          </p:cNvSpPr>
          <p:nvPr>
            <p:ph type="dt" sz="half" idx="10"/>
          </p:nvPr>
        </p:nvSpPr>
        <p:spPr/>
        <p:txBody>
          <a:bodyPr/>
          <a:lstStyle/>
          <a:p>
            <a:fld id="{716789AD-CAC3-AD41-B5C9-BF5C62A1889D}"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BD272EE4-2DDF-228C-8B9B-994A4AA454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D7B0FA-04F6-8EC7-E928-FC997B43EE9C}"/>
              </a:ext>
            </a:extLst>
          </p:cNvPr>
          <p:cNvSpPr>
            <a:spLocks noGrp="1"/>
          </p:cNvSpPr>
          <p:nvPr>
            <p:ph type="sldNum" sz="quarter" idx="12"/>
          </p:nvPr>
        </p:nvSpPr>
        <p:spPr/>
        <p:txBody>
          <a:body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1862313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C346513-02ED-46E1-E87A-2B3C36119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7899317-66E8-B955-B11F-CB6B16AE52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0442F6-8CF5-9167-1176-7168D75F03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6789AD-CAC3-AD41-B5C9-BF5C62A1889D}" type="datetimeFigureOut">
              <a:rPr kumimoji="1" lang="ja-JP" altLang="en-US" smtClean="0"/>
              <a:t>2026/4/23</a:t>
            </a:fld>
            <a:endParaRPr kumimoji="1" lang="ja-JP" altLang="en-US"/>
          </a:p>
        </p:txBody>
      </p:sp>
      <p:sp>
        <p:nvSpPr>
          <p:cNvPr id="5" name="フッター プレースホルダー 4">
            <a:extLst>
              <a:ext uri="{FF2B5EF4-FFF2-40B4-BE49-F238E27FC236}">
                <a16:creationId xmlns:a16="http://schemas.microsoft.com/office/drawing/2014/main" id="{7C368A6B-A177-5391-D0E1-6593606D2A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5F73624-1AFB-ABE8-B3E2-ED7CE2B7F0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5F81E0-45AE-274A-9999-4133AAA5BC6B}" type="slidenum">
              <a:rPr kumimoji="1" lang="ja-JP" altLang="en-US" smtClean="0"/>
              <a:t>‹#›</a:t>
            </a:fld>
            <a:endParaRPr kumimoji="1" lang="ja-JP" altLang="en-US"/>
          </a:p>
        </p:txBody>
      </p:sp>
    </p:spTree>
    <p:extLst>
      <p:ext uri="{BB962C8B-B14F-4D97-AF65-F5344CB8AC3E}">
        <p14:creationId xmlns:p14="http://schemas.microsoft.com/office/powerpoint/2010/main" val="3723563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aclanthology.org/C14-1147.pdf" TargetMode="External"/><Relationship Id="rId2" Type="http://schemas.openxmlformats.org/officeDocument/2006/relationships/hyperlink" Target="https://www.tandfonline.com/doi/full/10.1080/13658816.2024.2405182"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nlp.cs.nyu.edu/sekine/papers/skeiji_nlp06.pdf" TargetMode="External"/><Relationship Id="rId2" Type="http://schemas.openxmlformats.org/officeDocument/2006/relationships/hyperlink" Target="https://kanadas.com/search-papers/extract2.pdf"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ir.library.osaka-u.ac.jp/repo/ouka/all/93281/?lang=1" TargetMode="External"/><Relationship Id="rId2" Type="http://schemas.openxmlformats.org/officeDocument/2006/relationships/hyperlink" Target="https://www.anlp.jp/proceedings/annual_meeting/2024/pdf_dir/C8-5.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7EBDA6F-2E1E-1534-316C-91888CC6B51D}"/>
              </a:ext>
            </a:extLst>
          </p:cNvPr>
          <p:cNvSpPr txBox="1"/>
          <p:nvPr/>
        </p:nvSpPr>
        <p:spPr>
          <a:xfrm>
            <a:off x="4849505" y="159488"/>
            <a:ext cx="2492990" cy="369332"/>
          </a:xfrm>
          <a:prstGeom prst="rect">
            <a:avLst/>
          </a:prstGeom>
          <a:noFill/>
        </p:spPr>
        <p:txBody>
          <a:bodyPr wrap="none" rtlCol="0">
            <a:spAutoFit/>
          </a:bodyPr>
          <a:lstStyle/>
          <a:p>
            <a:r>
              <a:rPr kumimoji="1" lang="ja-JP" altLang="en-US"/>
              <a:t>先行研究調査のお願い</a:t>
            </a:r>
          </a:p>
        </p:txBody>
      </p:sp>
      <p:sp>
        <p:nvSpPr>
          <p:cNvPr id="5" name="テキスト ボックス 4">
            <a:extLst>
              <a:ext uri="{FF2B5EF4-FFF2-40B4-BE49-F238E27FC236}">
                <a16:creationId xmlns:a16="http://schemas.microsoft.com/office/drawing/2014/main" id="{4F20E6A3-D9FB-ECD3-2BC1-619CCFB569A4}"/>
              </a:ext>
            </a:extLst>
          </p:cNvPr>
          <p:cNvSpPr txBox="1"/>
          <p:nvPr/>
        </p:nvSpPr>
        <p:spPr>
          <a:xfrm>
            <a:off x="1552292" y="1225123"/>
            <a:ext cx="8725466" cy="3693319"/>
          </a:xfrm>
          <a:prstGeom prst="rect">
            <a:avLst/>
          </a:prstGeom>
          <a:noFill/>
          <a:ln>
            <a:solidFill>
              <a:schemeClr val="tx1"/>
            </a:solidFill>
          </a:ln>
        </p:spPr>
        <p:txBody>
          <a:bodyPr wrap="none" rtlCol="0">
            <a:spAutoFit/>
          </a:bodyPr>
          <a:lstStyle/>
          <a:p>
            <a:r>
              <a:rPr kumimoji="1" lang="ja-JP" altLang="en-US" dirty="0"/>
              <a:t>現在までの調査のまとめとして、次ページに代表的な研究をリストしてあります。</a:t>
            </a:r>
            <a:endParaRPr kumimoji="1" lang="en-US" altLang="ja-JP" dirty="0"/>
          </a:p>
          <a:p>
            <a:r>
              <a:rPr lang="ja-JP" altLang="en-US" dirty="0"/>
              <a:t>ほかの</a:t>
            </a:r>
            <a:r>
              <a:rPr kumimoji="1" lang="ja-JP" altLang="en-US" dirty="0"/>
              <a:t>方法等の存在も確認したいので追加の調査をお願いします。</a:t>
            </a:r>
            <a:endParaRPr kumimoji="1" lang="en-US" altLang="ja-JP" dirty="0"/>
          </a:p>
          <a:p>
            <a:endParaRPr lang="en-US" altLang="ja-JP" dirty="0"/>
          </a:p>
          <a:p>
            <a:r>
              <a:rPr kumimoji="1" lang="ja-JP" altLang="en-US" dirty="0"/>
              <a:t>・調査の観点</a:t>
            </a:r>
            <a:endParaRPr kumimoji="1" lang="en-US" altLang="ja-JP" dirty="0"/>
          </a:p>
          <a:p>
            <a:r>
              <a:rPr lang="ja-JP" altLang="en-US" dirty="0"/>
              <a:t>　　・より古いもの</a:t>
            </a:r>
            <a:endParaRPr lang="en-US" altLang="ja-JP" dirty="0"/>
          </a:p>
          <a:p>
            <a:r>
              <a:rPr kumimoji="1" lang="ja-JP" altLang="en-US" dirty="0"/>
              <a:t>　　・本研究と同じ手法をとるもの</a:t>
            </a:r>
            <a:endParaRPr kumimoji="1" lang="en-US" altLang="ja-JP" dirty="0"/>
          </a:p>
          <a:p>
            <a:r>
              <a:rPr lang="ja-JP" altLang="en-US" dirty="0"/>
              <a:t>　　・同様の目的でその他の手法を用いるもの</a:t>
            </a:r>
            <a:endParaRPr kumimoji="1" lang="en-US" altLang="ja-JP" dirty="0"/>
          </a:p>
          <a:p>
            <a:r>
              <a:rPr lang="ja-JP" altLang="en-US" dirty="0"/>
              <a:t>　　・日本語を対象としたもの</a:t>
            </a:r>
            <a:endParaRPr lang="en-US" altLang="ja-JP" dirty="0"/>
          </a:p>
          <a:p>
            <a:r>
              <a:rPr lang="ja-JP" altLang="en-US" dirty="0"/>
              <a:t>　　・その他紹介しておくと話が面白くなりそうなもの</a:t>
            </a:r>
            <a:endParaRPr lang="en-US" altLang="ja-JP" dirty="0"/>
          </a:p>
          <a:p>
            <a:endParaRPr kumimoji="1" lang="en-US" altLang="ja-JP" dirty="0"/>
          </a:p>
          <a:p>
            <a:r>
              <a:rPr lang="ja-JP" altLang="en-US" dirty="0"/>
              <a:t>・調査結果の型式</a:t>
            </a:r>
            <a:endParaRPr lang="en-US" altLang="ja-JP" dirty="0"/>
          </a:p>
          <a:p>
            <a:r>
              <a:rPr kumimoji="1" lang="ja-JP" altLang="en-US" dirty="0"/>
              <a:t>　テキストで書誌情報をまとめたものに、簡単な説明を付与してください。</a:t>
            </a:r>
            <a:endParaRPr kumimoji="1" lang="en-US" altLang="ja-JP" dirty="0"/>
          </a:p>
          <a:p>
            <a:r>
              <a:rPr lang="ja-JP" altLang="en-US" dirty="0"/>
              <a:t>　説明の付与は次ページを参考にしてください。</a:t>
            </a:r>
            <a:endParaRPr kumimoji="1" lang="ja-JP" altLang="en-US" dirty="0"/>
          </a:p>
        </p:txBody>
      </p:sp>
    </p:spTree>
    <p:extLst>
      <p:ext uri="{BB962C8B-B14F-4D97-AF65-F5344CB8AC3E}">
        <p14:creationId xmlns:p14="http://schemas.microsoft.com/office/powerpoint/2010/main" val="1776294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62D95-6BB5-08C4-6C52-791A0EAD6D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9F9B36-6E1B-F1B7-3CA0-607DD3CB5039}"/>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先行研究</a:t>
            </a:r>
          </a:p>
        </p:txBody>
      </p:sp>
      <p:sp>
        <p:nvSpPr>
          <p:cNvPr id="5" name="テキスト ボックス 4">
            <a:extLst>
              <a:ext uri="{FF2B5EF4-FFF2-40B4-BE49-F238E27FC236}">
                <a16:creationId xmlns:a16="http://schemas.microsoft.com/office/drawing/2014/main" id="{A11988AF-0076-B539-AA4D-FB9D86D4B661}"/>
              </a:ext>
            </a:extLst>
          </p:cNvPr>
          <p:cNvSpPr txBox="1"/>
          <p:nvPr/>
        </p:nvSpPr>
        <p:spPr>
          <a:xfrm>
            <a:off x="0" y="577517"/>
            <a:ext cx="12192000" cy="3970318"/>
          </a:xfrm>
          <a:prstGeom prst="rect">
            <a:avLst/>
          </a:prstGeom>
          <a:noFill/>
        </p:spPr>
        <p:txBody>
          <a:bodyPr wrap="square" rtlCol="0">
            <a:spAutoFit/>
          </a:bodyPr>
          <a:lstStyle/>
          <a:p>
            <a:pPr marL="285750" indent="-285750">
              <a:buFont typeface="Arial" panose="020B0604020202020204" pitchFamily="34" charset="0"/>
              <a:buChar char="•"/>
            </a:pPr>
            <a:r>
              <a:rPr lang="en" altLang="ja-JP" dirty="0"/>
              <a:t>Toponym resolution leveraging lightweight and open-source large language models and geo-knowledge. 2024.  (</a:t>
            </a:r>
            <a:r>
              <a:rPr lang="en" altLang="ja-JP" dirty="0">
                <a:hlinkClick r:id="rId2"/>
              </a:rPr>
              <a:t>https://www.tandfonline.com/doi/full/10.1080/13658816.2024.2405182</a:t>
            </a:r>
            <a:r>
              <a:rPr lang="en" altLang="ja-JP" dirty="0"/>
              <a:t>)</a:t>
            </a:r>
          </a:p>
          <a:p>
            <a:pPr marL="742950" lvl="1" indent="-285750">
              <a:buFont typeface="Arial" panose="020B0604020202020204" pitchFamily="34" charset="0"/>
              <a:buChar char="•"/>
            </a:pPr>
            <a:r>
              <a:rPr lang="ja-JP" altLang="en-US" dirty="0"/>
              <a:t>地名から地理的な位置を推定する</a:t>
            </a:r>
            <a:endParaRPr lang="en-US" altLang="ja-JP" dirty="0"/>
          </a:p>
          <a:p>
            <a:pPr marL="742950" lvl="1" indent="-285750">
              <a:buFont typeface="Arial" panose="020B0604020202020204" pitchFamily="34" charset="0"/>
              <a:buChar char="•"/>
            </a:pPr>
            <a:r>
              <a:rPr lang="en-US" altLang="ja-JP" dirty="0"/>
              <a:t>GIS</a:t>
            </a:r>
            <a:r>
              <a:rPr lang="ja-JP" altLang="en-US" dirty="0"/>
              <a:t>情報を使う</a:t>
            </a:r>
            <a:endParaRPr lang="en-US" altLang="ja-JP" dirty="0"/>
          </a:p>
          <a:p>
            <a:pPr marL="742950" lvl="1" indent="-285750">
              <a:buFont typeface="Arial" panose="020B0604020202020204" pitchFamily="34" charset="0"/>
              <a:buChar char="•"/>
            </a:pPr>
            <a:r>
              <a:rPr lang="ja-JP" altLang="en-US" dirty="0"/>
              <a:t>既存</a:t>
            </a:r>
            <a:r>
              <a:rPr lang="en-US" altLang="ja-JP" dirty="0"/>
              <a:t>LLM</a:t>
            </a:r>
            <a:r>
              <a:rPr lang="ja-JP" altLang="en-US" dirty="0"/>
              <a:t>を利用</a:t>
            </a:r>
            <a:endParaRPr lang="en-US" altLang="ja-JP" dirty="0"/>
          </a:p>
          <a:p>
            <a:pPr marL="285750" indent="-285750">
              <a:buFont typeface="Arial" panose="020B0604020202020204" pitchFamily="34" charset="0"/>
              <a:buChar char="•"/>
            </a:pPr>
            <a:r>
              <a:rPr lang="en" altLang="ja-JP" dirty="0"/>
              <a:t>Collective Named Entity Disambiguation using Graph Ranking and Clique Partitioning Approaches. 2014. (</a:t>
            </a:r>
            <a:r>
              <a:rPr lang="en" altLang="ja-JP" dirty="0">
                <a:hlinkClick r:id="rId3"/>
              </a:rPr>
              <a:t>https://aclanthology.org/C14-1147.pdf</a:t>
            </a:r>
            <a:r>
              <a:rPr lang="en" altLang="ja-JP" dirty="0"/>
              <a:t>)</a:t>
            </a:r>
          </a:p>
          <a:p>
            <a:pPr marL="742950" lvl="1" indent="-285750">
              <a:buFont typeface="Arial" panose="020B0604020202020204" pitchFamily="34" charset="0"/>
              <a:buChar char="•"/>
            </a:pPr>
            <a:r>
              <a:rPr lang="en-US" altLang="ja-JP" dirty="0"/>
              <a:t>Knowledge Base</a:t>
            </a:r>
            <a:r>
              <a:rPr lang="ja-JP" altLang="en-US" dirty="0"/>
              <a:t>（辞書）を利用</a:t>
            </a:r>
            <a:endParaRPr lang="en-US" altLang="ja-JP" dirty="0"/>
          </a:p>
          <a:p>
            <a:pPr marL="742950" lvl="1" indent="-285750">
              <a:buFont typeface="Arial" panose="020B0604020202020204" pitchFamily="34" charset="0"/>
              <a:buChar char="•"/>
            </a:pPr>
            <a:r>
              <a:rPr lang="ja-JP" altLang="en-US" dirty="0"/>
              <a:t>グラフ構造を解析（ノードが地名）</a:t>
            </a:r>
            <a:endParaRPr lang="en-US" altLang="ja-JP" dirty="0"/>
          </a:p>
          <a:p>
            <a:pPr marL="742950" lvl="1" indent="-285750">
              <a:buFont typeface="Arial" panose="020B0604020202020204" pitchFamily="34" charset="0"/>
              <a:buChar char="•"/>
            </a:pPr>
            <a:r>
              <a:rPr lang="ja-JP" altLang="en-US" dirty="0"/>
              <a:t>既存</a:t>
            </a:r>
            <a:r>
              <a:rPr lang="en-US" altLang="ja-JP" dirty="0"/>
              <a:t>LLM</a:t>
            </a:r>
            <a:r>
              <a:rPr lang="ja-JP" altLang="en-US" dirty="0"/>
              <a:t>を利用しない</a:t>
            </a:r>
            <a:endParaRPr lang="en-US" altLang="ja-JP" dirty="0"/>
          </a:p>
          <a:p>
            <a:pPr marL="285750" indent="-285750">
              <a:buFont typeface="Arial" panose="020B0604020202020204" pitchFamily="34" charset="0"/>
              <a:buChar char="•"/>
            </a:pPr>
            <a:r>
              <a:rPr lang="ja-JP" altLang="en-US" dirty="0"/>
              <a:t>歴史災害史料からの自動地名抽出に向けた自然言語処理システムの性能評価</a:t>
            </a:r>
            <a:r>
              <a:rPr lang="en-US" altLang="ja-JP" dirty="0"/>
              <a:t>. 2023. (https://</a:t>
            </a:r>
            <a:r>
              <a:rPr lang="en-US" altLang="ja-JP" dirty="0" err="1"/>
              <a:t>ipsj.ixsq.nii.ac.jp</a:t>
            </a:r>
            <a:r>
              <a:rPr lang="en-US" altLang="ja-JP" dirty="0"/>
              <a:t>/record/231338/files/IPSJ-CH2023003.pdf)</a:t>
            </a:r>
          </a:p>
          <a:p>
            <a:pPr marL="742950" lvl="1" indent="-285750">
              <a:buFont typeface="Arial" panose="020B0604020202020204" pitchFamily="34" charset="0"/>
              <a:buChar char="•"/>
            </a:pPr>
            <a:r>
              <a:rPr lang="ja-JP" altLang="en-US" dirty="0"/>
              <a:t>固有表現抽出と</a:t>
            </a:r>
            <a:r>
              <a:rPr lang="en-US" altLang="ja-JP" dirty="0"/>
              <a:t>LLM</a:t>
            </a:r>
            <a:r>
              <a:rPr lang="ja-JP" altLang="en-US" dirty="0"/>
              <a:t>に対して評価（連結利用は行なっていない）</a:t>
            </a:r>
            <a:endParaRPr lang="en-US" altLang="ja-JP" dirty="0"/>
          </a:p>
          <a:p>
            <a:pPr marL="742950" lvl="1" indent="-285750">
              <a:buFont typeface="Arial" panose="020B0604020202020204" pitchFamily="34" charset="0"/>
              <a:buChar char="•"/>
            </a:pPr>
            <a:r>
              <a:rPr lang="ja-JP" altLang="en-US" dirty="0"/>
              <a:t>「正解」に対する正答の評価</a:t>
            </a:r>
            <a:endParaRPr lang="en-US" altLang="ja-JP" dirty="0"/>
          </a:p>
        </p:txBody>
      </p:sp>
      <p:sp>
        <p:nvSpPr>
          <p:cNvPr id="3" name="テキスト ボックス 2">
            <a:extLst>
              <a:ext uri="{FF2B5EF4-FFF2-40B4-BE49-F238E27FC236}">
                <a16:creationId xmlns:a16="http://schemas.microsoft.com/office/drawing/2014/main" id="{AACCC8C1-61CC-DBD3-10A4-7D171D5FF268}"/>
              </a:ext>
            </a:extLst>
          </p:cNvPr>
          <p:cNvSpPr txBox="1"/>
          <p:nvPr/>
        </p:nvSpPr>
        <p:spPr>
          <a:xfrm>
            <a:off x="0" y="4803155"/>
            <a:ext cx="12192000" cy="1754326"/>
          </a:xfrm>
          <a:prstGeom prst="rect">
            <a:avLst/>
          </a:prstGeom>
          <a:noFill/>
        </p:spPr>
        <p:txBody>
          <a:bodyPr wrap="square" rtlCol="0">
            <a:spAutoFit/>
          </a:bodyPr>
          <a:lstStyle/>
          <a:p>
            <a:pPr marL="285750" indent="-285750">
              <a:buFont typeface="Wingdings" pitchFamily="2" charset="2"/>
              <a:buChar char="Ø"/>
            </a:pPr>
            <a:r>
              <a:rPr kumimoji="1" lang="ja-JP" altLang="en-US" dirty="0"/>
              <a:t>海外では地名から地理的な位置を特定する研究は典型的（</a:t>
            </a:r>
            <a:r>
              <a:rPr kumimoji="1" lang="en-US" altLang="ja-JP" dirty="0"/>
              <a:t>toponym</a:t>
            </a:r>
            <a:r>
              <a:rPr kumimoji="1" lang="ja-JP" altLang="en-US" dirty="0"/>
              <a:t>）</a:t>
            </a:r>
            <a:endParaRPr lang="en-US" altLang="ja-JP" dirty="0"/>
          </a:p>
          <a:p>
            <a:pPr marL="285750" indent="-285750">
              <a:buFont typeface="Wingdings" pitchFamily="2" charset="2"/>
              <a:buChar char="Ø"/>
            </a:pPr>
            <a:r>
              <a:rPr kumimoji="1" lang="ja-JP" altLang="en-US" dirty="0"/>
              <a:t>曖昧性解決においても地理情報と結びつけて行うものがほとんど</a:t>
            </a:r>
            <a:endParaRPr kumimoji="1" lang="en-US" altLang="ja-JP" dirty="0"/>
          </a:p>
          <a:p>
            <a:pPr marL="285750" indent="-285750">
              <a:buFont typeface="Wingdings" pitchFamily="2" charset="2"/>
              <a:buChar char="Ø"/>
            </a:pPr>
            <a:r>
              <a:rPr lang="ja-JP" altLang="en-US" dirty="0"/>
              <a:t>地理情報を利用しない曖昧性解決においては、近年には独自</a:t>
            </a:r>
            <a:r>
              <a:rPr lang="en-US" altLang="ja-JP" dirty="0"/>
              <a:t>NN</a:t>
            </a:r>
            <a:r>
              <a:rPr lang="ja-JP" altLang="en-US" dirty="0"/>
              <a:t>開発によるものが見受けられる</a:t>
            </a:r>
            <a:endParaRPr lang="en-US" altLang="ja-JP" dirty="0"/>
          </a:p>
          <a:p>
            <a:pPr marL="285750" indent="-285750">
              <a:buFont typeface="Wingdings" pitchFamily="2" charset="2"/>
              <a:buChar char="Ø"/>
            </a:pPr>
            <a:r>
              <a:rPr lang="ja-JP" altLang="en-US" dirty="0"/>
              <a:t>曖昧性解決において</a:t>
            </a:r>
            <a:r>
              <a:rPr kumimoji="1" lang="ja-JP" altLang="en-US" dirty="0"/>
              <a:t>一般的な</a:t>
            </a:r>
            <a:r>
              <a:rPr kumimoji="1" lang="en-US" altLang="ja-JP" dirty="0"/>
              <a:t>LLM</a:t>
            </a:r>
            <a:r>
              <a:rPr lang="ja-JP" altLang="en-US" dirty="0"/>
              <a:t>が用いられはじめたのはごく最近</a:t>
            </a:r>
            <a:endParaRPr lang="en-US" altLang="ja-JP" dirty="0"/>
          </a:p>
          <a:p>
            <a:pPr marL="285750" indent="-285750">
              <a:buFont typeface="Wingdings" pitchFamily="2" charset="2"/>
              <a:buChar char="Ø"/>
            </a:pPr>
            <a:r>
              <a:rPr lang="ja-JP" altLang="en-US" dirty="0"/>
              <a:t>地名と地名以外を含む幅広い固有表現の曖昧性解決も行われている</a:t>
            </a:r>
            <a:endParaRPr lang="en-US" altLang="ja-JP" dirty="0"/>
          </a:p>
          <a:p>
            <a:pPr marL="285750" indent="-285750">
              <a:buFont typeface="Wingdings" pitchFamily="2" charset="2"/>
              <a:buChar char="Ø"/>
            </a:pPr>
            <a:r>
              <a:rPr kumimoji="1" lang="ja-JP" altLang="en-US" dirty="0"/>
              <a:t>日本語における事例はほぼ見られない</a:t>
            </a:r>
            <a:endParaRPr kumimoji="1" lang="en-US" altLang="ja-JP" dirty="0"/>
          </a:p>
        </p:txBody>
      </p:sp>
    </p:spTree>
    <p:extLst>
      <p:ext uri="{BB962C8B-B14F-4D97-AF65-F5344CB8AC3E}">
        <p14:creationId xmlns:p14="http://schemas.microsoft.com/office/powerpoint/2010/main" val="2513616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2B223BD-C38C-F4C2-3561-8F831ED177CC}"/>
              </a:ext>
            </a:extLst>
          </p:cNvPr>
          <p:cNvSpPr>
            <a:spLocks noGrp="1"/>
          </p:cNvSpPr>
          <p:nvPr>
            <p:ph idx="1"/>
          </p:nvPr>
        </p:nvSpPr>
        <p:spPr>
          <a:xfrm>
            <a:off x="685800" y="768350"/>
            <a:ext cx="10896600" cy="5433158"/>
          </a:xfrm>
        </p:spPr>
        <p:txBody>
          <a:bodyPr>
            <a:normAutofit/>
          </a:bodyPr>
          <a:lstStyle/>
          <a:p>
            <a:r>
              <a:rPr lang="ja-JP" altLang="en-US" sz="2400" dirty="0"/>
              <a:t>検索結果を地域で整理する百科事典テキスト検索のための地名情報抽出法</a:t>
            </a:r>
            <a:endParaRPr lang="en-US" altLang="ja-JP" sz="2400" dirty="0"/>
          </a:p>
          <a:p>
            <a:r>
              <a:rPr kumimoji="1" lang="en-US" altLang="ja-JP" sz="2400" dirty="0">
                <a:hlinkClick r:id="rId2"/>
              </a:rPr>
              <a:t>https://kanadas.com/search-papers/extract2.pdf</a:t>
            </a:r>
            <a:endParaRPr kumimoji="1" lang="en-US" altLang="ja-JP" sz="2400" dirty="0"/>
          </a:p>
          <a:p>
            <a:pPr lvl="1"/>
            <a:r>
              <a:rPr lang="en-US" altLang="ja-JP" sz="2000" b="0" i="0" dirty="0">
                <a:solidFill>
                  <a:srgbClr val="333333"/>
                </a:solidFill>
                <a:effectLst/>
                <a:latin typeface="Hiragino Kaku Gothic ProN"/>
              </a:rPr>
              <a:t>2002</a:t>
            </a:r>
            <a:r>
              <a:rPr lang="ja-JP" altLang="en-US" sz="2000" b="0" i="0" dirty="0">
                <a:solidFill>
                  <a:srgbClr val="333333"/>
                </a:solidFill>
                <a:effectLst/>
                <a:latin typeface="Hiragino Kaku Gothic ProN"/>
              </a:rPr>
              <a:t>年の自然言語処理技術の文脈で、大規模な百科事典データからの地名抽出</a:t>
            </a:r>
            <a:endParaRPr lang="en-US" altLang="ja-JP" sz="2000" b="0" i="0" dirty="0">
              <a:solidFill>
                <a:srgbClr val="333333"/>
              </a:solidFill>
              <a:effectLst/>
              <a:latin typeface="Hiragino Kaku Gothic ProN"/>
            </a:endParaRPr>
          </a:p>
          <a:p>
            <a:pPr lvl="1"/>
            <a:r>
              <a:rPr lang="ja-JP" altLang="en-US" sz="2000" b="0" i="0" dirty="0">
                <a:solidFill>
                  <a:srgbClr val="333333"/>
                </a:solidFill>
                <a:effectLst/>
                <a:latin typeface="Hiragino Kaku Gothic ProN"/>
              </a:rPr>
              <a:t>インターネット黎明期のルールベース・辞書ベースの技術</a:t>
            </a:r>
            <a:endParaRPr lang="en-US" altLang="ja-JP" sz="2000" b="0" i="0" dirty="0">
              <a:solidFill>
                <a:srgbClr val="333333"/>
              </a:solidFill>
              <a:effectLst/>
              <a:latin typeface="Hiragino Kaku Gothic ProN"/>
            </a:endParaRPr>
          </a:p>
          <a:p>
            <a:pPr lvl="1"/>
            <a:r>
              <a:rPr lang="ja-JP" altLang="en-US" sz="2000" dirty="0">
                <a:solidFill>
                  <a:srgbClr val="333333"/>
                </a:solidFill>
                <a:latin typeface="Hiragino Kaku Gothic ProN"/>
              </a:rPr>
              <a:t>機械学習</a:t>
            </a:r>
            <a:r>
              <a:rPr lang="ja-JP" altLang="en-US" sz="2000" b="0" i="0" dirty="0">
                <a:solidFill>
                  <a:srgbClr val="333333"/>
                </a:solidFill>
                <a:effectLst/>
                <a:latin typeface="Hiragino Kaku Gothic ProN"/>
              </a:rPr>
              <a:t>ではない方法で「</a:t>
            </a:r>
            <a:r>
              <a:rPr lang="en-US" altLang="ja-JP" sz="2000" b="0" i="0" dirty="0">
                <a:solidFill>
                  <a:srgbClr val="333333"/>
                </a:solidFill>
                <a:effectLst/>
                <a:latin typeface="Hiragino Kaku Gothic ProN"/>
              </a:rPr>
              <a:t>4. </a:t>
            </a:r>
            <a:r>
              <a:rPr lang="ja-JP" altLang="en-US" sz="2000" b="0" i="0" dirty="0">
                <a:solidFill>
                  <a:srgbClr val="333333"/>
                </a:solidFill>
                <a:effectLst/>
                <a:latin typeface="Hiragino Kaku Gothic ProN"/>
              </a:rPr>
              <a:t>地名情報のあいまいさ」の回避を模索</a:t>
            </a:r>
            <a:endParaRPr kumimoji="1" lang="en-US" altLang="ja-JP" sz="3600" dirty="0"/>
          </a:p>
          <a:p>
            <a:endParaRPr kumimoji="1" lang="en-US" altLang="ja-JP" sz="2400" dirty="0"/>
          </a:p>
          <a:p>
            <a:r>
              <a:rPr lang="ja-JP" altLang="en-US" dirty="0"/>
              <a:t>固有表現抽出手法を用いたレストラン属性情報の自動認識</a:t>
            </a:r>
            <a:br>
              <a:rPr lang="en-US" altLang="ja-JP" dirty="0"/>
            </a:br>
            <a:r>
              <a:rPr lang="en-US" altLang="ja-JP" dirty="0">
                <a:hlinkClick r:id="rId3"/>
              </a:rPr>
              <a:t>https://nlp.cs.nyu.edu/sekine/papers/skeiji_nlp06.pdf</a:t>
            </a:r>
            <a:endParaRPr lang="en-US" altLang="ja-JP" dirty="0"/>
          </a:p>
          <a:p>
            <a:pPr lvl="1"/>
            <a:r>
              <a:rPr kumimoji="1" lang="en-US" altLang="ja-JP" sz="2000" dirty="0"/>
              <a:t>2006</a:t>
            </a:r>
            <a:r>
              <a:rPr kumimoji="1" lang="zh-CN" altLang="en-US" sz="2000" dirty="0"/>
              <a:t>言語処理学会</a:t>
            </a:r>
            <a:endParaRPr kumimoji="1" lang="en-US" altLang="zh-CN" sz="2000" dirty="0"/>
          </a:p>
          <a:p>
            <a:pPr lvl="1"/>
            <a:r>
              <a:rPr kumimoji="1" lang="en-US" altLang="ja-JP" sz="2000" dirty="0"/>
              <a:t>Support Vector Machine(SVM)[3] </a:t>
            </a:r>
            <a:r>
              <a:rPr kumimoji="1" lang="ja-JP" altLang="en-US" sz="2000" dirty="0"/>
              <a:t>を用いて固有表現抽出</a:t>
            </a:r>
            <a:endParaRPr kumimoji="1" lang="en-US" altLang="ja-JP" sz="2000" dirty="0"/>
          </a:p>
          <a:p>
            <a:pPr marL="457200" lvl="1" indent="0">
              <a:buNone/>
            </a:pPr>
            <a:endParaRPr lang="en-US" altLang="ja-JP" sz="2000" dirty="0"/>
          </a:p>
          <a:p>
            <a:pPr lvl="1"/>
            <a:endParaRPr kumimoji="1" lang="en-US" altLang="ja-JP" sz="2000" dirty="0"/>
          </a:p>
          <a:p>
            <a:endParaRPr lang="en-US" altLang="ja-JP" sz="2400" dirty="0"/>
          </a:p>
          <a:p>
            <a:endParaRPr kumimoji="1" lang="en-US" altLang="ja-JP" sz="2400" dirty="0"/>
          </a:p>
          <a:p>
            <a:endParaRPr kumimoji="1" lang="ja-JP" altLang="en-US" sz="2400" dirty="0"/>
          </a:p>
        </p:txBody>
      </p:sp>
      <p:sp>
        <p:nvSpPr>
          <p:cNvPr id="4" name="タイトル 1">
            <a:extLst>
              <a:ext uri="{FF2B5EF4-FFF2-40B4-BE49-F238E27FC236}">
                <a16:creationId xmlns:a16="http://schemas.microsoft.com/office/drawing/2014/main" id="{11411327-0495-3EE7-9989-6DBBF82CFABC}"/>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先行研究</a:t>
            </a:r>
          </a:p>
        </p:txBody>
      </p:sp>
    </p:spTree>
    <p:extLst>
      <p:ext uri="{BB962C8B-B14F-4D97-AF65-F5344CB8AC3E}">
        <p14:creationId xmlns:p14="http://schemas.microsoft.com/office/powerpoint/2010/main" val="1568282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2B223BD-C38C-F4C2-3561-8F831ED177CC}"/>
              </a:ext>
            </a:extLst>
          </p:cNvPr>
          <p:cNvSpPr>
            <a:spLocks noGrp="1"/>
          </p:cNvSpPr>
          <p:nvPr>
            <p:ph idx="1"/>
          </p:nvPr>
        </p:nvSpPr>
        <p:spPr>
          <a:xfrm>
            <a:off x="685800" y="768350"/>
            <a:ext cx="10896600" cy="5433158"/>
          </a:xfrm>
        </p:spPr>
        <p:txBody>
          <a:bodyPr>
            <a:normAutofit/>
          </a:bodyPr>
          <a:lstStyle/>
          <a:p>
            <a:r>
              <a:rPr lang="ja-JP" altLang="en-US" sz="2400" dirty="0"/>
              <a:t>固有表現抽出における大規模言語モデルを用いた自動アノテーション</a:t>
            </a:r>
            <a:r>
              <a:rPr kumimoji="1" lang="en-US" altLang="ja-JP" sz="2400" dirty="0">
                <a:hlinkClick r:id="rId2"/>
              </a:rPr>
              <a:t>https://www.anlp.jp/proceedings/annual_meeting/2024/pdf_dir/C8-5.pdf</a:t>
            </a:r>
            <a:endParaRPr lang="en-US" altLang="ja-JP" sz="1800" b="0" i="0" dirty="0">
              <a:solidFill>
                <a:srgbClr val="333333"/>
              </a:solidFill>
              <a:effectLst/>
              <a:latin typeface="Hiragino Kaku Gothic ProN"/>
            </a:endParaRPr>
          </a:p>
          <a:p>
            <a:pPr lvl="1"/>
            <a:r>
              <a:rPr kumimoji="1" lang="zh-CN" altLang="en-US" sz="1800" dirty="0">
                <a:solidFill>
                  <a:srgbClr val="333333"/>
                </a:solidFill>
                <a:latin typeface="Hiragino Kaku Gothic ProN"/>
              </a:rPr>
              <a:t>言語処理学会 第</a:t>
            </a:r>
            <a:r>
              <a:rPr kumimoji="1" lang="en-US" altLang="zh-CN" sz="1800" dirty="0">
                <a:solidFill>
                  <a:srgbClr val="333333"/>
                </a:solidFill>
                <a:latin typeface="Hiragino Kaku Gothic ProN"/>
              </a:rPr>
              <a:t>30</a:t>
            </a:r>
            <a:r>
              <a:rPr kumimoji="1" lang="zh-CN" altLang="en-US" sz="1800" dirty="0">
                <a:solidFill>
                  <a:srgbClr val="333333"/>
                </a:solidFill>
                <a:latin typeface="Hiragino Kaku Gothic ProN"/>
              </a:rPr>
              <a:t>回年次大会 発表論文集（</a:t>
            </a:r>
            <a:r>
              <a:rPr kumimoji="1" lang="en-US" altLang="zh-CN" sz="1800" dirty="0">
                <a:solidFill>
                  <a:srgbClr val="333333"/>
                </a:solidFill>
                <a:latin typeface="Hiragino Kaku Gothic ProN"/>
              </a:rPr>
              <a:t>2024</a:t>
            </a:r>
            <a:r>
              <a:rPr kumimoji="1" lang="zh-CN" altLang="en-US" sz="1800" dirty="0">
                <a:solidFill>
                  <a:srgbClr val="333333"/>
                </a:solidFill>
                <a:latin typeface="Hiragino Kaku Gothic ProN"/>
              </a:rPr>
              <a:t>年</a:t>
            </a:r>
            <a:r>
              <a:rPr kumimoji="1" lang="en-US" altLang="zh-CN" sz="1800" dirty="0">
                <a:solidFill>
                  <a:srgbClr val="333333"/>
                </a:solidFill>
                <a:latin typeface="Hiragino Kaku Gothic ProN"/>
              </a:rPr>
              <a:t>3</a:t>
            </a:r>
            <a:r>
              <a:rPr kumimoji="1" lang="zh-CN" altLang="en-US" sz="1800" dirty="0">
                <a:solidFill>
                  <a:srgbClr val="333333"/>
                </a:solidFill>
                <a:latin typeface="Hiragino Kaku Gothic ProN"/>
              </a:rPr>
              <a:t>月</a:t>
            </a:r>
            <a:r>
              <a:rPr kumimoji="1" lang="ja-JP" altLang="en-US" sz="1800" dirty="0">
                <a:solidFill>
                  <a:srgbClr val="333333"/>
                </a:solidFill>
                <a:latin typeface="Hiragino Kaku Gothic ProN"/>
              </a:rPr>
              <a:t>）の論文なので比較的年度が近い</a:t>
            </a:r>
            <a:endParaRPr kumimoji="1" lang="en-US" altLang="ja-JP" sz="1800" dirty="0">
              <a:solidFill>
                <a:srgbClr val="333333"/>
              </a:solidFill>
              <a:latin typeface="Hiragino Kaku Gothic ProN"/>
            </a:endParaRPr>
          </a:p>
          <a:p>
            <a:pPr lvl="1"/>
            <a:r>
              <a:rPr kumimoji="1" lang="ja-JP" altLang="en-US" sz="1800" dirty="0">
                <a:solidFill>
                  <a:srgbClr val="333333"/>
                </a:solidFill>
                <a:latin typeface="Hiragino Kaku Gothic ProN"/>
              </a:rPr>
              <a:t>地名に限定されていないが</a:t>
            </a:r>
            <a:r>
              <a:rPr kumimoji="1" lang="en-US" altLang="ja-JP" sz="1800" dirty="0">
                <a:solidFill>
                  <a:srgbClr val="333333"/>
                </a:solidFill>
                <a:latin typeface="Hiragino Kaku Gothic ProN"/>
              </a:rPr>
              <a:t>【</a:t>
            </a:r>
            <a:r>
              <a:rPr kumimoji="1" lang="ja-JP" altLang="en-US" sz="1800" dirty="0">
                <a:solidFill>
                  <a:srgbClr val="333333"/>
                </a:solidFill>
                <a:latin typeface="Hiragino Kaku Gothic ProN"/>
              </a:rPr>
              <a:t>大規模言語モデル（</a:t>
            </a:r>
            <a:r>
              <a:rPr kumimoji="1" lang="en-US" altLang="ja-JP" sz="1800" dirty="0">
                <a:solidFill>
                  <a:srgbClr val="333333"/>
                </a:solidFill>
                <a:latin typeface="Hiragino Kaku Gothic ProN"/>
              </a:rPr>
              <a:t>LLMs</a:t>
            </a:r>
            <a:r>
              <a:rPr kumimoji="1" lang="ja-JP" altLang="en-US" sz="1800" dirty="0">
                <a:solidFill>
                  <a:srgbClr val="333333"/>
                </a:solidFill>
                <a:latin typeface="Hiragino Kaku Gothic ProN"/>
              </a:rPr>
              <a:t>）から生成したアノテーションを人手によるものと統合する</a:t>
            </a:r>
            <a:r>
              <a:rPr kumimoji="1" lang="en-US" altLang="ja-JP" sz="1800" dirty="0">
                <a:solidFill>
                  <a:srgbClr val="333333"/>
                </a:solidFill>
                <a:latin typeface="Hiragino Kaku Gothic ProN"/>
              </a:rPr>
              <a:t>】</a:t>
            </a:r>
            <a:r>
              <a:rPr kumimoji="1" lang="ja-JP" altLang="en-US" sz="1800" dirty="0">
                <a:solidFill>
                  <a:srgbClr val="333333"/>
                </a:solidFill>
                <a:latin typeface="Hiragino Kaku Gothic ProN"/>
              </a:rPr>
              <a:t>点が類似、</a:t>
            </a:r>
            <a:endParaRPr lang="en-US" altLang="ja-JP" sz="1800" dirty="0">
              <a:solidFill>
                <a:srgbClr val="333333"/>
              </a:solidFill>
              <a:latin typeface="Hiragino Kaku Gothic ProN"/>
            </a:endParaRPr>
          </a:p>
          <a:p>
            <a:pPr lvl="1"/>
            <a:endParaRPr lang="en-US" altLang="ja-JP" sz="1800" dirty="0">
              <a:solidFill>
                <a:srgbClr val="333333"/>
              </a:solidFill>
              <a:latin typeface="Hiragino Kaku Gothic ProN"/>
            </a:endParaRPr>
          </a:p>
          <a:p>
            <a:r>
              <a:rPr kumimoji="1" lang="ja-JP" altLang="en-US" sz="2400" dirty="0"/>
              <a:t>郷土に残存する江戸期古記録の機械可読化を目的とした市民参加および機械学習による固有表現抽出</a:t>
            </a:r>
          </a:p>
          <a:p>
            <a:r>
              <a:rPr kumimoji="1" lang="en-US" altLang="ja-JP" sz="2400" dirty="0">
                <a:hlinkClick r:id="rId3"/>
              </a:rPr>
              <a:t>https://ir.library.osaka-u.ac.jp/repo/ouka/all/93281/?lang=1</a:t>
            </a:r>
            <a:endParaRPr kumimoji="1" lang="en-US" altLang="ja-JP" sz="2400" dirty="0"/>
          </a:p>
          <a:p>
            <a:pPr lvl="1"/>
            <a:r>
              <a:rPr lang="en-US" altLang="ja-JP" sz="2000" dirty="0"/>
              <a:t>2022</a:t>
            </a:r>
            <a:r>
              <a:rPr lang="ja-JP" altLang="en-US" sz="2000" dirty="0"/>
              <a:t>年</a:t>
            </a:r>
            <a:r>
              <a:rPr lang="zh-TW" altLang="en-US" sz="2000" dirty="0"/>
              <a:t>情報処理学会論文誌</a:t>
            </a:r>
            <a:br>
              <a:rPr lang="en-US" altLang="ja-JP" sz="2000" dirty="0"/>
            </a:br>
            <a:r>
              <a:rPr lang="ja-JP" altLang="en-US" sz="2000" dirty="0"/>
              <a:t>市民参加による人手による</a:t>
            </a:r>
            <a:r>
              <a:rPr kumimoji="1" lang="ja-JP" altLang="en-US" sz="2000" dirty="0"/>
              <a:t>固有表現抽出</a:t>
            </a:r>
            <a:r>
              <a:rPr lang="ja-JP" altLang="en-US" sz="2000" dirty="0"/>
              <a:t>手法と、機械学習による固有表現の自動抽出の組み合わせ手法が本研究に類似</a:t>
            </a:r>
            <a:endParaRPr lang="en-US" altLang="ja-JP" sz="2000" dirty="0"/>
          </a:p>
          <a:p>
            <a:pPr lvl="1"/>
            <a:r>
              <a:rPr lang="en-US" altLang="ja-JP" sz="2000" dirty="0"/>
              <a:t>【</a:t>
            </a:r>
            <a:r>
              <a:rPr lang="ja-JP" altLang="en-US" sz="2000" dirty="0"/>
              <a:t>一定の専門知識を持つ参加者による確認ができる一方で，固有表現の判定に個人間あるいはクラス間でばらつきが生じ，データのさらなる整理が必要となるため限界がある．</a:t>
            </a:r>
            <a:r>
              <a:rPr lang="en-US" altLang="ja-JP" sz="2000" dirty="0"/>
              <a:t>】</a:t>
            </a:r>
            <a:r>
              <a:rPr lang="ja-JP" altLang="en-US" sz="2000" dirty="0"/>
              <a:t>との記載あり。</a:t>
            </a:r>
            <a:endParaRPr lang="en-US" altLang="ja-JP" sz="2000" dirty="0"/>
          </a:p>
          <a:p>
            <a:pPr lvl="1"/>
            <a:endParaRPr lang="en-US" altLang="ja-JP" sz="2000" dirty="0"/>
          </a:p>
          <a:p>
            <a:endParaRPr lang="en-US" altLang="ja-JP" sz="2400" dirty="0"/>
          </a:p>
          <a:p>
            <a:pPr lvl="1"/>
            <a:endParaRPr kumimoji="1" lang="en-US" altLang="ja-JP" sz="2000" dirty="0"/>
          </a:p>
          <a:p>
            <a:endParaRPr lang="en-US" altLang="ja-JP" sz="2400" dirty="0"/>
          </a:p>
          <a:p>
            <a:endParaRPr kumimoji="1" lang="en-US" altLang="ja-JP" sz="2400" dirty="0"/>
          </a:p>
          <a:p>
            <a:endParaRPr kumimoji="1" lang="ja-JP" altLang="en-US" sz="2400" dirty="0"/>
          </a:p>
        </p:txBody>
      </p:sp>
      <p:sp>
        <p:nvSpPr>
          <p:cNvPr id="4" name="タイトル 1">
            <a:extLst>
              <a:ext uri="{FF2B5EF4-FFF2-40B4-BE49-F238E27FC236}">
                <a16:creationId xmlns:a16="http://schemas.microsoft.com/office/drawing/2014/main" id="{11411327-0495-3EE7-9989-6DBBF82CFABC}"/>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先行研究</a:t>
            </a:r>
          </a:p>
        </p:txBody>
      </p:sp>
    </p:spTree>
    <p:extLst>
      <p:ext uri="{BB962C8B-B14F-4D97-AF65-F5344CB8AC3E}">
        <p14:creationId xmlns:p14="http://schemas.microsoft.com/office/powerpoint/2010/main" val="374541163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918</TotalTime>
  <Words>721</Words>
  <Application>Microsoft Office PowerPoint</Application>
  <PresentationFormat>ワイド画面</PresentationFormat>
  <Paragraphs>58</Paragraphs>
  <Slides>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vt:i4>
      </vt:variant>
    </vt:vector>
  </HeadingPairs>
  <TitlesOfParts>
    <vt:vector size="10" baseType="lpstr">
      <vt:lpstr>Hiragino Kaku Gothic ProN</vt:lpstr>
      <vt:lpstr>游ゴシック</vt:lpstr>
      <vt:lpstr>游ゴシック Light</vt:lpstr>
      <vt:lpstr>Arial</vt:lpstr>
      <vt:lpstr>Wingdings</vt:lpstr>
      <vt:lpstr>Office テーマ</vt:lpstr>
      <vt:lpstr>PowerPoint プレゼンテーション</vt:lpstr>
      <vt:lpstr>先行研究</vt:lpstr>
      <vt:lpstr>先行研究</vt:lpstr>
      <vt:lpstr>先行研究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天野　晃</dc:creator>
  <cp:lastModifiedBy>寺田　将春</cp:lastModifiedBy>
  <cp:revision>59</cp:revision>
  <dcterms:created xsi:type="dcterms:W3CDTF">2026-03-04T23:37:53Z</dcterms:created>
  <dcterms:modified xsi:type="dcterms:W3CDTF">2026-04-23T08:14:58Z</dcterms:modified>
</cp:coreProperties>
</file>