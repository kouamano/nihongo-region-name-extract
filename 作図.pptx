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6" r:id="rId3"/>
    <p:sldId id="297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307"/>
    <p:restoredTop sz="94638"/>
  </p:normalViewPr>
  <p:slideViewPr>
    <p:cSldViewPr snapToGrid="0">
      <p:cViewPr varScale="1">
        <p:scale>
          <a:sx n="188" d="100"/>
          <a:sy n="188" d="100"/>
        </p:scale>
        <p:origin x="1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C6A632-7A03-97D6-06E6-0EF0D62B34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3631936-173F-8F1F-D668-004CD4BB5C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4E34DC1-EA52-6820-093B-3325DC9E8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89AD-CAC3-AD41-B5C9-BF5C62A1889D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5292B1-1DB2-5D30-B95D-14114DB0C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CCB9934-3D96-5EE5-142C-4EA0B150B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1E0-45AE-274A-9999-4133AAA5BC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719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A1BD27-5452-BE2F-9511-48DA0408F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5889CB-59F7-D6BC-9274-59C40BC94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441E0B9-ADE3-E0ED-5B61-CA0048BE1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89AD-CAC3-AD41-B5C9-BF5C62A1889D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3C547F7-2590-90EB-A176-23C831FAB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77F363-5620-E337-DC00-AF52392CA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1E0-45AE-274A-9999-4133AAA5BC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4534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38AFB6-A320-CAF1-87A5-2D9716383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6374E81-70CC-4423-09AA-174A2CA6D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7F7F049-9A50-CA53-D176-71EA34995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89AD-CAC3-AD41-B5C9-BF5C62A1889D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DB405D-7621-CDB8-8048-A5A36E53D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91DDDE3-36B9-E78A-839D-8B068ACF6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1E0-45AE-274A-9999-4133AAA5BC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2029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1A47A7-B89B-8076-6D9B-8D5AC1C60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A2E04C-91E5-75C9-81A6-E597A649C0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A6BC579-EA02-00FB-01CE-9BFDE251BF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5C043F0-AC83-44E5-C367-AD3BCE55D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89AD-CAC3-AD41-B5C9-BF5C62A1889D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8B8877-1693-FF2A-DD22-6072009E7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8618FC4-731D-A3EA-E437-419479808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1E0-45AE-274A-9999-4133AAA5BC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6950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5ACE69-5C3A-A8B0-69CA-FDDF79C02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37F15CE-C0AA-A8EC-7450-6476E5F3B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00725B5-8E2B-041E-CB1A-EF3E8B70D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812D8A55-5AD7-8454-060F-F3B928F7C5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770827D-BE9F-C60D-0D4A-56BE066761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84CAC34-A91B-913F-112C-1E98360A9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89AD-CAC3-AD41-B5C9-BF5C62A1889D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C9ABD3C-1F40-5841-9942-FE91F313B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27FB7E5-8B10-1FEF-9E45-ED225BF71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1E0-45AE-274A-9999-4133AAA5BC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68750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37E24E-F998-488C-A967-E2384FC95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FA32024B-6100-9240-248B-CA2A43F42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89AD-CAC3-AD41-B5C9-BF5C62A1889D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F2EA323-B1D3-A60C-169A-B086CB081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4A34271-057B-10C7-132C-A4638553E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1E0-45AE-274A-9999-4133AAA5BC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4779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635FA7A-93AD-D2B1-05D6-7FAF32A2C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89AD-CAC3-AD41-B5C9-BF5C62A1889D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CFE10980-D7A5-C75A-35A1-74922B872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98CCC2E-0372-7984-27A3-E7630330C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1E0-45AE-274A-9999-4133AAA5BC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8944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635452-6694-48B0-2F4B-D8613133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B5EA1B-7CB3-15AD-9339-95BED1FBE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6403982-7C57-B123-55F6-4EBCC487E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DE23125-1312-B43D-D08E-A33AEE702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89AD-CAC3-AD41-B5C9-BF5C62A1889D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0C7F1C1-D5C2-78D7-ADF0-A07C094F4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C4415F6-747E-12D7-7100-D414E765B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1E0-45AE-274A-9999-4133AAA5BC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098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8BB85E6-A594-1B2E-CBFB-9F5783A90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9F6E2E7-84FD-0A2C-CA9D-0147AC1AD6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D9FF62D-1B1E-700E-34E0-7DF45DE18A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D71ECEB-348F-8EA2-45B3-C83070981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89AD-CAC3-AD41-B5C9-BF5C62A1889D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D40AEA-1771-3C1F-D38D-2AABEEB88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A4CE8C9-A7E6-E91D-5202-34BC2A94A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1E0-45AE-274A-9999-4133AAA5BC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732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AA0D9F-9CE3-D3D7-C4D8-34A000101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AACF51F-FE5C-6320-74D8-5117657B4E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32519A4-5425-3161-51E4-E803C2735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89AD-CAC3-AD41-B5C9-BF5C62A1889D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A9A69C-3E26-C307-7312-17E5AB5F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678011B-4581-EE2A-FA4E-6DBD62712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1E0-45AE-274A-9999-4133AAA5BC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19942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DC0F4E0-25A5-D9D0-89A5-79A67F1DDD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3B8CFB4-DC17-7E0C-329E-736FD9303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2CCDFC-48EB-123C-AE7C-FD40758CB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6789AD-CAC3-AD41-B5C9-BF5C62A1889D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272EE4-2DDF-228C-8B9B-994A4AA45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BD7B0FA-04F6-8EC7-E928-FC997B43E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F81E0-45AE-274A-9999-4133AAA5BC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2313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9C346513-02ED-46E1-E87A-2B3C36119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7899317-66E8-B955-B11F-CB6B16AE5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50442F6-8CF5-9167-1176-7168D75F03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6789AD-CAC3-AD41-B5C9-BF5C62A1889D}" type="datetimeFigureOut">
              <a:rPr kumimoji="1" lang="ja-JP" altLang="en-US" smtClean="0"/>
              <a:t>2026/4/14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C368A6B-A177-5391-D0E1-6593606D2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F73624-1AFB-ABE8-B3E2-ED7CE2B7F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5F81E0-45AE-274A-9999-4133AAA5BC6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23563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80A9DCA-9619-8B3E-E697-76FFCC1CE46B}"/>
              </a:ext>
            </a:extLst>
          </p:cNvPr>
          <p:cNvSpPr txBox="1"/>
          <p:nvPr/>
        </p:nvSpPr>
        <p:spPr>
          <a:xfrm>
            <a:off x="4977745" y="2844225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/>
              <a:t>論文用</a:t>
            </a:r>
            <a:r>
              <a:rPr kumimoji="1" lang="ja-JP" altLang="en-US" sz="3200"/>
              <a:t>作図</a:t>
            </a:r>
          </a:p>
        </p:txBody>
      </p:sp>
    </p:spTree>
    <p:extLst>
      <p:ext uri="{BB962C8B-B14F-4D97-AF65-F5344CB8AC3E}">
        <p14:creationId xmlns:p14="http://schemas.microsoft.com/office/powerpoint/2010/main" val="615996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7D6E2-4807-6D49-E579-50570FE5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B78F1D2D-30EC-B2F8-5159-07D876B2E0AD}"/>
              </a:ext>
            </a:extLst>
          </p:cNvPr>
          <p:cNvSpPr/>
          <p:nvPr/>
        </p:nvSpPr>
        <p:spPr>
          <a:xfrm>
            <a:off x="1630144" y="2149863"/>
            <a:ext cx="6618168" cy="3888335"/>
          </a:xfrm>
          <a:prstGeom prst="rect">
            <a:avLst/>
          </a:prstGeom>
          <a:solidFill>
            <a:schemeClr val="accent2">
              <a:alpha val="3345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839614-20CC-C866-2B67-588804CBF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77516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ja-JP" altLang="en-US" sz="3600"/>
              <a:t>鹿大知識基盤</a:t>
            </a:r>
            <a:r>
              <a:rPr kumimoji="1" lang="ja-JP" altLang="en-US" sz="3600"/>
              <a:t>システム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442A27C-01CD-E120-DE0D-C0869FC0E90C}"/>
              </a:ext>
            </a:extLst>
          </p:cNvPr>
          <p:cNvSpPr txBox="1"/>
          <p:nvPr/>
        </p:nvSpPr>
        <p:spPr>
          <a:xfrm>
            <a:off x="-1" y="577517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/>
              <a:t>◾️位置付け</a:t>
            </a:r>
            <a:endParaRPr lang="en-US" altLang="ja-JP" b="1" dirty="0"/>
          </a:p>
          <a:p>
            <a:r>
              <a:rPr lang="ja-JP" altLang="en-US"/>
              <a:t>有体物トラッキングシステム・地域課題検索システム・</a:t>
            </a:r>
            <a:r>
              <a:rPr lang="en-US" altLang="ja-JP" dirty="0"/>
              <a:t> </a:t>
            </a:r>
            <a:r>
              <a:rPr lang="ja-JP" altLang="en-US"/>
              <a:t>論文検索システム等を統合する</a:t>
            </a:r>
            <a:r>
              <a:rPr lang="en-US" altLang="ja-JP" dirty="0"/>
              <a:t>KG</a:t>
            </a:r>
            <a:r>
              <a:rPr lang="ja-JP" altLang="en-US"/>
              <a:t>を構築、統合的な検索インターフェイスからのアクセスを可能とする。</a:t>
            </a:r>
            <a:r>
              <a:rPr lang="en-US" altLang="ja-JP" dirty="0"/>
              <a:t> </a:t>
            </a:r>
            <a:r>
              <a:rPr lang="ja-JP" altLang="en-US"/>
              <a:t>学内で階層的データ管理・データガバナンスを進めるための知識基盤でもある。</a:t>
            </a:r>
            <a:endParaRPr lang="en-US" altLang="ja-JP" dirty="0"/>
          </a:p>
          <a:p>
            <a:r>
              <a:rPr lang="ja-JP" altLang="en-US" b="1"/>
              <a:t>◾️概要図</a:t>
            </a:r>
            <a:endParaRPr lang="en-US" altLang="ja-JP" b="1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79B8AE2-6631-C4FC-BBB9-8365D81DF416}"/>
              </a:ext>
            </a:extLst>
          </p:cNvPr>
          <p:cNvSpPr/>
          <p:nvPr/>
        </p:nvSpPr>
        <p:spPr>
          <a:xfrm>
            <a:off x="1720131" y="2302891"/>
            <a:ext cx="2949627" cy="3071465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7536555-59D1-C1B8-56E6-E3E1064D696C}"/>
              </a:ext>
            </a:extLst>
          </p:cNvPr>
          <p:cNvSpPr txBox="1"/>
          <p:nvPr/>
        </p:nvSpPr>
        <p:spPr>
          <a:xfrm>
            <a:off x="3814757" y="6203851"/>
            <a:ext cx="3961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/>
              <a:t>リンクポリシー</a:t>
            </a:r>
            <a:r>
              <a:rPr lang="en-US" altLang="ja-JP" sz="1200" dirty="0"/>
              <a:t>: </a:t>
            </a:r>
            <a:r>
              <a:rPr lang="ja-JP" altLang="en-US" sz="1200"/>
              <a:t>データセントリック</a:t>
            </a:r>
            <a:r>
              <a:rPr lang="en-US" altLang="ja-JP" sz="1200" dirty="0"/>
              <a:t> -&gt; </a:t>
            </a:r>
            <a:r>
              <a:rPr lang="ja-JP" altLang="en-US" sz="1200"/>
              <a:t>データソースから見えるものをそのままグラフ関係にする</a:t>
            </a:r>
            <a:endParaRPr kumimoji="1" lang="ja-JP" altLang="en-US" sz="1200"/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42441179-E636-CFF8-F4BE-34DCF2370B9C}"/>
              </a:ext>
            </a:extLst>
          </p:cNvPr>
          <p:cNvSpPr/>
          <p:nvPr/>
        </p:nvSpPr>
        <p:spPr>
          <a:xfrm>
            <a:off x="3732310" y="4553998"/>
            <a:ext cx="215153" cy="2170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1CBD8E16-0387-4B75-3776-0A5CB97E156D}"/>
              </a:ext>
            </a:extLst>
          </p:cNvPr>
          <p:cNvSpPr/>
          <p:nvPr/>
        </p:nvSpPr>
        <p:spPr>
          <a:xfrm>
            <a:off x="3724625" y="3086238"/>
            <a:ext cx="215153" cy="2170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4B979CD-2076-7DE1-AE1B-4CED9222D5C5}"/>
              </a:ext>
            </a:extLst>
          </p:cNvPr>
          <p:cNvSpPr txBox="1"/>
          <p:nvPr/>
        </p:nvSpPr>
        <p:spPr>
          <a:xfrm>
            <a:off x="3632136" y="4771071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00" b="1"/>
              <a:t>論文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A882359-D4E7-B73F-727D-E79E206BB973}"/>
              </a:ext>
            </a:extLst>
          </p:cNvPr>
          <p:cNvSpPr txBox="1"/>
          <p:nvPr/>
        </p:nvSpPr>
        <p:spPr>
          <a:xfrm>
            <a:off x="3570664" y="3321557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900" b="1"/>
              <a:t>データ</a:t>
            </a:r>
            <a:endParaRPr kumimoji="1" lang="ja-JP" altLang="en-US" sz="900" b="1"/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01F921C0-6FBD-DC79-59AC-139F85048089}"/>
              </a:ext>
            </a:extLst>
          </p:cNvPr>
          <p:cNvSpPr/>
          <p:nvPr/>
        </p:nvSpPr>
        <p:spPr>
          <a:xfrm>
            <a:off x="2055730" y="6188483"/>
            <a:ext cx="215153" cy="2170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A0F2C60-8A53-D803-E170-21A3667F966B}"/>
              </a:ext>
            </a:extLst>
          </p:cNvPr>
          <p:cNvSpPr txBox="1"/>
          <p:nvPr/>
        </p:nvSpPr>
        <p:spPr>
          <a:xfrm>
            <a:off x="2215699" y="6164587"/>
            <a:ext cx="7328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: </a:t>
            </a:r>
            <a:r>
              <a:rPr kumimoji="1" lang="ja-JP" altLang="en-US" sz="1200"/>
              <a:t>ノード</a:t>
            </a:r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id="{5385D5C4-0937-47AF-A548-B2AE41288FF5}"/>
              </a:ext>
            </a:extLst>
          </p:cNvPr>
          <p:cNvSpPr/>
          <p:nvPr/>
        </p:nvSpPr>
        <p:spPr>
          <a:xfrm>
            <a:off x="2207150" y="2777907"/>
            <a:ext cx="215153" cy="2170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8A3C530-73C9-0CFF-FCBF-91A324903FDC}"/>
              </a:ext>
            </a:extLst>
          </p:cNvPr>
          <p:cNvSpPr txBox="1"/>
          <p:nvPr/>
        </p:nvSpPr>
        <p:spPr>
          <a:xfrm>
            <a:off x="1872712" y="3779767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900" b="1"/>
              <a:t>ファシリティ</a:t>
            </a:r>
            <a:endParaRPr kumimoji="1" lang="ja-JP" altLang="en-US" sz="900" b="1"/>
          </a:p>
        </p:txBody>
      </p:sp>
      <p:sp>
        <p:nvSpPr>
          <p:cNvPr id="14" name="円/楕円 13">
            <a:extLst>
              <a:ext uri="{FF2B5EF4-FFF2-40B4-BE49-F238E27FC236}">
                <a16:creationId xmlns:a16="http://schemas.microsoft.com/office/drawing/2014/main" id="{0EA91B7D-4675-1708-072B-0361461A6FDB}"/>
              </a:ext>
            </a:extLst>
          </p:cNvPr>
          <p:cNvSpPr/>
          <p:nvPr/>
        </p:nvSpPr>
        <p:spPr>
          <a:xfrm>
            <a:off x="2212606" y="4262381"/>
            <a:ext cx="215153" cy="2170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580A364-2E32-2C92-88C7-009944BDABA9}"/>
              </a:ext>
            </a:extLst>
          </p:cNvPr>
          <p:cNvSpPr txBox="1"/>
          <p:nvPr/>
        </p:nvSpPr>
        <p:spPr>
          <a:xfrm>
            <a:off x="2111251" y="4485272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00" b="1"/>
              <a:t>地名</a:t>
            </a:r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C092E7E0-6D2E-5D6B-7F97-F25E9891BCE0}"/>
              </a:ext>
            </a:extLst>
          </p:cNvPr>
          <p:cNvSpPr/>
          <p:nvPr/>
        </p:nvSpPr>
        <p:spPr>
          <a:xfrm>
            <a:off x="3716941" y="3820118"/>
            <a:ext cx="215153" cy="2170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6EBF0A6-B130-F40D-6501-5020FCEFECFA}"/>
              </a:ext>
            </a:extLst>
          </p:cNvPr>
          <p:cNvSpPr txBox="1"/>
          <p:nvPr/>
        </p:nvSpPr>
        <p:spPr>
          <a:xfrm>
            <a:off x="3570664" y="4036645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900" b="1"/>
              <a:t>有体物</a:t>
            </a:r>
            <a:endParaRPr kumimoji="1" lang="ja-JP" altLang="en-US" sz="900" b="1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1AA2586E-2C5A-B479-F9F5-F1D57ABF09DF}"/>
              </a:ext>
            </a:extLst>
          </p:cNvPr>
          <p:cNvSpPr/>
          <p:nvPr/>
        </p:nvSpPr>
        <p:spPr>
          <a:xfrm>
            <a:off x="2052515" y="6469534"/>
            <a:ext cx="545566" cy="2170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089F43C-006E-C5CC-509C-7B0A91AF5DA8}"/>
              </a:ext>
            </a:extLst>
          </p:cNvPr>
          <p:cNvSpPr txBox="1"/>
          <p:nvPr/>
        </p:nvSpPr>
        <p:spPr>
          <a:xfrm>
            <a:off x="2556907" y="6445637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: </a:t>
            </a:r>
            <a:r>
              <a:rPr lang="ja-JP" altLang="en-US" sz="1200"/>
              <a:t>外部</a:t>
            </a:r>
            <a:r>
              <a:rPr lang="en-US" altLang="ja-JP" sz="1200" dirty="0"/>
              <a:t>DB</a:t>
            </a:r>
            <a:endParaRPr kumimoji="1" lang="ja-JP" altLang="en-US" sz="1200"/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EF9F79BE-DE4D-8539-5D94-9C545D02DF43}"/>
              </a:ext>
            </a:extLst>
          </p:cNvPr>
          <p:cNvCxnSpPr>
            <a:cxnSpLocks/>
            <a:stCxn id="17" idx="2"/>
            <a:endCxn id="12" idx="6"/>
          </p:cNvCxnSpPr>
          <p:nvPr/>
        </p:nvCxnSpPr>
        <p:spPr>
          <a:xfrm flipH="1" flipV="1">
            <a:off x="2422303" y="2886444"/>
            <a:ext cx="1294638" cy="104221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B1C1849E-832A-A5F8-C472-E4224C74E482}"/>
              </a:ext>
            </a:extLst>
          </p:cNvPr>
          <p:cNvCxnSpPr>
            <a:cxnSpLocks/>
            <a:stCxn id="6" idx="2"/>
            <a:endCxn id="12" idx="6"/>
          </p:cNvCxnSpPr>
          <p:nvPr/>
        </p:nvCxnSpPr>
        <p:spPr>
          <a:xfrm flipH="1" flipV="1">
            <a:off x="2422303" y="2886444"/>
            <a:ext cx="1310007" cy="177609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58BFE994-C787-FC72-64D4-42119E9E3B63}"/>
              </a:ext>
            </a:extLst>
          </p:cNvPr>
          <p:cNvCxnSpPr>
            <a:cxnSpLocks/>
            <a:stCxn id="7" idx="2"/>
            <a:endCxn id="12" idx="6"/>
          </p:cNvCxnSpPr>
          <p:nvPr/>
        </p:nvCxnSpPr>
        <p:spPr>
          <a:xfrm flipH="1" flipV="1">
            <a:off x="2422303" y="2886444"/>
            <a:ext cx="1302322" cy="308331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11640668-6CB0-E60C-AA83-8C484C4F496F}"/>
              </a:ext>
            </a:extLst>
          </p:cNvPr>
          <p:cNvCxnSpPr>
            <a:cxnSpLocks/>
            <a:stCxn id="6" idx="2"/>
            <a:endCxn id="14" idx="6"/>
          </p:cNvCxnSpPr>
          <p:nvPr/>
        </p:nvCxnSpPr>
        <p:spPr>
          <a:xfrm flipH="1" flipV="1">
            <a:off x="2427759" y="4370918"/>
            <a:ext cx="1304551" cy="291617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曲線コネクタ 35">
            <a:extLst>
              <a:ext uri="{FF2B5EF4-FFF2-40B4-BE49-F238E27FC236}">
                <a16:creationId xmlns:a16="http://schemas.microsoft.com/office/drawing/2014/main" id="{9F16094C-90E1-AF55-E4FF-977624DF1C01}"/>
              </a:ext>
            </a:extLst>
          </p:cNvPr>
          <p:cNvCxnSpPr>
            <a:stCxn id="6" idx="6"/>
            <a:endCxn id="17" idx="6"/>
          </p:cNvCxnSpPr>
          <p:nvPr/>
        </p:nvCxnSpPr>
        <p:spPr>
          <a:xfrm flipH="1" flipV="1">
            <a:off x="3932094" y="3928655"/>
            <a:ext cx="15369" cy="733880"/>
          </a:xfrm>
          <a:prstGeom prst="curvedConnector3">
            <a:avLst>
              <a:gd name="adj1" fmla="val -148741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曲線コネクタ 37">
            <a:extLst>
              <a:ext uri="{FF2B5EF4-FFF2-40B4-BE49-F238E27FC236}">
                <a16:creationId xmlns:a16="http://schemas.microsoft.com/office/drawing/2014/main" id="{8D01530B-DFC2-D396-E034-84E1FA5389B1}"/>
              </a:ext>
            </a:extLst>
          </p:cNvPr>
          <p:cNvCxnSpPr>
            <a:cxnSpLocks/>
            <a:stCxn id="6" idx="6"/>
            <a:endCxn id="7" idx="6"/>
          </p:cNvCxnSpPr>
          <p:nvPr/>
        </p:nvCxnSpPr>
        <p:spPr>
          <a:xfrm flipH="1" flipV="1">
            <a:off x="3939778" y="3194775"/>
            <a:ext cx="7685" cy="1467760"/>
          </a:xfrm>
          <a:prstGeom prst="curvedConnector3">
            <a:avLst>
              <a:gd name="adj1" fmla="val -2974626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A55678A1-CB8D-FC3E-CE23-B8EF5B2B9A24}"/>
              </a:ext>
            </a:extLst>
          </p:cNvPr>
          <p:cNvSpPr txBox="1"/>
          <p:nvPr/>
        </p:nvSpPr>
        <p:spPr>
          <a:xfrm>
            <a:off x="2453909" y="5378407"/>
            <a:ext cx="180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Knowledge Graph</a:t>
            </a:r>
          </a:p>
          <a:p>
            <a:r>
              <a:rPr lang="ja-JP" altLang="en-US" sz="1400"/>
              <a:t>（キュレーション）</a:t>
            </a:r>
            <a:endParaRPr kumimoji="1" lang="ja-JP" altLang="en-US" sz="1400"/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7131C00C-1E23-9325-8699-81380F47110C}"/>
              </a:ext>
            </a:extLst>
          </p:cNvPr>
          <p:cNvSpPr/>
          <p:nvPr/>
        </p:nvSpPr>
        <p:spPr>
          <a:xfrm>
            <a:off x="6246858" y="2906594"/>
            <a:ext cx="545566" cy="2170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73B1BEE5-82B0-72C7-D4A2-DE9606950E6B}"/>
              </a:ext>
            </a:extLst>
          </p:cNvPr>
          <p:cNvSpPr/>
          <p:nvPr/>
        </p:nvSpPr>
        <p:spPr>
          <a:xfrm>
            <a:off x="6246858" y="3473521"/>
            <a:ext cx="545566" cy="2170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E60D2EFC-2698-F237-11A8-C37F7F7D313D}"/>
              </a:ext>
            </a:extLst>
          </p:cNvPr>
          <p:cNvSpPr/>
          <p:nvPr/>
        </p:nvSpPr>
        <p:spPr>
          <a:xfrm>
            <a:off x="6246858" y="4040448"/>
            <a:ext cx="545566" cy="2170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4C56B326-4081-DCF5-3CE6-F162D4BCA524}"/>
              </a:ext>
            </a:extLst>
          </p:cNvPr>
          <p:cNvSpPr/>
          <p:nvPr/>
        </p:nvSpPr>
        <p:spPr>
          <a:xfrm>
            <a:off x="6246858" y="4607375"/>
            <a:ext cx="545566" cy="2170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kumimoji="1" lang="ja-JP" altLang="en-US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359AC966-398D-80E2-217E-300D78D60E22}"/>
              </a:ext>
            </a:extLst>
          </p:cNvPr>
          <p:cNvCxnSpPr>
            <a:cxnSpLocks/>
            <a:stCxn id="64" idx="3"/>
            <a:endCxn id="46" idx="1"/>
          </p:cNvCxnSpPr>
          <p:nvPr/>
        </p:nvCxnSpPr>
        <p:spPr>
          <a:xfrm>
            <a:off x="5598626" y="3718546"/>
            <a:ext cx="648232" cy="997366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DFD271F-59AF-98D5-24F2-5F307CF96EF6}"/>
              </a:ext>
            </a:extLst>
          </p:cNvPr>
          <p:cNvSpPr txBox="1"/>
          <p:nvPr/>
        </p:nvSpPr>
        <p:spPr>
          <a:xfrm>
            <a:off x="6209220" y="4799617"/>
            <a:ext cx="6062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b="1" dirty="0"/>
              <a:t>GIS-DB</a:t>
            </a:r>
            <a:endParaRPr kumimoji="1" lang="ja-JP" altLang="en-US" sz="900" b="1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217E681-C42D-DBC9-ADDC-D0F3EE262317}"/>
              </a:ext>
            </a:extLst>
          </p:cNvPr>
          <p:cNvSpPr txBox="1"/>
          <p:nvPr/>
        </p:nvSpPr>
        <p:spPr>
          <a:xfrm>
            <a:off x="6163970" y="3102736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900" b="1"/>
              <a:t>リポジトリ</a:t>
            </a:r>
            <a:endParaRPr kumimoji="1" lang="ja-JP" altLang="en-US" sz="900" b="1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3360AED-3856-B6E5-23EB-D754CCE08C0B}"/>
              </a:ext>
            </a:extLst>
          </p:cNvPr>
          <p:cNvSpPr txBox="1"/>
          <p:nvPr/>
        </p:nvSpPr>
        <p:spPr>
          <a:xfrm>
            <a:off x="5973327" y="2538121"/>
            <a:ext cx="11079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900" b="1"/>
              <a:t>データリポジトリ</a:t>
            </a:r>
            <a:endParaRPr kumimoji="1" lang="ja-JP" altLang="en-US" sz="900" b="1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D080A92-98FB-66B4-B8D7-782A9A8D0704}"/>
              </a:ext>
            </a:extLst>
          </p:cNvPr>
          <p:cNvSpPr txBox="1"/>
          <p:nvPr/>
        </p:nvSpPr>
        <p:spPr>
          <a:xfrm>
            <a:off x="5937058" y="3654101"/>
            <a:ext cx="1339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b="1"/>
              <a:t>有体物管理</a:t>
            </a:r>
            <a:r>
              <a:rPr kumimoji="1" lang="en-US" altLang="ja-JP" sz="900" b="1" dirty="0"/>
              <a:t>/</a:t>
            </a:r>
            <a:r>
              <a:rPr kumimoji="1" lang="ja-JP" altLang="en-US" sz="900" b="1"/>
              <a:t>トラッキングシステム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C8803511-F622-6FBD-2AB1-70B5031AC8E9}"/>
              </a:ext>
            </a:extLst>
          </p:cNvPr>
          <p:cNvSpPr/>
          <p:nvPr/>
        </p:nvSpPr>
        <p:spPr>
          <a:xfrm>
            <a:off x="6254542" y="5174301"/>
            <a:ext cx="545566" cy="2170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BBF7F5ED-358E-B25F-2FE2-79F37F39B4AA}"/>
              </a:ext>
            </a:extLst>
          </p:cNvPr>
          <p:cNvSpPr txBox="1"/>
          <p:nvPr/>
        </p:nvSpPr>
        <p:spPr>
          <a:xfrm>
            <a:off x="6155503" y="5377476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00" b="1"/>
              <a:t>キーワード</a:t>
            </a: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1A819665-D816-2F85-EEAA-7066A9317ED1}"/>
              </a:ext>
            </a:extLst>
          </p:cNvPr>
          <p:cNvCxnSpPr>
            <a:cxnSpLocks/>
            <a:stCxn id="6" idx="5"/>
            <a:endCxn id="33" idx="1"/>
          </p:cNvCxnSpPr>
          <p:nvPr/>
        </p:nvCxnSpPr>
        <p:spPr>
          <a:xfrm>
            <a:off x="3915955" y="4739282"/>
            <a:ext cx="2338587" cy="543556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4BE8079C-21EF-7927-54E4-F628D60C5415}"/>
              </a:ext>
            </a:extLst>
          </p:cNvPr>
          <p:cNvCxnSpPr>
            <a:cxnSpLocks/>
            <a:stCxn id="64" idx="3"/>
            <a:endCxn id="45" idx="1"/>
          </p:cNvCxnSpPr>
          <p:nvPr/>
        </p:nvCxnSpPr>
        <p:spPr>
          <a:xfrm>
            <a:off x="5598626" y="3718546"/>
            <a:ext cx="648232" cy="430439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3C3F799C-E912-4888-58D2-E7CAAD522DDE}"/>
              </a:ext>
            </a:extLst>
          </p:cNvPr>
          <p:cNvCxnSpPr>
            <a:cxnSpLocks/>
            <a:stCxn id="64" idx="3"/>
            <a:endCxn id="44" idx="1"/>
          </p:cNvCxnSpPr>
          <p:nvPr/>
        </p:nvCxnSpPr>
        <p:spPr>
          <a:xfrm flipV="1">
            <a:off x="5598626" y="3582058"/>
            <a:ext cx="648232" cy="136488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7467BDAC-C270-5BFE-C1A7-3695DF6D7C8A}"/>
              </a:ext>
            </a:extLst>
          </p:cNvPr>
          <p:cNvCxnSpPr>
            <a:cxnSpLocks/>
            <a:stCxn id="64" idx="3"/>
            <a:endCxn id="43" idx="1"/>
          </p:cNvCxnSpPr>
          <p:nvPr/>
        </p:nvCxnSpPr>
        <p:spPr>
          <a:xfrm flipV="1">
            <a:off x="5598626" y="3015131"/>
            <a:ext cx="648232" cy="70341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97535631-7CF6-AEB1-162A-61681E1F6EE1}"/>
              </a:ext>
            </a:extLst>
          </p:cNvPr>
          <p:cNvSpPr/>
          <p:nvPr/>
        </p:nvSpPr>
        <p:spPr>
          <a:xfrm>
            <a:off x="6254542" y="2339667"/>
            <a:ext cx="545566" cy="2170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AEB104C3-1341-7D2D-7D44-3823759CBE5A}"/>
              </a:ext>
            </a:extLst>
          </p:cNvPr>
          <p:cNvSpPr txBox="1"/>
          <p:nvPr/>
        </p:nvSpPr>
        <p:spPr>
          <a:xfrm>
            <a:off x="6108562" y="4232119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00" b="1"/>
              <a:t>研究者一覧</a:t>
            </a: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C71D9B17-CCD8-00A5-E5A8-2B02015C58F9}"/>
              </a:ext>
            </a:extLst>
          </p:cNvPr>
          <p:cNvCxnSpPr>
            <a:cxnSpLocks/>
            <a:stCxn id="64" idx="3"/>
            <a:endCxn id="55" idx="1"/>
          </p:cNvCxnSpPr>
          <p:nvPr/>
        </p:nvCxnSpPr>
        <p:spPr>
          <a:xfrm flipV="1">
            <a:off x="5598626" y="2448204"/>
            <a:ext cx="655916" cy="1270342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FB78A54F-37B8-8BA6-ACD1-7C31DE514269}"/>
              </a:ext>
            </a:extLst>
          </p:cNvPr>
          <p:cNvSpPr txBox="1"/>
          <p:nvPr/>
        </p:nvSpPr>
        <p:spPr>
          <a:xfrm rot="16200000">
            <a:off x="7201454" y="4640850"/>
            <a:ext cx="2456139" cy="338554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/>
              <a:t>検索</a:t>
            </a:r>
            <a:r>
              <a:rPr kumimoji="1" lang="ja-JP" altLang="en-US" sz="1600"/>
              <a:t>インターフェイス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F302F04C-236E-66BE-3E2E-EFEA387121D1}"/>
              </a:ext>
            </a:extLst>
          </p:cNvPr>
          <p:cNvSpPr/>
          <p:nvPr/>
        </p:nvSpPr>
        <p:spPr>
          <a:xfrm>
            <a:off x="5053060" y="3610009"/>
            <a:ext cx="545566" cy="2170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2B9D2423-1BE8-3DA8-E7EE-2CCCF279F644}"/>
              </a:ext>
            </a:extLst>
          </p:cNvPr>
          <p:cNvSpPr txBox="1"/>
          <p:nvPr/>
        </p:nvSpPr>
        <p:spPr>
          <a:xfrm>
            <a:off x="4840166" y="3835451"/>
            <a:ext cx="10038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b="1" dirty="0"/>
              <a:t>ID</a:t>
            </a:r>
            <a:r>
              <a:rPr lang="ja-JP" altLang="en-US" sz="900" b="1"/>
              <a:t>管理システム</a:t>
            </a:r>
            <a:endParaRPr kumimoji="1" lang="ja-JP" altLang="en-US" sz="900" b="1"/>
          </a:p>
        </p:txBody>
      </p: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B03C694D-2574-2EA8-69DF-C7E3005223EC}"/>
              </a:ext>
            </a:extLst>
          </p:cNvPr>
          <p:cNvCxnSpPr>
            <a:cxnSpLocks/>
            <a:stCxn id="14" idx="5"/>
            <a:endCxn id="64" idx="1"/>
          </p:cNvCxnSpPr>
          <p:nvPr/>
        </p:nvCxnSpPr>
        <p:spPr>
          <a:xfrm flipV="1">
            <a:off x="2396251" y="3718546"/>
            <a:ext cx="2656809" cy="7291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01CA3A1D-618A-6BFE-6C0F-C90C38D5317D}"/>
              </a:ext>
            </a:extLst>
          </p:cNvPr>
          <p:cNvCxnSpPr>
            <a:cxnSpLocks/>
            <a:stCxn id="6" idx="5"/>
            <a:endCxn id="64" idx="1"/>
          </p:cNvCxnSpPr>
          <p:nvPr/>
        </p:nvCxnSpPr>
        <p:spPr>
          <a:xfrm flipV="1">
            <a:off x="3915955" y="3718546"/>
            <a:ext cx="1137105" cy="102073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AEEB11BD-F225-CACA-8C7B-62E11FDEB51B}"/>
              </a:ext>
            </a:extLst>
          </p:cNvPr>
          <p:cNvCxnSpPr>
            <a:cxnSpLocks/>
            <a:stCxn id="12" idx="5"/>
            <a:endCxn id="64" idx="1"/>
          </p:cNvCxnSpPr>
          <p:nvPr/>
        </p:nvCxnSpPr>
        <p:spPr>
          <a:xfrm>
            <a:off x="2390795" y="2963191"/>
            <a:ext cx="2662265" cy="755355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C4DFAAA0-F838-4C41-066F-EB6581B477F6}"/>
              </a:ext>
            </a:extLst>
          </p:cNvPr>
          <p:cNvCxnSpPr>
            <a:cxnSpLocks/>
            <a:stCxn id="17" idx="5"/>
            <a:endCxn id="64" idx="1"/>
          </p:cNvCxnSpPr>
          <p:nvPr/>
        </p:nvCxnSpPr>
        <p:spPr>
          <a:xfrm flipV="1">
            <a:off x="3900586" y="3718546"/>
            <a:ext cx="1152474" cy="28685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78632DAF-4247-0EA2-AA6E-B1C5A728B6F8}"/>
              </a:ext>
            </a:extLst>
          </p:cNvPr>
          <p:cNvCxnSpPr>
            <a:cxnSpLocks/>
            <a:stCxn id="7" idx="5"/>
            <a:endCxn id="64" idx="1"/>
          </p:cNvCxnSpPr>
          <p:nvPr/>
        </p:nvCxnSpPr>
        <p:spPr>
          <a:xfrm>
            <a:off x="3908270" y="3271522"/>
            <a:ext cx="1144790" cy="44702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16ED227D-24EE-CCF0-C74C-53483151655B}"/>
              </a:ext>
            </a:extLst>
          </p:cNvPr>
          <p:cNvSpPr txBox="1"/>
          <p:nvPr/>
        </p:nvSpPr>
        <p:spPr>
          <a:xfrm rot="16200000">
            <a:off x="6496828" y="3600085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/>
              <a:t>コントロールプレーン</a:t>
            </a:r>
            <a:endParaRPr kumimoji="1" lang="en-US" altLang="ja-JP" sz="1600" dirty="0"/>
          </a:p>
          <a:p>
            <a:pPr algn="ctr"/>
            <a:r>
              <a:rPr lang="en-US" altLang="ja-JP" sz="1600" dirty="0" err="1"/>
              <a:t>IaC</a:t>
            </a:r>
            <a:endParaRPr kumimoji="1" lang="ja-JP" altLang="en-US" sz="160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0EFCE3F2-7F9C-FAEA-E994-572E6AF8897C}"/>
              </a:ext>
            </a:extLst>
          </p:cNvPr>
          <p:cNvSpPr txBox="1"/>
          <p:nvPr/>
        </p:nvSpPr>
        <p:spPr>
          <a:xfrm>
            <a:off x="8861605" y="5116875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/>
              <a:t>ユーザー</a:t>
            </a:r>
            <a:endParaRPr kumimoji="1" lang="ja-JP" altLang="en-US" sz="1400"/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7556F70-1125-DC53-29F1-8610016855D5}"/>
              </a:ext>
            </a:extLst>
          </p:cNvPr>
          <p:cNvCxnSpPr>
            <a:cxnSpLocks/>
          </p:cNvCxnSpPr>
          <p:nvPr/>
        </p:nvCxnSpPr>
        <p:spPr>
          <a:xfrm>
            <a:off x="4676490" y="2429781"/>
            <a:ext cx="4141757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D8419CD0-FF30-A0D7-D356-F82A514B5065}"/>
              </a:ext>
            </a:extLst>
          </p:cNvPr>
          <p:cNvSpPr txBox="1"/>
          <p:nvPr/>
        </p:nvSpPr>
        <p:spPr>
          <a:xfrm>
            <a:off x="8818247" y="2251305"/>
            <a:ext cx="18294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err="1"/>
              <a:t>KGdump</a:t>
            </a:r>
            <a:r>
              <a:rPr kumimoji="1" lang="ja-JP" altLang="en-US" sz="1200" dirty="0" err="1"/>
              <a:t>：</a:t>
            </a:r>
            <a:endParaRPr lang="en-US" altLang="ja-JP" sz="1200" dirty="0"/>
          </a:p>
          <a:p>
            <a:r>
              <a:rPr lang="ja-JP" altLang="en-US" sz="1200"/>
              <a:t>ローカル</a:t>
            </a:r>
            <a:r>
              <a:rPr lang="en-US" altLang="ja-JP" sz="1200" dirty="0"/>
              <a:t>KG</a:t>
            </a:r>
            <a:r>
              <a:rPr lang="ja-JP" altLang="en-US" sz="1200"/>
              <a:t>のダンプ、複数</a:t>
            </a:r>
            <a:r>
              <a:rPr lang="en-US" altLang="ja-JP" sz="1200" dirty="0"/>
              <a:t>KG</a:t>
            </a:r>
            <a:r>
              <a:rPr lang="ja-JP" altLang="en-US" sz="1200"/>
              <a:t>を</a:t>
            </a:r>
            <a:r>
              <a:rPr lang="en-US" altLang="ja-JP" sz="1200" dirty="0"/>
              <a:t>join</a:t>
            </a:r>
            <a:r>
              <a:rPr lang="ja-JP" altLang="en-US" sz="1200"/>
              <a:t>を可能とする</a:t>
            </a:r>
            <a:endParaRPr kumimoji="1" lang="ja-JP" altLang="en-US" sz="120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E5AD159-A505-5538-41D9-AC158384A7A6}"/>
              </a:ext>
            </a:extLst>
          </p:cNvPr>
          <p:cNvSpPr txBox="1"/>
          <p:nvPr/>
        </p:nvSpPr>
        <p:spPr>
          <a:xfrm rot="16200000">
            <a:off x="7706995" y="2691299"/>
            <a:ext cx="1442960" cy="338554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/>
              <a:t>データ公開</a:t>
            </a: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4127431C-FB27-B875-93E7-4C0F0597ACE0}"/>
              </a:ext>
            </a:extLst>
          </p:cNvPr>
          <p:cNvCxnSpPr>
            <a:cxnSpLocks/>
            <a:stCxn id="17" idx="5"/>
            <a:endCxn id="33" idx="1"/>
          </p:cNvCxnSpPr>
          <p:nvPr/>
        </p:nvCxnSpPr>
        <p:spPr>
          <a:xfrm>
            <a:off x="3900586" y="4005402"/>
            <a:ext cx="2353956" cy="1277436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93E1B398-5067-D0AD-FBEA-8E9A032F9E68}"/>
              </a:ext>
            </a:extLst>
          </p:cNvPr>
          <p:cNvCxnSpPr>
            <a:cxnSpLocks/>
            <a:stCxn id="7" idx="5"/>
            <a:endCxn id="33" idx="1"/>
          </p:cNvCxnSpPr>
          <p:nvPr/>
        </p:nvCxnSpPr>
        <p:spPr>
          <a:xfrm>
            <a:off x="3908270" y="3271522"/>
            <a:ext cx="2346272" cy="2011316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E11FA74B-1D56-9B4B-89DC-A35B31A90134}"/>
              </a:ext>
            </a:extLst>
          </p:cNvPr>
          <p:cNvCxnSpPr>
            <a:cxnSpLocks/>
            <a:stCxn id="14" idx="5"/>
            <a:endCxn id="33" idx="1"/>
          </p:cNvCxnSpPr>
          <p:nvPr/>
        </p:nvCxnSpPr>
        <p:spPr>
          <a:xfrm>
            <a:off x="2396251" y="4447665"/>
            <a:ext cx="3858291" cy="835173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0BE19954-C883-8712-7AFF-8308C374083A}"/>
              </a:ext>
            </a:extLst>
          </p:cNvPr>
          <p:cNvCxnSpPr>
            <a:cxnSpLocks/>
            <a:endCxn id="86" idx="1"/>
          </p:cNvCxnSpPr>
          <p:nvPr/>
        </p:nvCxnSpPr>
        <p:spPr>
          <a:xfrm>
            <a:off x="4676490" y="5270089"/>
            <a:ext cx="4185115" cy="675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カギ線コネクタ 76">
            <a:extLst>
              <a:ext uri="{FF2B5EF4-FFF2-40B4-BE49-F238E27FC236}">
                <a16:creationId xmlns:a16="http://schemas.microsoft.com/office/drawing/2014/main" id="{26A08931-C4D6-6626-FF7C-FB366B4BC8B4}"/>
              </a:ext>
            </a:extLst>
          </p:cNvPr>
          <p:cNvCxnSpPr>
            <a:cxnSpLocks/>
            <a:stCxn id="84" idx="2"/>
            <a:endCxn id="24" idx="1"/>
          </p:cNvCxnSpPr>
          <p:nvPr/>
        </p:nvCxnSpPr>
        <p:spPr>
          <a:xfrm flipV="1">
            <a:off x="7907471" y="2666804"/>
            <a:ext cx="910776" cy="1225669"/>
          </a:xfrm>
          <a:prstGeom prst="bentConnector3">
            <a:avLst>
              <a:gd name="adj1" fmla="val 21740"/>
            </a:avLst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円/楕円 15">
            <a:extLst>
              <a:ext uri="{FF2B5EF4-FFF2-40B4-BE49-F238E27FC236}">
                <a16:creationId xmlns:a16="http://schemas.microsoft.com/office/drawing/2014/main" id="{DD80A651-8745-6F6B-991A-E4B20BD60B9C}"/>
              </a:ext>
            </a:extLst>
          </p:cNvPr>
          <p:cNvSpPr/>
          <p:nvPr/>
        </p:nvSpPr>
        <p:spPr>
          <a:xfrm>
            <a:off x="2201694" y="3520144"/>
            <a:ext cx="215153" cy="2170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4B2C1AF6-26E7-72E8-4FE8-DA49BFAF74ED}"/>
              </a:ext>
            </a:extLst>
          </p:cNvPr>
          <p:cNvSpPr txBox="1"/>
          <p:nvPr/>
        </p:nvSpPr>
        <p:spPr>
          <a:xfrm>
            <a:off x="2107489" y="3008142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00" b="1"/>
              <a:t>作者</a:t>
            </a:r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BE4C6D30-E24E-F09E-F34E-DAD4B7092D5F}"/>
              </a:ext>
            </a:extLst>
          </p:cNvPr>
          <p:cNvCxnSpPr>
            <a:cxnSpLocks/>
            <a:stCxn id="6" idx="2"/>
            <a:endCxn id="16" idx="6"/>
          </p:cNvCxnSpPr>
          <p:nvPr/>
        </p:nvCxnSpPr>
        <p:spPr>
          <a:xfrm flipH="1" flipV="1">
            <a:off x="2416847" y="3628681"/>
            <a:ext cx="1315463" cy="1033854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D0019034-84B4-C413-D999-C34999BE2CD7}"/>
              </a:ext>
            </a:extLst>
          </p:cNvPr>
          <p:cNvCxnSpPr>
            <a:cxnSpLocks/>
            <a:stCxn id="16" idx="5"/>
            <a:endCxn id="64" idx="1"/>
          </p:cNvCxnSpPr>
          <p:nvPr/>
        </p:nvCxnSpPr>
        <p:spPr>
          <a:xfrm>
            <a:off x="2385339" y="3705428"/>
            <a:ext cx="2667721" cy="1311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F369DADD-849B-25F0-17DE-3E0C1348D0C7}"/>
              </a:ext>
            </a:extLst>
          </p:cNvPr>
          <p:cNvCxnSpPr>
            <a:cxnSpLocks/>
            <a:stCxn id="7" idx="2"/>
            <a:endCxn id="16" idx="6"/>
          </p:cNvCxnSpPr>
          <p:nvPr/>
        </p:nvCxnSpPr>
        <p:spPr>
          <a:xfrm flipH="1">
            <a:off x="2416847" y="3194775"/>
            <a:ext cx="1307778" cy="433906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011DDF5D-128A-9AE7-F2C5-0154A4E16728}"/>
              </a:ext>
            </a:extLst>
          </p:cNvPr>
          <p:cNvCxnSpPr>
            <a:cxnSpLocks/>
            <a:stCxn id="12" idx="5"/>
            <a:endCxn id="33" idx="1"/>
          </p:cNvCxnSpPr>
          <p:nvPr/>
        </p:nvCxnSpPr>
        <p:spPr>
          <a:xfrm>
            <a:off x="2390795" y="2963191"/>
            <a:ext cx="3863747" cy="2319647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6DF60F58-3CBB-D2FC-80EC-62211D925621}"/>
              </a:ext>
            </a:extLst>
          </p:cNvPr>
          <p:cNvCxnSpPr>
            <a:cxnSpLocks/>
            <a:stCxn id="16" idx="5"/>
            <a:endCxn id="33" idx="1"/>
          </p:cNvCxnSpPr>
          <p:nvPr/>
        </p:nvCxnSpPr>
        <p:spPr>
          <a:xfrm>
            <a:off x="2385339" y="3705428"/>
            <a:ext cx="3869203" cy="1577410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曲線コネクタ 52">
            <a:extLst>
              <a:ext uri="{FF2B5EF4-FFF2-40B4-BE49-F238E27FC236}">
                <a16:creationId xmlns:a16="http://schemas.microsoft.com/office/drawing/2014/main" id="{AACCFBE7-4B36-3BE7-5DAE-F4166815FB25}"/>
              </a:ext>
            </a:extLst>
          </p:cNvPr>
          <p:cNvCxnSpPr>
            <a:cxnSpLocks/>
            <a:stCxn id="55" idx="3"/>
            <a:endCxn id="33" idx="3"/>
          </p:cNvCxnSpPr>
          <p:nvPr/>
        </p:nvCxnSpPr>
        <p:spPr>
          <a:xfrm>
            <a:off x="6800108" y="2448204"/>
            <a:ext cx="12700" cy="2834634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曲線コネクタ 61">
            <a:extLst>
              <a:ext uri="{FF2B5EF4-FFF2-40B4-BE49-F238E27FC236}">
                <a16:creationId xmlns:a16="http://schemas.microsoft.com/office/drawing/2014/main" id="{FA727F56-F785-A162-1B2E-03A8C4BF2C26}"/>
              </a:ext>
            </a:extLst>
          </p:cNvPr>
          <p:cNvCxnSpPr>
            <a:cxnSpLocks/>
            <a:stCxn id="43" idx="3"/>
            <a:endCxn id="33" idx="3"/>
          </p:cNvCxnSpPr>
          <p:nvPr/>
        </p:nvCxnSpPr>
        <p:spPr>
          <a:xfrm>
            <a:off x="6792424" y="3015131"/>
            <a:ext cx="7684" cy="2267707"/>
          </a:xfrm>
          <a:prstGeom prst="curvedConnector3">
            <a:avLst>
              <a:gd name="adj1" fmla="val 3075013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曲線コネクタ 69">
            <a:extLst>
              <a:ext uri="{FF2B5EF4-FFF2-40B4-BE49-F238E27FC236}">
                <a16:creationId xmlns:a16="http://schemas.microsoft.com/office/drawing/2014/main" id="{DDD56B24-3AAF-7FA8-0FDE-888276BA4D58}"/>
              </a:ext>
            </a:extLst>
          </p:cNvPr>
          <p:cNvCxnSpPr>
            <a:cxnSpLocks/>
            <a:stCxn id="44" idx="3"/>
            <a:endCxn id="33" idx="3"/>
          </p:cNvCxnSpPr>
          <p:nvPr/>
        </p:nvCxnSpPr>
        <p:spPr>
          <a:xfrm>
            <a:off x="6792424" y="3582058"/>
            <a:ext cx="7684" cy="1700780"/>
          </a:xfrm>
          <a:prstGeom prst="curvedConnector3">
            <a:avLst>
              <a:gd name="adj1" fmla="val 3075013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曲線コネクタ 73">
            <a:extLst>
              <a:ext uri="{FF2B5EF4-FFF2-40B4-BE49-F238E27FC236}">
                <a16:creationId xmlns:a16="http://schemas.microsoft.com/office/drawing/2014/main" id="{7835A8B5-152E-1099-BD32-5F5CACFF56DE}"/>
              </a:ext>
            </a:extLst>
          </p:cNvPr>
          <p:cNvCxnSpPr>
            <a:cxnSpLocks/>
            <a:stCxn id="45" idx="3"/>
            <a:endCxn id="33" idx="3"/>
          </p:cNvCxnSpPr>
          <p:nvPr/>
        </p:nvCxnSpPr>
        <p:spPr>
          <a:xfrm>
            <a:off x="6792424" y="4148985"/>
            <a:ext cx="7684" cy="1133853"/>
          </a:xfrm>
          <a:prstGeom prst="curvedConnector3">
            <a:avLst>
              <a:gd name="adj1" fmla="val 3075013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曲線コネクタ 79">
            <a:extLst>
              <a:ext uri="{FF2B5EF4-FFF2-40B4-BE49-F238E27FC236}">
                <a16:creationId xmlns:a16="http://schemas.microsoft.com/office/drawing/2014/main" id="{F1979280-DFD4-A453-8AB0-CFF95756450D}"/>
              </a:ext>
            </a:extLst>
          </p:cNvPr>
          <p:cNvCxnSpPr>
            <a:cxnSpLocks/>
            <a:stCxn id="46" idx="3"/>
            <a:endCxn id="33" idx="3"/>
          </p:cNvCxnSpPr>
          <p:nvPr/>
        </p:nvCxnSpPr>
        <p:spPr>
          <a:xfrm>
            <a:off x="6792424" y="4715912"/>
            <a:ext cx="7684" cy="566926"/>
          </a:xfrm>
          <a:prstGeom prst="curvedConnector3">
            <a:avLst>
              <a:gd name="adj1" fmla="val 3075013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107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99005-4231-9339-E1E4-EA09DE497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95054A42-1382-E832-DC84-74985F00E03C}"/>
              </a:ext>
            </a:extLst>
          </p:cNvPr>
          <p:cNvSpPr/>
          <p:nvPr/>
        </p:nvSpPr>
        <p:spPr>
          <a:xfrm>
            <a:off x="1623371" y="2224366"/>
            <a:ext cx="6618168" cy="3509211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1B9D105-21B8-5CC3-BE44-E101F4A98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577516"/>
          </a:xfrm>
          <a:solidFill>
            <a:schemeClr val="bg1">
              <a:lumMod val="85000"/>
            </a:schemeClr>
          </a:solidFill>
        </p:spPr>
        <p:txBody>
          <a:bodyPr>
            <a:normAutofit fontScale="90000"/>
          </a:bodyPr>
          <a:lstStyle/>
          <a:p>
            <a:r>
              <a:rPr lang="ja-JP" altLang="en-US" sz="3600"/>
              <a:t>鹿大知識基盤</a:t>
            </a:r>
            <a:r>
              <a:rPr kumimoji="1" lang="ja-JP" altLang="en-US" sz="3600"/>
              <a:t>システム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35423EC-8C22-3F31-5FC8-3440D645CF81}"/>
              </a:ext>
            </a:extLst>
          </p:cNvPr>
          <p:cNvSpPr txBox="1"/>
          <p:nvPr/>
        </p:nvSpPr>
        <p:spPr>
          <a:xfrm>
            <a:off x="-1" y="577517"/>
            <a:ext cx="12192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1"/>
              <a:t>◾️位置付け</a:t>
            </a:r>
            <a:endParaRPr lang="en-US" altLang="ja-JP" b="1" dirty="0"/>
          </a:p>
          <a:p>
            <a:r>
              <a:rPr lang="ja-JP" altLang="en-US"/>
              <a:t>有体物トラッキングシステム・地域課題検索システム・</a:t>
            </a:r>
            <a:r>
              <a:rPr lang="en-US" altLang="ja-JP" dirty="0"/>
              <a:t> </a:t>
            </a:r>
            <a:r>
              <a:rPr lang="ja-JP" altLang="en-US"/>
              <a:t>論文検索システム等を統合する</a:t>
            </a:r>
            <a:r>
              <a:rPr lang="en-US" altLang="ja-JP" dirty="0"/>
              <a:t>KG</a:t>
            </a:r>
            <a:r>
              <a:rPr lang="ja-JP" altLang="en-US"/>
              <a:t>を構築、統合的な検索インターフェイスからのアクセスを可能とする。</a:t>
            </a:r>
            <a:r>
              <a:rPr lang="en-US" altLang="ja-JP" dirty="0"/>
              <a:t> </a:t>
            </a:r>
            <a:r>
              <a:rPr lang="ja-JP" altLang="en-US"/>
              <a:t>学内で階層的データ管理・データガバナンスを進めるための知識基盤でもある。</a:t>
            </a:r>
            <a:endParaRPr lang="en-US" altLang="ja-JP" dirty="0"/>
          </a:p>
          <a:p>
            <a:r>
              <a:rPr lang="ja-JP" altLang="en-US" b="1"/>
              <a:t>◾️概要図</a:t>
            </a:r>
            <a:endParaRPr lang="en-US" altLang="ja-JP" b="1" dirty="0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52F1380-A9A2-9DF3-E80C-4564CFC60924}"/>
              </a:ext>
            </a:extLst>
          </p:cNvPr>
          <p:cNvSpPr/>
          <p:nvPr/>
        </p:nvSpPr>
        <p:spPr>
          <a:xfrm>
            <a:off x="1713358" y="2377394"/>
            <a:ext cx="2949627" cy="3071465"/>
          </a:xfrm>
          <a:prstGeom prst="rect">
            <a:avLst/>
          </a:prstGeom>
          <a:noFill/>
          <a:ln w="25400">
            <a:solidFill>
              <a:schemeClr val="accent2">
                <a:alpha val="39703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F8F360B-485A-4BF9-37E6-F630628B70DB}"/>
              </a:ext>
            </a:extLst>
          </p:cNvPr>
          <p:cNvSpPr txBox="1"/>
          <p:nvPr/>
        </p:nvSpPr>
        <p:spPr>
          <a:xfrm>
            <a:off x="3807984" y="5824544"/>
            <a:ext cx="392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/>
              <a:t>リンクポリシー</a:t>
            </a:r>
            <a:r>
              <a:rPr lang="en-US" altLang="ja-JP" sz="1200" dirty="0"/>
              <a:t>: </a:t>
            </a:r>
            <a:r>
              <a:rPr lang="ja-JP" altLang="en-US" sz="1200"/>
              <a:t>データセントリック</a:t>
            </a:r>
            <a:r>
              <a:rPr lang="en-US" altLang="ja-JP" sz="1200" dirty="0"/>
              <a:t> -&gt; </a:t>
            </a:r>
            <a:r>
              <a:rPr lang="ja-JP" altLang="en-US" sz="1200"/>
              <a:t>データソースから見えるものをそのままグラフ関係にする</a:t>
            </a:r>
            <a:endParaRPr kumimoji="1" lang="ja-JP" altLang="en-US" sz="1200"/>
          </a:p>
        </p:txBody>
      </p:sp>
      <p:sp>
        <p:nvSpPr>
          <p:cNvPr id="6" name="円/楕円 5">
            <a:extLst>
              <a:ext uri="{FF2B5EF4-FFF2-40B4-BE49-F238E27FC236}">
                <a16:creationId xmlns:a16="http://schemas.microsoft.com/office/drawing/2014/main" id="{B56D1605-D178-E6B6-3E4E-C5559C1C6F81}"/>
              </a:ext>
            </a:extLst>
          </p:cNvPr>
          <p:cNvSpPr/>
          <p:nvPr/>
        </p:nvSpPr>
        <p:spPr>
          <a:xfrm>
            <a:off x="3725537" y="4628501"/>
            <a:ext cx="215153" cy="2170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円/楕円 6">
            <a:extLst>
              <a:ext uri="{FF2B5EF4-FFF2-40B4-BE49-F238E27FC236}">
                <a16:creationId xmlns:a16="http://schemas.microsoft.com/office/drawing/2014/main" id="{D7D576F2-4941-2B37-82BF-EB8AC5E9FB77}"/>
              </a:ext>
            </a:extLst>
          </p:cNvPr>
          <p:cNvSpPr/>
          <p:nvPr/>
        </p:nvSpPr>
        <p:spPr>
          <a:xfrm>
            <a:off x="3717852" y="3160741"/>
            <a:ext cx="215153" cy="2170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BCAE277-BE22-0176-3A34-A0CAB1F993F6}"/>
              </a:ext>
            </a:extLst>
          </p:cNvPr>
          <p:cNvSpPr txBox="1"/>
          <p:nvPr/>
        </p:nvSpPr>
        <p:spPr>
          <a:xfrm>
            <a:off x="3625363" y="4845574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00" b="1"/>
              <a:t>論文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EAB3E9B-FA6C-5ECE-F2F2-D2DCAA85FF75}"/>
              </a:ext>
            </a:extLst>
          </p:cNvPr>
          <p:cNvSpPr txBox="1"/>
          <p:nvPr/>
        </p:nvSpPr>
        <p:spPr>
          <a:xfrm>
            <a:off x="3563891" y="3396060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900" b="1"/>
              <a:t>データ</a:t>
            </a:r>
            <a:endParaRPr kumimoji="1" lang="ja-JP" altLang="en-US" sz="900" b="1"/>
          </a:p>
        </p:txBody>
      </p:sp>
      <p:sp>
        <p:nvSpPr>
          <p:cNvPr id="10" name="円/楕円 9">
            <a:extLst>
              <a:ext uri="{FF2B5EF4-FFF2-40B4-BE49-F238E27FC236}">
                <a16:creationId xmlns:a16="http://schemas.microsoft.com/office/drawing/2014/main" id="{C0B88294-AD2C-24E0-12F5-4405BDAD7B25}"/>
              </a:ext>
            </a:extLst>
          </p:cNvPr>
          <p:cNvSpPr/>
          <p:nvPr/>
        </p:nvSpPr>
        <p:spPr>
          <a:xfrm>
            <a:off x="2048957" y="5809176"/>
            <a:ext cx="215153" cy="2170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1D321BE-D687-435F-482F-BE872BEF017D}"/>
              </a:ext>
            </a:extLst>
          </p:cNvPr>
          <p:cNvSpPr txBox="1"/>
          <p:nvPr/>
        </p:nvSpPr>
        <p:spPr>
          <a:xfrm>
            <a:off x="2208926" y="5785280"/>
            <a:ext cx="7328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200" dirty="0"/>
              <a:t>: </a:t>
            </a:r>
            <a:r>
              <a:rPr kumimoji="1" lang="ja-JP" altLang="en-US" sz="1200"/>
              <a:t>ノード</a:t>
            </a:r>
          </a:p>
        </p:txBody>
      </p:sp>
      <p:sp>
        <p:nvSpPr>
          <p:cNvPr id="12" name="円/楕円 11">
            <a:extLst>
              <a:ext uri="{FF2B5EF4-FFF2-40B4-BE49-F238E27FC236}">
                <a16:creationId xmlns:a16="http://schemas.microsoft.com/office/drawing/2014/main" id="{ED73A52E-E5A4-7CEC-D664-106FAA636364}"/>
              </a:ext>
            </a:extLst>
          </p:cNvPr>
          <p:cNvSpPr/>
          <p:nvPr/>
        </p:nvSpPr>
        <p:spPr>
          <a:xfrm>
            <a:off x="2200377" y="2852410"/>
            <a:ext cx="215153" cy="2170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C0F0DEB-18FC-7F62-7AF4-A86B67D66279}"/>
              </a:ext>
            </a:extLst>
          </p:cNvPr>
          <p:cNvSpPr txBox="1"/>
          <p:nvPr/>
        </p:nvSpPr>
        <p:spPr>
          <a:xfrm>
            <a:off x="1865939" y="3854270"/>
            <a:ext cx="87716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900" b="1"/>
              <a:t>ファシリティ</a:t>
            </a:r>
            <a:endParaRPr kumimoji="1" lang="ja-JP" altLang="en-US" sz="900" b="1"/>
          </a:p>
        </p:txBody>
      </p:sp>
      <p:sp>
        <p:nvSpPr>
          <p:cNvPr id="14" name="円/楕円 13">
            <a:extLst>
              <a:ext uri="{FF2B5EF4-FFF2-40B4-BE49-F238E27FC236}">
                <a16:creationId xmlns:a16="http://schemas.microsoft.com/office/drawing/2014/main" id="{EC82C575-1DA2-7242-305D-CE3E50EB5226}"/>
              </a:ext>
            </a:extLst>
          </p:cNvPr>
          <p:cNvSpPr/>
          <p:nvPr/>
        </p:nvSpPr>
        <p:spPr>
          <a:xfrm>
            <a:off x="2205833" y="4336884"/>
            <a:ext cx="215153" cy="2170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8296B92-C62A-FD09-D78D-7764AC0B8837}"/>
              </a:ext>
            </a:extLst>
          </p:cNvPr>
          <p:cNvSpPr txBox="1"/>
          <p:nvPr/>
        </p:nvSpPr>
        <p:spPr>
          <a:xfrm>
            <a:off x="2104478" y="4559775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00" b="1"/>
              <a:t>地名</a:t>
            </a:r>
          </a:p>
        </p:txBody>
      </p:sp>
      <p:sp>
        <p:nvSpPr>
          <p:cNvPr id="17" name="円/楕円 16">
            <a:extLst>
              <a:ext uri="{FF2B5EF4-FFF2-40B4-BE49-F238E27FC236}">
                <a16:creationId xmlns:a16="http://schemas.microsoft.com/office/drawing/2014/main" id="{2EC618BE-D87C-FD98-E92C-78C3A383B91C}"/>
              </a:ext>
            </a:extLst>
          </p:cNvPr>
          <p:cNvSpPr/>
          <p:nvPr/>
        </p:nvSpPr>
        <p:spPr>
          <a:xfrm>
            <a:off x="3710168" y="3894621"/>
            <a:ext cx="215153" cy="2170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6BBD1E0-7E59-9B93-74FE-BF236E767B53}"/>
              </a:ext>
            </a:extLst>
          </p:cNvPr>
          <p:cNvSpPr txBox="1"/>
          <p:nvPr/>
        </p:nvSpPr>
        <p:spPr>
          <a:xfrm>
            <a:off x="3563891" y="4111148"/>
            <a:ext cx="53091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900" b="1"/>
              <a:t>有体物</a:t>
            </a:r>
            <a:endParaRPr kumimoji="1" lang="ja-JP" altLang="en-US" sz="900" b="1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21D7DCE4-8CB3-FE45-2A3C-930A7D916E91}"/>
              </a:ext>
            </a:extLst>
          </p:cNvPr>
          <p:cNvSpPr/>
          <p:nvPr/>
        </p:nvSpPr>
        <p:spPr>
          <a:xfrm>
            <a:off x="2045742" y="6090227"/>
            <a:ext cx="545566" cy="2170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F30B4305-A4A6-063F-621C-5BA7772FD1EA}"/>
              </a:ext>
            </a:extLst>
          </p:cNvPr>
          <p:cNvSpPr txBox="1"/>
          <p:nvPr/>
        </p:nvSpPr>
        <p:spPr>
          <a:xfrm>
            <a:off x="2550134" y="6066330"/>
            <a:ext cx="7986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1200" dirty="0"/>
              <a:t>: </a:t>
            </a:r>
            <a:r>
              <a:rPr lang="ja-JP" altLang="en-US" sz="1200"/>
              <a:t>外部</a:t>
            </a:r>
            <a:r>
              <a:rPr lang="en-US" altLang="ja-JP" sz="1200" dirty="0"/>
              <a:t>DB</a:t>
            </a:r>
            <a:endParaRPr kumimoji="1" lang="ja-JP" altLang="en-US" sz="1200"/>
          </a:p>
        </p:txBody>
      </p:sp>
      <p:cxnSp>
        <p:nvCxnSpPr>
          <p:cNvPr id="23" name="直線矢印コネクタ 22">
            <a:extLst>
              <a:ext uri="{FF2B5EF4-FFF2-40B4-BE49-F238E27FC236}">
                <a16:creationId xmlns:a16="http://schemas.microsoft.com/office/drawing/2014/main" id="{C302EDB8-461B-D332-B2B7-9A7CADC3CA06}"/>
              </a:ext>
            </a:extLst>
          </p:cNvPr>
          <p:cNvCxnSpPr>
            <a:cxnSpLocks/>
            <a:stCxn id="17" idx="2"/>
            <a:endCxn id="12" idx="6"/>
          </p:cNvCxnSpPr>
          <p:nvPr/>
        </p:nvCxnSpPr>
        <p:spPr>
          <a:xfrm flipH="1" flipV="1">
            <a:off x="2415530" y="2960947"/>
            <a:ext cx="1294638" cy="1042211"/>
          </a:xfrm>
          <a:prstGeom prst="straightConnector1">
            <a:avLst/>
          </a:prstGeom>
          <a:ln>
            <a:solidFill>
              <a:schemeClr val="accent2">
                <a:alpha val="40173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矢印コネクタ 24">
            <a:extLst>
              <a:ext uri="{FF2B5EF4-FFF2-40B4-BE49-F238E27FC236}">
                <a16:creationId xmlns:a16="http://schemas.microsoft.com/office/drawing/2014/main" id="{561CD228-EE72-97A7-0B6F-232793CECB8C}"/>
              </a:ext>
            </a:extLst>
          </p:cNvPr>
          <p:cNvCxnSpPr>
            <a:cxnSpLocks/>
            <a:stCxn id="6" idx="2"/>
            <a:endCxn id="12" idx="6"/>
          </p:cNvCxnSpPr>
          <p:nvPr/>
        </p:nvCxnSpPr>
        <p:spPr>
          <a:xfrm flipH="1" flipV="1">
            <a:off x="2415530" y="2960947"/>
            <a:ext cx="1310007" cy="1776091"/>
          </a:xfrm>
          <a:prstGeom prst="straightConnector1">
            <a:avLst/>
          </a:prstGeom>
          <a:ln>
            <a:solidFill>
              <a:schemeClr val="accent2">
                <a:alpha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1963FC60-7455-439F-234F-254EF6A9F272}"/>
              </a:ext>
            </a:extLst>
          </p:cNvPr>
          <p:cNvCxnSpPr>
            <a:cxnSpLocks/>
            <a:stCxn id="7" idx="2"/>
            <a:endCxn id="12" idx="6"/>
          </p:cNvCxnSpPr>
          <p:nvPr/>
        </p:nvCxnSpPr>
        <p:spPr>
          <a:xfrm flipH="1" flipV="1">
            <a:off x="2415530" y="2960947"/>
            <a:ext cx="1302322" cy="308331"/>
          </a:xfrm>
          <a:prstGeom prst="straightConnector1">
            <a:avLst/>
          </a:prstGeom>
          <a:ln>
            <a:solidFill>
              <a:schemeClr val="accent2">
                <a:alpha val="40341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D12B729A-AC9D-8577-48A8-6ED593AC3CEE}"/>
              </a:ext>
            </a:extLst>
          </p:cNvPr>
          <p:cNvCxnSpPr>
            <a:cxnSpLocks/>
            <a:stCxn id="6" idx="2"/>
            <a:endCxn id="14" idx="6"/>
          </p:cNvCxnSpPr>
          <p:nvPr/>
        </p:nvCxnSpPr>
        <p:spPr>
          <a:xfrm flipH="1" flipV="1">
            <a:off x="2420986" y="4445421"/>
            <a:ext cx="1304551" cy="291617"/>
          </a:xfrm>
          <a:prstGeom prst="straightConnector1">
            <a:avLst/>
          </a:prstGeom>
          <a:ln>
            <a:solidFill>
              <a:schemeClr val="accent2">
                <a:alpha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曲線コネクタ 35">
            <a:extLst>
              <a:ext uri="{FF2B5EF4-FFF2-40B4-BE49-F238E27FC236}">
                <a16:creationId xmlns:a16="http://schemas.microsoft.com/office/drawing/2014/main" id="{DCEE263D-D221-3DFB-33AD-57295099E7D0}"/>
              </a:ext>
            </a:extLst>
          </p:cNvPr>
          <p:cNvCxnSpPr>
            <a:stCxn id="6" idx="6"/>
            <a:endCxn id="17" idx="6"/>
          </p:cNvCxnSpPr>
          <p:nvPr/>
        </p:nvCxnSpPr>
        <p:spPr>
          <a:xfrm flipH="1" flipV="1">
            <a:off x="3925321" y="4003158"/>
            <a:ext cx="15369" cy="733880"/>
          </a:xfrm>
          <a:prstGeom prst="curvedConnector3">
            <a:avLst>
              <a:gd name="adj1" fmla="val -1487410"/>
            </a:avLst>
          </a:prstGeom>
          <a:ln>
            <a:solidFill>
              <a:schemeClr val="accent2">
                <a:alpha val="39729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曲線コネクタ 37">
            <a:extLst>
              <a:ext uri="{FF2B5EF4-FFF2-40B4-BE49-F238E27FC236}">
                <a16:creationId xmlns:a16="http://schemas.microsoft.com/office/drawing/2014/main" id="{A9924729-06BF-6C34-7414-89BC2D1AF063}"/>
              </a:ext>
            </a:extLst>
          </p:cNvPr>
          <p:cNvCxnSpPr>
            <a:cxnSpLocks/>
            <a:stCxn id="6" idx="6"/>
            <a:endCxn id="7" idx="6"/>
          </p:cNvCxnSpPr>
          <p:nvPr/>
        </p:nvCxnSpPr>
        <p:spPr>
          <a:xfrm flipH="1" flipV="1">
            <a:off x="3933005" y="3269278"/>
            <a:ext cx="7685" cy="1467760"/>
          </a:xfrm>
          <a:prstGeom prst="curvedConnector3">
            <a:avLst>
              <a:gd name="adj1" fmla="val -2974626"/>
            </a:avLst>
          </a:prstGeom>
          <a:ln>
            <a:solidFill>
              <a:schemeClr val="accent2">
                <a:alpha val="40341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5AD3632F-81EC-2979-1D26-C36FBA1A0991}"/>
              </a:ext>
            </a:extLst>
          </p:cNvPr>
          <p:cNvSpPr txBox="1"/>
          <p:nvPr/>
        </p:nvSpPr>
        <p:spPr>
          <a:xfrm>
            <a:off x="2447136" y="5452910"/>
            <a:ext cx="1657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/>
              <a:t>Knowledge Graph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DE7D004D-6990-5D00-E584-7FA462C56514}"/>
              </a:ext>
            </a:extLst>
          </p:cNvPr>
          <p:cNvSpPr/>
          <p:nvPr/>
        </p:nvSpPr>
        <p:spPr>
          <a:xfrm>
            <a:off x="6240085" y="2981097"/>
            <a:ext cx="545566" cy="2170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kumimoji="1" lang="ja-JP" altLang="en-US"/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2E4A1D1A-C7F3-5536-F1A9-370743F8DA04}"/>
              </a:ext>
            </a:extLst>
          </p:cNvPr>
          <p:cNvSpPr/>
          <p:nvPr/>
        </p:nvSpPr>
        <p:spPr>
          <a:xfrm>
            <a:off x="6240085" y="3548024"/>
            <a:ext cx="545566" cy="2170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kumimoji="1" lang="ja-JP" altLang="en-US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A992614D-6C99-65F9-E483-8AFFAFBE9163}"/>
              </a:ext>
            </a:extLst>
          </p:cNvPr>
          <p:cNvSpPr/>
          <p:nvPr/>
        </p:nvSpPr>
        <p:spPr>
          <a:xfrm>
            <a:off x="6240085" y="4114951"/>
            <a:ext cx="545566" cy="2170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B8D3700B-5798-763F-F100-342E10ABFFD8}"/>
              </a:ext>
            </a:extLst>
          </p:cNvPr>
          <p:cNvSpPr/>
          <p:nvPr/>
        </p:nvSpPr>
        <p:spPr>
          <a:xfrm>
            <a:off x="6240085" y="4681878"/>
            <a:ext cx="545566" cy="2170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kumimoji="1" lang="ja-JP" altLang="en-US"/>
          </a:p>
        </p:txBody>
      </p:sp>
      <p:cxnSp>
        <p:nvCxnSpPr>
          <p:cNvPr id="19" name="直線矢印コネクタ 18">
            <a:extLst>
              <a:ext uri="{FF2B5EF4-FFF2-40B4-BE49-F238E27FC236}">
                <a16:creationId xmlns:a16="http://schemas.microsoft.com/office/drawing/2014/main" id="{0F4FFB7E-C192-55B3-6314-74B1E1DA45F3}"/>
              </a:ext>
            </a:extLst>
          </p:cNvPr>
          <p:cNvCxnSpPr>
            <a:cxnSpLocks/>
            <a:stCxn id="64" idx="3"/>
            <a:endCxn id="46" idx="1"/>
          </p:cNvCxnSpPr>
          <p:nvPr/>
        </p:nvCxnSpPr>
        <p:spPr>
          <a:xfrm>
            <a:off x="5591853" y="3793049"/>
            <a:ext cx="648232" cy="997366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0DF3549-828A-2A4F-A256-00A7C43C9721}"/>
              </a:ext>
            </a:extLst>
          </p:cNvPr>
          <p:cNvSpPr txBox="1"/>
          <p:nvPr/>
        </p:nvSpPr>
        <p:spPr>
          <a:xfrm>
            <a:off x="6202447" y="4874120"/>
            <a:ext cx="60625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00" b="1" dirty="0"/>
              <a:t>GIS-DB</a:t>
            </a:r>
            <a:endParaRPr kumimoji="1" lang="ja-JP" altLang="en-US" sz="900" b="1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70B3758A-D1CF-CED4-919A-4D9976EC39E6}"/>
              </a:ext>
            </a:extLst>
          </p:cNvPr>
          <p:cNvSpPr txBox="1"/>
          <p:nvPr/>
        </p:nvSpPr>
        <p:spPr>
          <a:xfrm>
            <a:off x="6157197" y="3177239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900" b="1"/>
              <a:t>リポジトリ</a:t>
            </a:r>
            <a:endParaRPr kumimoji="1" lang="ja-JP" altLang="en-US" sz="900" b="1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A05B1CF-7873-2E1D-EAF1-79ABB206A432}"/>
              </a:ext>
            </a:extLst>
          </p:cNvPr>
          <p:cNvSpPr txBox="1"/>
          <p:nvPr/>
        </p:nvSpPr>
        <p:spPr>
          <a:xfrm>
            <a:off x="5966554" y="2612624"/>
            <a:ext cx="11079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900" b="1"/>
              <a:t>データリポジトリ</a:t>
            </a:r>
            <a:endParaRPr kumimoji="1" lang="ja-JP" altLang="en-US" sz="900" b="1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44F4FE9E-3B69-C9B9-CE97-3674CC107591}"/>
              </a:ext>
            </a:extLst>
          </p:cNvPr>
          <p:cNvSpPr txBox="1"/>
          <p:nvPr/>
        </p:nvSpPr>
        <p:spPr>
          <a:xfrm>
            <a:off x="5930285" y="3728604"/>
            <a:ext cx="1339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900" b="1"/>
              <a:t>有体物管理</a:t>
            </a:r>
            <a:r>
              <a:rPr kumimoji="1" lang="en-US" altLang="ja-JP" sz="900" b="1" dirty="0"/>
              <a:t>/</a:t>
            </a:r>
            <a:r>
              <a:rPr kumimoji="1" lang="ja-JP" altLang="en-US" sz="900" b="1"/>
              <a:t>トラッキングシステム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13A155A1-037C-B649-3B82-3F39D53647BF}"/>
              </a:ext>
            </a:extLst>
          </p:cNvPr>
          <p:cNvSpPr/>
          <p:nvPr/>
        </p:nvSpPr>
        <p:spPr>
          <a:xfrm>
            <a:off x="6247769" y="5248804"/>
            <a:ext cx="545566" cy="2170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7AFF7B36-8FFF-CCB7-0148-5EF02340171D}"/>
              </a:ext>
            </a:extLst>
          </p:cNvPr>
          <p:cNvSpPr txBox="1"/>
          <p:nvPr/>
        </p:nvSpPr>
        <p:spPr>
          <a:xfrm>
            <a:off x="6148730" y="5451979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00" b="1"/>
              <a:t>キーワード</a:t>
            </a:r>
          </a:p>
        </p:txBody>
      </p:sp>
      <p:cxnSp>
        <p:nvCxnSpPr>
          <p:cNvPr id="35" name="直線矢印コネクタ 34">
            <a:extLst>
              <a:ext uri="{FF2B5EF4-FFF2-40B4-BE49-F238E27FC236}">
                <a16:creationId xmlns:a16="http://schemas.microsoft.com/office/drawing/2014/main" id="{DD29DF84-9AB8-0525-0F97-A3505B35D41A}"/>
              </a:ext>
            </a:extLst>
          </p:cNvPr>
          <p:cNvCxnSpPr>
            <a:cxnSpLocks/>
            <a:stCxn id="6" idx="5"/>
            <a:endCxn id="33" idx="1"/>
          </p:cNvCxnSpPr>
          <p:nvPr/>
        </p:nvCxnSpPr>
        <p:spPr>
          <a:xfrm>
            <a:off x="3909182" y="4813785"/>
            <a:ext cx="2338587" cy="543556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矢印コネクタ 39">
            <a:extLst>
              <a:ext uri="{FF2B5EF4-FFF2-40B4-BE49-F238E27FC236}">
                <a16:creationId xmlns:a16="http://schemas.microsoft.com/office/drawing/2014/main" id="{A78239F1-DDF8-321C-4528-2DC938C47D6A}"/>
              </a:ext>
            </a:extLst>
          </p:cNvPr>
          <p:cNvCxnSpPr>
            <a:cxnSpLocks/>
            <a:stCxn id="64" idx="3"/>
            <a:endCxn id="45" idx="1"/>
          </p:cNvCxnSpPr>
          <p:nvPr/>
        </p:nvCxnSpPr>
        <p:spPr>
          <a:xfrm>
            <a:off x="5591853" y="3793049"/>
            <a:ext cx="648232" cy="430439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矢印コネクタ 47">
            <a:extLst>
              <a:ext uri="{FF2B5EF4-FFF2-40B4-BE49-F238E27FC236}">
                <a16:creationId xmlns:a16="http://schemas.microsoft.com/office/drawing/2014/main" id="{662079C7-C183-6037-8370-388AF8B41591}"/>
              </a:ext>
            </a:extLst>
          </p:cNvPr>
          <p:cNvCxnSpPr>
            <a:cxnSpLocks/>
            <a:stCxn id="64" idx="3"/>
            <a:endCxn id="44" idx="1"/>
          </p:cNvCxnSpPr>
          <p:nvPr/>
        </p:nvCxnSpPr>
        <p:spPr>
          <a:xfrm flipV="1">
            <a:off x="5591853" y="3656561"/>
            <a:ext cx="648232" cy="136488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E0FACB78-1C9D-0191-5BD9-AB4CED585529}"/>
              </a:ext>
            </a:extLst>
          </p:cNvPr>
          <p:cNvCxnSpPr>
            <a:cxnSpLocks/>
            <a:stCxn id="64" idx="3"/>
            <a:endCxn id="43" idx="1"/>
          </p:cNvCxnSpPr>
          <p:nvPr/>
        </p:nvCxnSpPr>
        <p:spPr>
          <a:xfrm flipV="1">
            <a:off x="5591853" y="3089634"/>
            <a:ext cx="648232" cy="703415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B2D94356-3479-21B9-D493-F68DCC5F2E19}"/>
              </a:ext>
            </a:extLst>
          </p:cNvPr>
          <p:cNvSpPr/>
          <p:nvPr/>
        </p:nvSpPr>
        <p:spPr>
          <a:xfrm>
            <a:off x="6247769" y="2414170"/>
            <a:ext cx="545566" cy="2170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endParaRPr kumimoji="1" lang="ja-JP" altLang="en-US"/>
          </a:p>
        </p:txBody>
      </p:sp>
      <p:sp>
        <p:nvSpPr>
          <p:cNvPr id="56" name="テキスト ボックス 55">
            <a:extLst>
              <a:ext uri="{FF2B5EF4-FFF2-40B4-BE49-F238E27FC236}">
                <a16:creationId xmlns:a16="http://schemas.microsoft.com/office/drawing/2014/main" id="{3D31EE9E-8391-D571-9F54-0ED6E55C4F4B}"/>
              </a:ext>
            </a:extLst>
          </p:cNvPr>
          <p:cNvSpPr txBox="1"/>
          <p:nvPr/>
        </p:nvSpPr>
        <p:spPr>
          <a:xfrm>
            <a:off x="6101789" y="4306622"/>
            <a:ext cx="76174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00" b="1"/>
              <a:t>研究者一覧</a:t>
            </a:r>
          </a:p>
        </p:txBody>
      </p: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CDFA28E6-03CD-25E0-EEC3-1BBAA5E9F54B}"/>
              </a:ext>
            </a:extLst>
          </p:cNvPr>
          <p:cNvCxnSpPr>
            <a:cxnSpLocks/>
            <a:stCxn id="64" idx="3"/>
            <a:endCxn id="55" idx="1"/>
          </p:cNvCxnSpPr>
          <p:nvPr/>
        </p:nvCxnSpPr>
        <p:spPr>
          <a:xfrm flipV="1">
            <a:off x="5591853" y="2522707"/>
            <a:ext cx="655916" cy="1270342"/>
          </a:xfrm>
          <a:prstGeom prst="straightConnector1">
            <a:avLst/>
          </a:prstGeom>
          <a:ln>
            <a:solidFill>
              <a:schemeClr val="accent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C74FFDD1-D0DE-4584-78B4-F02BED78858A}"/>
              </a:ext>
            </a:extLst>
          </p:cNvPr>
          <p:cNvSpPr txBox="1"/>
          <p:nvPr/>
        </p:nvSpPr>
        <p:spPr>
          <a:xfrm rot="16200000">
            <a:off x="7284876" y="4432635"/>
            <a:ext cx="2263329" cy="338554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1600"/>
              <a:t>検索</a:t>
            </a:r>
            <a:r>
              <a:rPr kumimoji="1" lang="ja-JP" altLang="en-US" sz="1600"/>
              <a:t>インターフェイス</a:t>
            </a:r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5F88876E-6797-ECCF-E712-F30129D14406}"/>
              </a:ext>
            </a:extLst>
          </p:cNvPr>
          <p:cNvSpPr/>
          <p:nvPr/>
        </p:nvSpPr>
        <p:spPr>
          <a:xfrm>
            <a:off x="5046287" y="3684512"/>
            <a:ext cx="545566" cy="21707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テキスト ボックス 64">
            <a:extLst>
              <a:ext uri="{FF2B5EF4-FFF2-40B4-BE49-F238E27FC236}">
                <a16:creationId xmlns:a16="http://schemas.microsoft.com/office/drawing/2014/main" id="{6F7D2C07-401C-325F-0C21-FE82D13F142A}"/>
              </a:ext>
            </a:extLst>
          </p:cNvPr>
          <p:cNvSpPr txBox="1"/>
          <p:nvPr/>
        </p:nvSpPr>
        <p:spPr>
          <a:xfrm>
            <a:off x="4833393" y="3909954"/>
            <a:ext cx="10038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900" b="1" dirty="0"/>
              <a:t>ID</a:t>
            </a:r>
            <a:r>
              <a:rPr lang="ja-JP" altLang="en-US" sz="900" b="1"/>
              <a:t>管理システム</a:t>
            </a:r>
            <a:endParaRPr kumimoji="1" lang="ja-JP" altLang="en-US" sz="900" b="1"/>
          </a:p>
        </p:txBody>
      </p:sp>
      <p:cxnSp>
        <p:nvCxnSpPr>
          <p:cNvPr id="66" name="直線矢印コネクタ 65">
            <a:extLst>
              <a:ext uri="{FF2B5EF4-FFF2-40B4-BE49-F238E27FC236}">
                <a16:creationId xmlns:a16="http://schemas.microsoft.com/office/drawing/2014/main" id="{ED6C6265-A098-2F32-9E00-6DA55683A045}"/>
              </a:ext>
            </a:extLst>
          </p:cNvPr>
          <p:cNvCxnSpPr>
            <a:cxnSpLocks/>
            <a:stCxn id="14" idx="5"/>
            <a:endCxn id="64" idx="1"/>
          </p:cNvCxnSpPr>
          <p:nvPr/>
        </p:nvCxnSpPr>
        <p:spPr>
          <a:xfrm flipV="1">
            <a:off x="2389478" y="3793049"/>
            <a:ext cx="2656809" cy="729119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直線矢印コネクタ 68">
            <a:extLst>
              <a:ext uri="{FF2B5EF4-FFF2-40B4-BE49-F238E27FC236}">
                <a16:creationId xmlns:a16="http://schemas.microsoft.com/office/drawing/2014/main" id="{B4324383-F2BB-41B6-73B1-5A2F93E3F328}"/>
              </a:ext>
            </a:extLst>
          </p:cNvPr>
          <p:cNvCxnSpPr>
            <a:cxnSpLocks/>
            <a:stCxn id="6" idx="5"/>
            <a:endCxn id="64" idx="1"/>
          </p:cNvCxnSpPr>
          <p:nvPr/>
        </p:nvCxnSpPr>
        <p:spPr>
          <a:xfrm flipV="1">
            <a:off x="3909182" y="3793049"/>
            <a:ext cx="1137105" cy="102073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直線矢印コネクタ 72">
            <a:extLst>
              <a:ext uri="{FF2B5EF4-FFF2-40B4-BE49-F238E27FC236}">
                <a16:creationId xmlns:a16="http://schemas.microsoft.com/office/drawing/2014/main" id="{C8216C54-AB85-2C17-BE14-95FE7B5AD5C3}"/>
              </a:ext>
            </a:extLst>
          </p:cNvPr>
          <p:cNvCxnSpPr>
            <a:cxnSpLocks/>
            <a:stCxn id="12" idx="5"/>
            <a:endCxn id="64" idx="1"/>
          </p:cNvCxnSpPr>
          <p:nvPr/>
        </p:nvCxnSpPr>
        <p:spPr>
          <a:xfrm>
            <a:off x="2384022" y="3037694"/>
            <a:ext cx="2662265" cy="755355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直線矢印コネクタ 75">
            <a:extLst>
              <a:ext uri="{FF2B5EF4-FFF2-40B4-BE49-F238E27FC236}">
                <a16:creationId xmlns:a16="http://schemas.microsoft.com/office/drawing/2014/main" id="{33370EFA-D949-504D-D0AD-DD8614D396C2}"/>
              </a:ext>
            </a:extLst>
          </p:cNvPr>
          <p:cNvCxnSpPr>
            <a:cxnSpLocks/>
            <a:stCxn id="17" idx="5"/>
            <a:endCxn id="64" idx="1"/>
          </p:cNvCxnSpPr>
          <p:nvPr/>
        </p:nvCxnSpPr>
        <p:spPr>
          <a:xfrm flipV="1">
            <a:off x="3893813" y="3793049"/>
            <a:ext cx="1152474" cy="286856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直線矢印コネクタ 78">
            <a:extLst>
              <a:ext uri="{FF2B5EF4-FFF2-40B4-BE49-F238E27FC236}">
                <a16:creationId xmlns:a16="http://schemas.microsoft.com/office/drawing/2014/main" id="{88002BDE-4CA1-7AD5-FEA8-900926411C9F}"/>
              </a:ext>
            </a:extLst>
          </p:cNvPr>
          <p:cNvCxnSpPr>
            <a:cxnSpLocks/>
            <a:stCxn id="7" idx="5"/>
            <a:endCxn id="64" idx="1"/>
          </p:cNvCxnSpPr>
          <p:nvPr/>
        </p:nvCxnSpPr>
        <p:spPr>
          <a:xfrm>
            <a:off x="3901497" y="3346025"/>
            <a:ext cx="1144790" cy="447024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テキスト ボックス 83">
            <a:extLst>
              <a:ext uri="{FF2B5EF4-FFF2-40B4-BE49-F238E27FC236}">
                <a16:creationId xmlns:a16="http://schemas.microsoft.com/office/drawing/2014/main" id="{9109A06E-88EC-3EF0-78FF-507AC7BFF9AF}"/>
              </a:ext>
            </a:extLst>
          </p:cNvPr>
          <p:cNvSpPr txBox="1"/>
          <p:nvPr/>
        </p:nvSpPr>
        <p:spPr>
          <a:xfrm rot="16200000">
            <a:off x="6490055" y="3674588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600"/>
              <a:t>コントロールプレーン</a:t>
            </a:r>
            <a:endParaRPr kumimoji="1" lang="en-US" altLang="ja-JP" sz="1600" dirty="0"/>
          </a:p>
          <a:p>
            <a:pPr algn="ctr"/>
            <a:r>
              <a:rPr lang="en-US" altLang="ja-JP" sz="1600" dirty="0" err="1"/>
              <a:t>IaC</a:t>
            </a:r>
            <a:endParaRPr kumimoji="1" lang="ja-JP" altLang="en-US" sz="1600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F566B24F-D629-30F3-5E96-66B24E06A755}"/>
              </a:ext>
            </a:extLst>
          </p:cNvPr>
          <p:cNvSpPr txBox="1"/>
          <p:nvPr/>
        </p:nvSpPr>
        <p:spPr>
          <a:xfrm>
            <a:off x="8854832" y="5191378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/>
              <a:t>ユーザー</a:t>
            </a:r>
            <a:endParaRPr kumimoji="1" lang="ja-JP" altLang="en-US" sz="1400"/>
          </a:p>
        </p:txBody>
      </p:sp>
      <p:cxnSp>
        <p:nvCxnSpPr>
          <p:cNvPr id="22" name="直線矢印コネクタ 21">
            <a:extLst>
              <a:ext uri="{FF2B5EF4-FFF2-40B4-BE49-F238E27FC236}">
                <a16:creationId xmlns:a16="http://schemas.microsoft.com/office/drawing/2014/main" id="{16BC3222-42E3-19FF-723F-F8D4C471F0A2}"/>
              </a:ext>
            </a:extLst>
          </p:cNvPr>
          <p:cNvCxnSpPr>
            <a:cxnSpLocks/>
          </p:cNvCxnSpPr>
          <p:nvPr/>
        </p:nvCxnSpPr>
        <p:spPr>
          <a:xfrm>
            <a:off x="4669717" y="2504284"/>
            <a:ext cx="4141757" cy="0"/>
          </a:xfrm>
          <a:prstGeom prst="straightConnector1">
            <a:avLst/>
          </a:prstGeom>
          <a:ln>
            <a:solidFill>
              <a:schemeClr val="accent2">
                <a:alpha val="40341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520825EE-6CA1-EDDE-9C14-E91FB8717488}"/>
              </a:ext>
            </a:extLst>
          </p:cNvPr>
          <p:cNvSpPr txBox="1"/>
          <p:nvPr/>
        </p:nvSpPr>
        <p:spPr>
          <a:xfrm>
            <a:off x="8811474" y="2325808"/>
            <a:ext cx="22166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err="1"/>
              <a:t>KGdump</a:t>
            </a:r>
            <a:r>
              <a:rPr kumimoji="1" lang="ja-JP" altLang="en-US" sz="1200" dirty="0" err="1"/>
              <a:t>：</a:t>
            </a:r>
            <a:endParaRPr lang="en-US" altLang="ja-JP" sz="1200" dirty="0"/>
          </a:p>
          <a:p>
            <a:r>
              <a:rPr lang="ja-JP" altLang="en-US" sz="1200"/>
              <a:t>ローカル</a:t>
            </a:r>
            <a:r>
              <a:rPr lang="en-US" altLang="ja-JP" sz="1200" dirty="0"/>
              <a:t>KG</a:t>
            </a:r>
            <a:r>
              <a:rPr lang="ja-JP" altLang="en-US" sz="1200" dirty="0"/>
              <a:t>の</a:t>
            </a:r>
            <a:r>
              <a:rPr lang="en-US" altLang="ja-JP" sz="1200" dirty="0"/>
              <a:t>join/</a:t>
            </a:r>
            <a:r>
              <a:rPr lang="ja-JP" altLang="en-US" sz="1200" dirty="0"/>
              <a:t>共通システムコード</a:t>
            </a:r>
            <a:r>
              <a:rPr lang="ja-JP" altLang="en-US" sz="1200"/>
              <a:t>により組織を越えたグローバル</a:t>
            </a:r>
            <a:r>
              <a:rPr lang="en-US" altLang="ja-JP" sz="1200" dirty="0"/>
              <a:t>KG</a:t>
            </a:r>
            <a:r>
              <a:rPr lang="ja-JP" altLang="en-US" sz="1200"/>
              <a:t>を構築可能</a:t>
            </a:r>
            <a:endParaRPr kumimoji="1" lang="ja-JP" altLang="en-US" sz="1200"/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89EA5591-90EA-5D0C-DA01-73BF71A5B3DC}"/>
              </a:ext>
            </a:extLst>
          </p:cNvPr>
          <p:cNvSpPr txBox="1"/>
          <p:nvPr/>
        </p:nvSpPr>
        <p:spPr>
          <a:xfrm rot="16200000">
            <a:off x="7804664" y="2670530"/>
            <a:ext cx="1225670" cy="338554"/>
          </a:xfrm>
          <a:prstGeom prst="rect">
            <a:avLst/>
          </a:prstGeom>
          <a:noFill/>
          <a:ln w="254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600"/>
              <a:t>データ公開</a:t>
            </a:r>
          </a:p>
        </p:txBody>
      </p:sp>
      <p:cxnSp>
        <p:nvCxnSpPr>
          <p:cNvPr id="37" name="直線矢印コネクタ 36">
            <a:extLst>
              <a:ext uri="{FF2B5EF4-FFF2-40B4-BE49-F238E27FC236}">
                <a16:creationId xmlns:a16="http://schemas.microsoft.com/office/drawing/2014/main" id="{5A686D82-585C-63CC-F31A-CCE177EF3684}"/>
              </a:ext>
            </a:extLst>
          </p:cNvPr>
          <p:cNvCxnSpPr>
            <a:cxnSpLocks/>
            <a:stCxn id="17" idx="5"/>
            <a:endCxn id="33" idx="1"/>
          </p:cNvCxnSpPr>
          <p:nvPr/>
        </p:nvCxnSpPr>
        <p:spPr>
          <a:xfrm>
            <a:off x="3893813" y="4079905"/>
            <a:ext cx="2353956" cy="1277436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線矢印コネクタ 46">
            <a:extLst>
              <a:ext uri="{FF2B5EF4-FFF2-40B4-BE49-F238E27FC236}">
                <a16:creationId xmlns:a16="http://schemas.microsoft.com/office/drawing/2014/main" id="{91432928-46E7-E676-C2EA-4FE9EE1E50A3}"/>
              </a:ext>
            </a:extLst>
          </p:cNvPr>
          <p:cNvCxnSpPr>
            <a:cxnSpLocks/>
            <a:stCxn id="7" idx="5"/>
            <a:endCxn id="33" idx="1"/>
          </p:cNvCxnSpPr>
          <p:nvPr/>
        </p:nvCxnSpPr>
        <p:spPr>
          <a:xfrm>
            <a:off x="3901497" y="3346025"/>
            <a:ext cx="2346272" cy="2011316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直線矢印コネクタ 50">
            <a:extLst>
              <a:ext uri="{FF2B5EF4-FFF2-40B4-BE49-F238E27FC236}">
                <a16:creationId xmlns:a16="http://schemas.microsoft.com/office/drawing/2014/main" id="{F6308237-ABE1-76FB-8A39-2040FCAE278C}"/>
              </a:ext>
            </a:extLst>
          </p:cNvPr>
          <p:cNvCxnSpPr>
            <a:cxnSpLocks/>
            <a:stCxn id="14" idx="5"/>
            <a:endCxn id="33" idx="1"/>
          </p:cNvCxnSpPr>
          <p:nvPr/>
        </p:nvCxnSpPr>
        <p:spPr>
          <a:xfrm>
            <a:off x="2389478" y="4522168"/>
            <a:ext cx="3858291" cy="835173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1B2A1F37-CE47-118F-6858-D2492051AB43}"/>
              </a:ext>
            </a:extLst>
          </p:cNvPr>
          <p:cNvCxnSpPr>
            <a:cxnSpLocks/>
            <a:endCxn id="86" idx="1"/>
          </p:cNvCxnSpPr>
          <p:nvPr/>
        </p:nvCxnSpPr>
        <p:spPr>
          <a:xfrm>
            <a:off x="4669717" y="5344592"/>
            <a:ext cx="4185115" cy="675"/>
          </a:xfrm>
          <a:prstGeom prst="straightConnector1">
            <a:avLst/>
          </a:prstGeom>
          <a:ln>
            <a:solidFill>
              <a:schemeClr val="accent2">
                <a:alpha val="40341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カギ線コネクタ 76">
            <a:extLst>
              <a:ext uri="{FF2B5EF4-FFF2-40B4-BE49-F238E27FC236}">
                <a16:creationId xmlns:a16="http://schemas.microsoft.com/office/drawing/2014/main" id="{BF7BE7ED-FBAA-345B-E17F-2BC245484681}"/>
              </a:ext>
            </a:extLst>
          </p:cNvPr>
          <p:cNvCxnSpPr>
            <a:stCxn id="84" idx="2"/>
            <a:endCxn id="24" idx="1"/>
          </p:cNvCxnSpPr>
          <p:nvPr/>
        </p:nvCxnSpPr>
        <p:spPr>
          <a:xfrm flipV="1">
            <a:off x="7900698" y="2741307"/>
            <a:ext cx="910776" cy="1225669"/>
          </a:xfrm>
          <a:prstGeom prst="bentConnector3">
            <a:avLst>
              <a:gd name="adj1" fmla="val 18393"/>
            </a:avLst>
          </a:prstGeom>
          <a:ln>
            <a:solidFill>
              <a:schemeClr val="accent2">
                <a:alpha val="40341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円/楕円 15">
            <a:extLst>
              <a:ext uri="{FF2B5EF4-FFF2-40B4-BE49-F238E27FC236}">
                <a16:creationId xmlns:a16="http://schemas.microsoft.com/office/drawing/2014/main" id="{52C3509D-1975-1856-D9C5-CA2516F58814}"/>
              </a:ext>
            </a:extLst>
          </p:cNvPr>
          <p:cNvSpPr/>
          <p:nvPr/>
        </p:nvSpPr>
        <p:spPr>
          <a:xfrm>
            <a:off x="2194921" y="3594647"/>
            <a:ext cx="215153" cy="2170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F67C7438-FED7-9FA2-2C2D-83B0FA1EC204}"/>
              </a:ext>
            </a:extLst>
          </p:cNvPr>
          <p:cNvSpPr txBox="1"/>
          <p:nvPr/>
        </p:nvSpPr>
        <p:spPr>
          <a:xfrm>
            <a:off x="2100716" y="3082645"/>
            <a:ext cx="4154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900" b="1"/>
              <a:t>作者</a:t>
            </a:r>
          </a:p>
        </p:txBody>
      </p: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05139924-27BA-91D8-5D0D-A66590F9A998}"/>
              </a:ext>
            </a:extLst>
          </p:cNvPr>
          <p:cNvCxnSpPr>
            <a:cxnSpLocks/>
            <a:stCxn id="6" idx="2"/>
            <a:endCxn id="16" idx="6"/>
          </p:cNvCxnSpPr>
          <p:nvPr/>
        </p:nvCxnSpPr>
        <p:spPr>
          <a:xfrm flipH="1" flipV="1">
            <a:off x="2410074" y="3703184"/>
            <a:ext cx="1315463" cy="1033854"/>
          </a:xfrm>
          <a:prstGeom prst="straightConnector1">
            <a:avLst/>
          </a:prstGeom>
          <a:ln>
            <a:solidFill>
              <a:schemeClr val="accent2">
                <a:alpha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203B54E3-BC05-AB74-A20A-4693AB1DA770}"/>
              </a:ext>
            </a:extLst>
          </p:cNvPr>
          <p:cNvCxnSpPr>
            <a:cxnSpLocks/>
            <a:stCxn id="16" idx="5"/>
            <a:endCxn id="64" idx="1"/>
          </p:cNvCxnSpPr>
          <p:nvPr/>
        </p:nvCxnSpPr>
        <p:spPr>
          <a:xfrm>
            <a:off x="2378566" y="3779931"/>
            <a:ext cx="2667721" cy="13118"/>
          </a:xfrm>
          <a:prstGeom prst="straightConnector1">
            <a:avLst/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直線矢印コネクタ 60">
            <a:extLst>
              <a:ext uri="{FF2B5EF4-FFF2-40B4-BE49-F238E27FC236}">
                <a16:creationId xmlns:a16="http://schemas.microsoft.com/office/drawing/2014/main" id="{6E9A681E-78B3-52C1-51F3-264EB13A3408}"/>
              </a:ext>
            </a:extLst>
          </p:cNvPr>
          <p:cNvCxnSpPr>
            <a:cxnSpLocks/>
            <a:stCxn id="7" idx="2"/>
            <a:endCxn id="16" idx="6"/>
          </p:cNvCxnSpPr>
          <p:nvPr/>
        </p:nvCxnSpPr>
        <p:spPr>
          <a:xfrm flipH="1">
            <a:off x="2410074" y="3269278"/>
            <a:ext cx="1307778" cy="433906"/>
          </a:xfrm>
          <a:prstGeom prst="straightConnector1">
            <a:avLst/>
          </a:prstGeom>
          <a:ln>
            <a:solidFill>
              <a:schemeClr val="accent2">
                <a:alpha val="40341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矢印コネクタ 38">
            <a:extLst>
              <a:ext uri="{FF2B5EF4-FFF2-40B4-BE49-F238E27FC236}">
                <a16:creationId xmlns:a16="http://schemas.microsoft.com/office/drawing/2014/main" id="{3199BD58-E7F5-940E-1B61-D000608AAB16}"/>
              </a:ext>
            </a:extLst>
          </p:cNvPr>
          <p:cNvCxnSpPr>
            <a:cxnSpLocks/>
            <a:stCxn id="12" idx="5"/>
            <a:endCxn id="33" idx="1"/>
          </p:cNvCxnSpPr>
          <p:nvPr/>
        </p:nvCxnSpPr>
        <p:spPr>
          <a:xfrm>
            <a:off x="2384022" y="3037694"/>
            <a:ext cx="3863747" cy="2319647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矢印コネクタ 58">
            <a:extLst>
              <a:ext uri="{FF2B5EF4-FFF2-40B4-BE49-F238E27FC236}">
                <a16:creationId xmlns:a16="http://schemas.microsoft.com/office/drawing/2014/main" id="{5DCFE634-0732-67B6-9D1E-9CE28583057F}"/>
              </a:ext>
            </a:extLst>
          </p:cNvPr>
          <p:cNvCxnSpPr>
            <a:cxnSpLocks/>
            <a:stCxn id="16" idx="5"/>
            <a:endCxn id="33" idx="1"/>
          </p:cNvCxnSpPr>
          <p:nvPr/>
        </p:nvCxnSpPr>
        <p:spPr>
          <a:xfrm>
            <a:off x="2378566" y="3779931"/>
            <a:ext cx="3869203" cy="1577410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triangl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曲線コネクタ 52">
            <a:extLst>
              <a:ext uri="{FF2B5EF4-FFF2-40B4-BE49-F238E27FC236}">
                <a16:creationId xmlns:a16="http://schemas.microsoft.com/office/drawing/2014/main" id="{215FFF92-90AD-F4F1-CC5E-80DD3CCDD437}"/>
              </a:ext>
            </a:extLst>
          </p:cNvPr>
          <p:cNvCxnSpPr>
            <a:cxnSpLocks/>
            <a:stCxn id="55" idx="3"/>
            <a:endCxn id="33" idx="3"/>
          </p:cNvCxnSpPr>
          <p:nvPr/>
        </p:nvCxnSpPr>
        <p:spPr>
          <a:xfrm>
            <a:off x="6793335" y="2522707"/>
            <a:ext cx="12700" cy="2834634"/>
          </a:xfrm>
          <a:prstGeom prst="curvedConnector3">
            <a:avLst>
              <a:gd name="adj1" fmla="val 1800000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曲線コネクタ 61">
            <a:extLst>
              <a:ext uri="{FF2B5EF4-FFF2-40B4-BE49-F238E27FC236}">
                <a16:creationId xmlns:a16="http://schemas.microsoft.com/office/drawing/2014/main" id="{6F9A7081-02FA-525B-2540-FCD6ACD3D9D3}"/>
              </a:ext>
            </a:extLst>
          </p:cNvPr>
          <p:cNvCxnSpPr>
            <a:cxnSpLocks/>
            <a:stCxn id="43" idx="3"/>
            <a:endCxn id="33" idx="3"/>
          </p:cNvCxnSpPr>
          <p:nvPr/>
        </p:nvCxnSpPr>
        <p:spPr>
          <a:xfrm>
            <a:off x="6785651" y="3089634"/>
            <a:ext cx="7684" cy="2267707"/>
          </a:xfrm>
          <a:prstGeom prst="curvedConnector3">
            <a:avLst>
              <a:gd name="adj1" fmla="val 3075013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曲線コネクタ 69">
            <a:extLst>
              <a:ext uri="{FF2B5EF4-FFF2-40B4-BE49-F238E27FC236}">
                <a16:creationId xmlns:a16="http://schemas.microsoft.com/office/drawing/2014/main" id="{CD5373D2-1B96-A1E3-4BBC-C8E8323D4592}"/>
              </a:ext>
            </a:extLst>
          </p:cNvPr>
          <p:cNvCxnSpPr>
            <a:cxnSpLocks/>
            <a:stCxn id="44" idx="3"/>
            <a:endCxn id="33" idx="3"/>
          </p:cNvCxnSpPr>
          <p:nvPr/>
        </p:nvCxnSpPr>
        <p:spPr>
          <a:xfrm>
            <a:off x="6785651" y="3656561"/>
            <a:ext cx="7684" cy="1700780"/>
          </a:xfrm>
          <a:prstGeom prst="curvedConnector3">
            <a:avLst>
              <a:gd name="adj1" fmla="val 3075013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曲線コネクタ 73">
            <a:extLst>
              <a:ext uri="{FF2B5EF4-FFF2-40B4-BE49-F238E27FC236}">
                <a16:creationId xmlns:a16="http://schemas.microsoft.com/office/drawing/2014/main" id="{A6CE34B1-B50D-6A5A-24F4-164FFE48052B}"/>
              </a:ext>
            </a:extLst>
          </p:cNvPr>
          <p:cNvCxnSpPr>
            <a:cxnSpLocks/>
            <a:stCxn id="45" idx="3"/>
            <a:endCxn id="33" idx="3"/>
          </p:cNvCxnSpPr>
          <p:nvPr/>
        </p:nvCxnSpPr>
        <p:spPr>
          <a:xfrm>
            <a:off x="6785651" y="4223488"/>
            <a:ext cx="7684" cy="1133853"/>
          </a:xfrm>
          <a:prstGeom prst="curvedConnector3">
            <a:avLst>
              <a:gd name="adj1" fmla="val 3075013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曲線コネクタ 79">
            <a:extLst>
              <a:ext uri="{FF2B5EF4-FFF2-40B4-BE49-F238E27FC236}">
                <a16:creationId xmlns:a16="http://schemas.microsoft.com/office/drawing/2014/main" id="{26E70205-8263-5C40-D4B2-B49F928ECA94}"/>
              </a:ext>
            </a:extLst>
          </p:cNvPr>
          <p:cNvCxnSpPr>
            <a:cxnSpLocks/>
            <a:stCxn id="46" idx="3"/>
            <a:endCxn id="33" idx="3"/>
          </p:cNvCxnSpPr>
          <p:nvPr/>
        </p:nvCxnSpPr>
        <p:spPr>
          <a:xfrm>
            <a:off x="6785651" y="4790415"/>
            <a:ext cx="7684" cy="566926"/>
          </a:xfrm>
          <a:prstGeom prst="curvedConnector3">
            <a:avLst>
              <a:gd name="adj1" fmla="val 3075013"/>
            </a:avLst>
          </a:prstGeom>
          <a:ln w="127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8606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244</Words>
  <Application>Microsoft Macintosh PowerPoint</Application>
  <PresentationFormat>ワイド画面</PresentationFormat>
  <Paragraphs>58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鹿大知識基盤システム</vt:lpstr>
      <vt:lpstr>鹿大知識基盤システム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天野　晃</dc:creator>
  <cp:lastModifiedBy>天野　晃</cp:lastModifiedBy>
  <cp:revision>24</cp:revision>
  <dcterms:created xsi:type="dcterms:W3CDTF">2026-03-04T23:37:53Z</dcterms:created>
  <dcterms:modified xsi:type="dcterms:W3CDTF">2026-04-14T01:50:23Z</dcterms:modified>
</cp:coreProperties>
</file>