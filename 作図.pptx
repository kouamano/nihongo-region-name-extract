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96" r:id="rId3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456"/>
    <p:restoredTop sz="94680"/>
  </p:normalViewPr>
  <p:slideViewPr>
    <p:cSldViewPr snapToGrid="0">
      <p:cViewPr>
        <p:scale>
          <a:sx n="150" d="100"/>
          <a:sy n="150" d="100"/>
        </p:scale>
        <p:origin x="296" y="6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6C6A632-7A03-97D6-06E6-0EF0D62B341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53631936-173F-8F1F-D668-004CD4BB5CC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F4E34DC1-EA52-6820-093B-3325DC9E83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6789AD-CAC3-AD41-B5C9-BF5C62A1889D}" type="datetimeFigureOut">
              <a:rPr kumimoji="1" lang="ja-JP" altLang="en-US" smtClean="0"/>
              <a:t>2026/3/5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F5292B1-1DB2-5D30-B95D-14114DB0C9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CCB9934-3D96-5EE5-142C-4EA0B150B5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5F81E0-45AE-274A-9999-4133AAA5BC6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71935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8A1BD27-5452-BE2F-9511-48DA0408F6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1B5889CB-59F7-D6BC-9274-59C40BC94E9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441E0B9-ADE3-E0ED-5B61-CA0048BE13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6789AD-CAC3-AD41-B5C9-BF5C62A1889D}" type="datetimeFigureOut">
              <a:rPr kumimoji="1" lang="ja-JP" altLang="en-US" smtClean="0"/>
              <a:t>2026/3/5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63C547F7-2590-90EB-A176-23C831FAB9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D077F363-5620-E337-DC00-AF52392CAE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5F81E0-45AE-274A-9999-4133AAA5BC6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145345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938AFB6-A320-CAF1-87A5-2D97163836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A6374E81-70CC-4423-09AA-174A2CA6DDD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7F7F049-9A50-CA53-D176-71EA34995C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6789AD-CAC3-AD41-B5C9-BF5C62A1889D}" type="datetimeFigureOut">
              <a:rPr kumimoji="1" lang="ja-JP" altLang="en-US" smtClean="0"/>
              <a:t>2026/3/5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D8DB405D-7621-CDB8-8048-A5A36E53D7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91DDDE3-36B9-E78A-839D-8B068ACF6D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5F81E0-45AE-274A-9999-4133AAA5BC6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9202960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91A47A7-B89B-8076-6D9B-8D5AC1C60B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CA2E04C-91E5-75C9-81A6-E597A649C0A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CA6BC579-EA02-00FB-01CE-9BFDE251BF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C5C043F0-AC83-44E5-C367-AD3BCE55DF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6789AD-CAC3-AD41-B5C9-BF5C62A1889D}" type="datetimeFigureOut">
              <a:rPr kumimoji="1" lang="ja-JP" altLang="en-US" smtClean="0"/>
              <a:t>2026/3/5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98B8877-1693-FF2A-DD22-6072009E78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F8618FC4-731D-A3EA-E437-4194798084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5F81E0-45AE-274A-9999-4133AAA5BC6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1695092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85ACE69-5C3A-A8B0-69CA-FDDF79C02D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37F15CE-C0AA-A8EC-7450-6476E5F3B08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100725B5-8E2B-041E-CB1A-EF3E8B70D24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812D8A55-5AD7-8454-060F-F3B928F7C5C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2770827D-BE9F-C60D-0D4A-56BE066761B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084CAC34-A91B-913F-112C-1E98360A9B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6789AD-CAC3-AD41-B5C9-BF5C62A1889D}" type="datetimeFigureOut">
              <a:rPr kumimoji="1" lang="ja-JP" altLang="en-US" smtClean="0"/>
              <a:t>2026/3/5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2C9ABD3C-1F40-5841-9942-FE91F313B1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B27FB7E5-8B10-1FEF-9E45-ED225BF717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5F81E0-45AE-274A-9999-4133AAA5BC6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9687506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537E24E-F998-488C-A967-E2384FC951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FA32024B-6100-9240-248B-CA2A43F426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6789AD-CAC3-AD41-B5C9-BF5C62A1889D}" type="datetimeFigureOut">
              <a:rPr kumimoji="1" lang="ja-JP" altLang="en-US" smtClean="0"/>
              <a:t>2026/3/5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FF2EA323-B1D3-A60C-169A-B086CB081E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E4A34271-057B-10C7-132C-A4638553ED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5F81E0-45AE-274A-9999-4133AAA5BC6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0477937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3635FA7A-93AD-D2B1-05D6-7FAF32A2C5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6789AD-CAC3-AD41-B5C9-BF5C62A1889D}" type="datetimeFigureOut">
              <a:rPr kumimoji="1" lang="ja-JP" altLang="en-US" smtClean="0"/>
              <a:t>2026/3/5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CFE10980-D7A5-C75A-35A1-74922B872C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E98CCC2E-0372-7984-27A3-E7630330C9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5F81E0-45AE-274A-9999-4133AAA5BC6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6894448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9635452-6694-48B0-2F4B-D8613133BC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2B5EA1B-7CB3-15AD-9339-95BED1FBE0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D6403982-7C57-B123-55F6-4EBCC487E84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3DE23125-1312-B43D-D08E-A33AEE702A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6789AD-CAC3-AD41-B5C9-BF5C62A1889D}" type="datetimeFigureOut">
              <a:rPr kumimoji="1" lang="ja-JP" altLang="en-US" smtClean="0"/>
              <a:t>2026/3/5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80C7F1C1-D5C2-78D7-ADF0-A07C094F4A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0C4415F6-747E-12D7-7100-D414E765BC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5F81E0-45AE-274A-9999-4133AAA5BC6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0098802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8BB85E6-A594-1B2E-CBFB-9F5783A90A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B9F6E2E7-84FD-0A2C-CA9D-0147AC1AD63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BD9FF62D-1B1E-700E-34E0-7DF45DE18A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D71ECEB-348F-8EA2-45B3-C830709818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6789AD-CAC3-AD41-B5C9-BF5C62A1889D}" type="datetimeFigureOut">
              <a:rPr kumimoji="1" lang="ja-JP" altLang="en-US" smtClean="0"/>
              <a:t>2026/3/5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53D40AEA-1771-3C1F-D38D-2AABEEB880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FA4CE8C9-A7E6-E91D-5202-34BC2A94AB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5F81E0-45AE-274A-9999-4133AAA5BC6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173233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4AA0D9F-9CE3-D3D7-C4D8-34A0001011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1AACF51F-FE5C-6320-74D8-5117657B4E3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B32519A4-5425-3161-51E4-E803C27358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6789AD-CAC3-AD41-B5C9-BF5C62A1889D}" type="datetimeFigureOut">
              <a:rPr kumimoji="1" lang="ja-JP" altLang="en-US" smtClean="0"/>
              <a:t>2026/3/5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4DA9A69C-3E26-C307-7312-17E5AB5F55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678011B-4581-EE2A-FA4E-6DBD62712F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5F81E0-45AE-274A-9999-4133AAA5BC6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1199428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3DC0F4E0-25A5-D9D0-89A5-79A67F1DDD7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43B8CFB4-DC17-7E0C-329E-736FD930325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E2CCDFC-48EB-123C-AE7C-FD40758CB4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6789AD-CAC3-AD41-B5C9-BF5C62A1889D}" type="datetimeFigureOut">
              <a:rPr kumimoji="1" lang="ja-JP" altLang="en-US" smtClean="0"/>
              <a:t>2026/3/5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D272EE4-2DDF-228C-8B9B-994A4AA454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BD7B0FA-04F6-8EC7-E928-FC997B43EE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5F81E0-45AE-274A-9999-4133AAA5BC6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623136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9C346513-02ED-46E1-E87A-2B3C36119D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7899317-66E8-B955-B11F-CB6B16AE52E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050442F6-8CF5-9167-1176-7168D75F039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16789AD-CAC3-AD41-B5C9-BF5C62A1889D}" type="datetimeFigureOut">
              <a:rPr kumimoji="1" lang="ja-JP" altLang="en-US" smtClean="0"/>
              <a:t>2026/3/5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7C368A6B-A177-5391-D0E1-6593606D2AF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5F73624-1AFB-ABE8-B3E2-ED7CE2B7F02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35F81E0-45AE-274A-9999-4133AAA5BC6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235636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A80A9DCA-9619-8B3E-E697-76FFCC1CE46B}"/>
              </a:ext>
            </a:extLst>
          </p:cNvPr>
          <p:cNvSpPr txBox="1"/>
          <p:nvPr/>
        </p:nvSpPr>
        <p:spPr>
          <a:xfrm>
            <a:off x="4977745" y="2844225"/>
            <a:ext cx="223651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/>
              <a:t>論文用</a:t>
            </a:r>
            <a:r>
              <a:rPr kumimoji="1" lang="ja-JP" altLang="en-US" sz="3200"/>
              <a:t>作図</a:t>
            </a:r>
          </a:p>
        </p:txBody>
      </p:sp>
    </p:spTree>
    <p:extLst>
      <p:ext uri="{BB962C8B-B14F-4D97-AF65-F5344CB8AC3E}">
        <p14:creationId xmlns:p14="http://schemas.microsoft.com/office/powerpoint/2010/main" val="61599688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C7D6E2-4807-6D49-E579-50570FE5AF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正方形/長方形 84">
            <a:extLst>
              <a:ext uri="{FF2B5EF4-FFF2-40B4-BE49-F238E27FC236}">
                <a16:creationId xmlns:a16="http://schemas.microsoft.com/office/drawing/2014/main" id="{B78F1D2D-30EC-B2F8-5159-07D876B2E0AD}"/>
              </a:ext>
            </a:extLst>
          </p:cNvPr>
          <p:cNvSpPr/>
          <p:nvPr/>
        </p:nvSpPr>
        <p:spPr>
          <a:xfrm>
            <a:off x="1109876" y="2260218"/>
            <a:ext cx="6618168" cy="3632562"/>
          </a:xfrm>
          <a:prstGeom prst="rect">
            <a:avLst/>
          </a:prstGeom>
          <a:solidFill>
            <a:schemeClr val="accent2">
              <a:alpha val="33458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AB839614-20CC-C866-2B67-588804CBF7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577516"/>
          </a:xfrm>
          <a:solidFill>
            <a:schemeClr val="bg1">
              <a:lumMod val="85000"/>
            </a:schemeClr>
          </a:solidFill>
        </p:spPr>
        <p:txBody>
          <a:bodyPr>
            <a:normAutofit fontScale="90000"/>
          </a:bodyPr>
          <a:lstStyle/>
          <a:p>
            <a:r>
              <a:rPr lang="ja-JP" altLang="en-US" sz="3600"/>
              <a:t>鹿大知識基盤</a:t>
            </a:r>
            <a:r>
              <a:rPr kumimoji="1" lang="ja-JP" altLang="en-US" sz="3600"/>
              <a:t>システム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B442A27C-01CD-E120-DE0D-C0869FC0E90C}"/>
              </a:ext>
            </a:extLst>
          </p:cNvPr>
          <p:cNvSpPr txBox="1"/>
          <p:nvPr/>
        </p:nvSpPr>
        <p:spPr>
          <a:xfrm>
            <a:off x="-1" y="577517"/>
            <a:ext cx="121920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b="1"/>
              <a:t>◾️位置付け</a:t>
            </a:r>
            <a:endParaRPr lang="en-US" altLang="ja-JP" b="1" dirty="0"/>
          </a:p>
          <a:p>
            <a:r>
              <a:rPr lang="ja-JP" altLang="en-US"/>
              <a:t>有体物トラッキングシステム・地域検索システム・</a:t>
            </a:r>
            <a:r>
              <a:rPr lang="en-US" altLang="ja-JP" dirty="0"/>
              <a:t> </a:t>
            </a:r>
            <a:r>
              <a:rPr lang="ja-JP" altLang="en-US"/>
              <a:t>キーワード検索システム等を統合する</a:t>
            </a:r>
            <a:r>
              <a:rPr lang="en-US" altLang="ja-JP" dirty="0"/>
              <a:t>KG</a:t>
            </a:r>
            <a:r>
              <a:rPr lang="ja-JP" altLang="en-US"/>
              <a:t>を構築、統合的な検索インターフェイスからのアクセスを可能とする。</a:t>
            </a:r>
            <a:r>
              <a:rPr lang="en-US" altLang="ja-JP" dirty="0"/>
              <a:t> -&gt; </a:t>
            </a:r>
            <a:r>
              <a:rPr lang="ja-JP" altLang="en-US"/>
              <a:t>階層的データ管理・データガバナンスを進めるための知識基盤</a:t>
            </a:r>
            <a:endParaRPr lang="en-US" altLang="ja-JP" dirty="0"/>
          </a:p>
          <a:p>
            <a:r>
              <a:rPr lang="ja-JP" altLang="en-US" b="1"/>
              <a:t>◾️概要図</a:t>
            </a:r>
            <a:endParaRPr lang="en-US" altLang="ja-JP" b="1" dirty="0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079B8AE2-6631-C4FC-BBB9-8365D81DF416}"/>
              </a:ext>
            </a:extLst>
          </p:cNvPr>
          <p:cNvSpPr/>
          <p:nvPr/>
        </p:nvSpPr>
        <p:spPr>
          <a:xfrm>
            <a:off x="1377222" y="2413245"/>
            <a:ext cx="2772268" cy="3071465"/>
          </a:xfrm>
          <a:prstGeom prst="rect">
            <a:avLst/>
          </a:prstGeom>
          <a:noFill/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E7536555-59D1-C1B8-56E6-E3E1064D696C}"/>
              </a:ext>
            </a:extLst>
          </p:cNvPr>
          <p:cNvSpPr txBox="1"/>
          <p:nvPr/>
        </p:nvSpPr>
        <p:spPr>
          <a:xfrm>
            <a:off x="3294489" y="6014659"/>
            <a:ext cx="380881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1200"/>
              <a:t>リンクポリシー</a:t>
            </a:r>
            <a:r>
              <a:rPr lang="en-US" altLang="ja-JP" sz="1200" dirty="0"/>
              <a:t>: </a:t>
            </a:r>
            <a:r>
              <a:rPr lang="ja-JP" altLang="en-US" sz="1200"/>
              <a:t>データセントリック</a:t>
            </a:r>
            <a:r>
              <a:rPr lang="en-US" altLang="ja-JP" sz="1200" dirty="0"/>
              <a:t> -&gt; </a:t>
            </a:r>
            <a:r>
              <a:rPr lang="ja-JP" altLang="en-US" sz="1200"/>
              <a:t>データソースから見えるものをそのままグラフ関係にする</a:t>
            </a:r>
            <a:endParaRPr kumimoji="1" lang="ja-JP" altLang="en-US" sz="1200"/>
          </a:p>
        </p:txBody>
      </p:sp>
      <p:sp>
        <p:nvSpPr>
          <p:cNvPr id="6" name="円/楕円 5">
            <a:extLst>
              <a:ext uri="{FF2B5EF4-FFF2-40B4-BE49-F238E27FC236}">
                <a16:creationId xmlns:a16="http://schemas.microsoft.com/office/drawing/2014/main" id="{42441179-E636-CFF8-F4BE-34DCF2370B9C}"/>
              </a:ext>
            </a:extLst>
          </p:cNvPr>
          <p:cNvSpPr/>
          <p:nvPr/>
        </p:nvSpPr>
        <p:spPr>
          <a:xfrm>
            <a:off x="3212042" y="4529179"/>
            <a:ext cx="215153" cy="217074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円/楕円 6">
            <a:extLst>
              <a:ext uri="{FF2B5EF4-FFF2-40B4-BE49-F238E27FC236}">
                <a16:creationId xmlns:a16="http://schemas.microsoft.com/office/drawing/2014/main" id="{1CBD8E16-0387-4B75-3776-0A5CB97E156D}"/>
              </a:ext>
            </a:extLst>
          </p:cNvPr>
          <p:cNvSpPr/>
          <p:nvPr/>
        </p:nvSpPr>
        <p:spPr>
          <a:xfrm>
            <a:off x="3212041" y="3061419"/>
            <a:ext cx="215153" cy="217074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C4B979CD-2076-7DE1-AE1B-4CED9222D5C5}"/>
              </a:ext>
            </a:extLst>
          </p:cNvPr>
          <p:cNvSpPr txBox="1"/>
          <p:nvPr/>
        </p:nvSpPr>
        <p:spPr>
          <a:xfrm>
            <a:off x="3111868" y="4746252"/>
            <a:ext cx="415498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900" b="1"/>
              <a:t>論文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EA882359-D4E7-B73F-727D-E79E206BB973}"/>
              </a:ext>
            </a:extLst>
          </p:cNvPr>
          <p:cNvSpPr txBox="1"/>
          <p:nvPr/>
        </p:nvSpPr>
        <p:spPr>
          <a:xfrm>
            <a:off x="3050396" y="3296738"/>
            <a:ext cx="530915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900" b="1"/>
              <a:t>データ</a:t>
            </a:r>
            <a:endParaRPr kumimoji="1" lang="ja-JP" altLang="en-US" sz="900" b="1"/>
          </a:p>
        </p:txBody>
      </p:sp>
      <p:sp>
        <p:nvSpPr>
          <p:cNvPr id="10" name="円/楕円 9">
            <a:extLst>
              <a:ext uri="{FF2B5EF4-FFF2-40B4-BE49-F238E27FC236}">
                <a16:creationId xmlns:a16="http://schemas.microsoft.com/office/drawing/2014/main" id="{01F921C0-6FBD-DC79-59AC-139F85048089}"/>
              </a:ext>
            </a:extLst>
          </p:cNvPr>
          <p:cNvSpPr/>
          <p:nvPr/>
        </p:nvSpPr>
        <p:spPr>
          <a:xfrm>
            <a:off x="1535462" y="5999291"/>
            <a:ext cx="215153" cy="217074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0A0F2C60-8A53-D803-E170-21A3667F966B}"/>
              </a:ext>
            </a:extLst>
          </p:cNvPr>
          <p:cNvSpPr txBox="1"/>
          <p:nvPr/>
        </p:nvSpPr>
        <p:spPr>
          <a:xfrm>
            <a:off x="1695431" y="5975395"/>
            <a:ext cx="7328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1200" dirty="0"/>
              <a:t>: </a:t>
            </a:r>
            <a:r>
              <a:rPr kumimoji="1" lang="ja-JP" altLang="en-US" sz="1200"/>
              <a:t>ノード</a:t>
            </a:r>
          </a:p>
        </p:txBody>
      </p:sp>
      <p:sp>
        <p:nvSpPr>
          <p:cNvPr id="12" name="円/楕円 11">
            <a:extLst>
              <a:ext uri="{FF2B5EF4-FFF2-40B4-BE49-F238E27FC236}">
                <a16:creationId xmlns:a16="http://schemas.microsoft.com/office/drawing/2014/main" id="{5385D5C4-0937-47AF-A548-B2AE41288FF5}"/>
              </a:ext>
            </a:extLst>
          </p:cNvPr>
          <p:cNvSpPr/>
          <p:nvPr/>
        </p:nvSpPr>
        <p:spPr>
          <a:xfrm>
            <a:off x="1687393" y="3476656"/>
            <a:ext cx="215153" cy="217074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08A3C530-73C9-0CFF-FCBF-91A324903FDC}"/>
              </a:ext>
            </a:extLst>
          </p:cNvPr>
          <p:cNvSpPr txBox="1"/>
          <p:nvPr/>
        </p:nvSpPr>
        <p:spPr>
          <a:xfrm>
            <a:off x="1590983" y="3754948"/>
            <a:ext cx="415498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900" b="1"/>
              <a:t>作者</a:t>
            </a:r>
          </a:p>
        </p:txBody>
      </p:sp>
      <p:sp>
        <p:nvSpPr>
          <p:cNvPr id="14" name="円/楕円 13">
            <a:extLst>
              <a:ext uri="{FF2B5EF4-FFF2-40B4-BE49-F238E27FC236}">
                <a16:creationId xmlns:a16="http://schemas.microsoft.com/office/drawing/2014/main" id="{0EA91B7D-4675-1708-072B-0361461A6FDB}"/>
              </a:ext>
            </a:extLst>
          </p:cNvPr>
          <p:cNvSpPr/>
          <p:nvPr/>
        </p:nvSpPr>
        <p:spPr>
          <a:xfrm>
            <a:off x="1692338" y="4237562"/>
            <a:ext cx="215153" cy="217074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B580A364-2E32-2C92-88C7-009944BDABA9}"/>
              </a:ext>
            </a:extLst>
          </p:cNvPr>
          <p:cNvSpPr txBox="1"/>
          <p:nvPr/>
        </p:nvSpPr>
        <p:spPr>
          <a:xfrm>
            <a:off x="1590983" y="4484306"/>
            <a:ext cx="415498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900" b="1"/>
              <a:t>地名</a:t>
            </a:r>
          </a:p>
        </p:txBody>
      </p:sp>
      <p:sp>
        <p:nvSpPr>
          <p:cNvPr id="17" name="円/楕円 16">
            <a:extLst>
              <a:ext uri="{FF2B5EF4-FFF2-40B4-BE49-F238E27FC236}">
                <a16:creationId xmlns:a16="http://schemas.microsoft.com/office/drawing/2014/main" id="{C092E7E0-6D2E-5D6B-7F97-F25E9891BCE0}"/>
              </a:ext>
            </a:extLst>
          </p:cNvPr>
          <p:cNvSpPr/>
          <p:nvPr/>
        </p:nvSpPr>
        <p:spPr>
          <a:xfrm>
            <a:off x="3196673" y="3768706"/>
            <a:ext cx="215153" cy="217074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B6EBF0A6-B130-F40D-6501-5020FCEFECFA}"/>
              </a:ext>
            </a:extLst>
          </p:cNvPr>
          <p:cNvSpPr txBox="1"/>
          <p:nvPr/>
        </p:nvSpPr>
        <p:spPr>
          <a:xfrm>
            <a:off x="3050396" y="4011826"/>
            <a:ext cx="530915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900" b="1"/>
              <a:t>有体物</a:t>
            </a:r>
            <a:endParaRPr kumimoji="1" lang="ja-JP" altLang="en-US" sz="900" b="1"/>
          </a:p>
        </p:txBody>
      </p:sp>
      <p:sp>
        <p:nvSpPr>
          <p:cNvPr id="20" name="正方形/長方形 19">
            <a:extLst>
              <a:ext uri="{FF2B5EF4-FFF2-40B4-BE49-F238E27FC236}">
                <a16:creationId xmlns:a16="http://schemas.microsoft.com/office/drawing/2014/main" id="{1AA2586E-2C5A-B479-F9F5-F1D57ABF09DF}"/>
              </a:ext>
            </a:extLst>
          </p:cNvPr>
          <p:cNvSpPr/>
          <p:nvPr/>
        </p:nvSpPr>
        <p:spPr>
          <a:xfrm>
            <a:off x="1532247" y="6280342"/>
            <a:ext cx="545566" cy="21707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E089F43C-006E-C5CC-509C-7B0A91AF5DA8}"/>
              </a:ext>
            </a:extLst>
          </p:cNvPr>
          <p:cNvSpPr txBox="1"/>
          <p:nvPr/>
        </p:nvSpPr>
        <p:spPr>
          <a:xfrm>
            <a:off x="2036639" y="6256445"/>
            <a:ext cx="79861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1200" dirty="0"/>
              <a:t>: </a:t>
            </a:r>
            <a:r>
              <a:rPr lang="ja-JP" altLang="en-US" sz="1200"/>
              <a:t>外部</a:t>
            </a:r>
            <a:r>
              <a:rPr lang="en-US" altLang="ja-JP" sz="1200" dirty="0"/>
              <a:t>DB</a:t>
            </a:r>
            <a:endParaRPr kumimoji="1" lang="ja-JP" altLang="en-US" sz="1200"/>
          </a:p>
        </p:txBody>
      </p:sp>
      <p:cxnSp>
        <p:nvCxnSpPr>
          <p:cNvPr id="23" name="直線矢印コネクタ 22">
            <a:extLst>
              <a:ext uri="{FF2B5EF4-FFF2-40B4-BE49-F238E27FC236}">
                <a16:creationId xmlns:a16="http://schemas.microsoft.com/office/drawing/2014/main" id="{EF9F79BE-DE4D-8539-5D94-9C545D02DF43}"/>
              </a:ext>
            </a:extLst>
          </p:cNvPr>
          <p:cNvCxnSpPr>
            <a:cxnSpLocks/>
            <a:stCxn id="17" idx="2"/>
            <a:endCxn id="12" idx="6"/>
          </p:cNvCxnSpPr>
          <p:nvPr/>
        </p:nvCxnSpPr>
        <p:spPr>
          <a:xfrm flipH="1" flipV="1">
            <a:off x="1902546" y="3585193"/>
            <a:ext cx="1294127" cy="292050"/>
          </a:xfrm>
          <a:prstGeom prst="straightConnector1">
            <a:avLst/>
          </a:prstGeom>
          <a:ln>
            <a:solidFill>
              <a:schemeClr val="accent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直線矢印コネクタ 24">
            <a:extLst>
              <a:ext uri="{FF2B5EF4-FFF2-40B4-BE49-F238E27FC236}">
                <a16:creationId xmlns:a16="http://schemas.microsoft.com/office/drawing/2014/main" id="{B1C1849E-832A-A5F8-C472-E4224C74E482}"/>
              </a:ext>
            </a:extLst>
          </p:cNvPr>
          <p:cNvCxnSpPr>
            <a:cxnSpLocks/>
            <a:stCxn id="6" idx="2"/>
            <a:endCxn id="12" idx="6"/>
          </p:cNvCxnSpPr>
          <p:nvPr/>
        </p:nvCxnSpPr>
        <p:spPr>
          <a:xfrm flipH="1" flipV="1">
            <a:off x="1902546" y="3585193"/>
            <a:ext cx="1309496" cy="1052523"/>
          </a:xfrm>
          <a:prstGeom prst="straightConnector1">
            <a:avLst/>
          </a:prstGeom>
          <a:ln>
            <a:solidFill>
              <a:schemeClr val="accent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直線矢印コネクタ 27">
            <a:extLst>
              <a:ext uri="{FF2B5EF4-FFF2-40B4-BE49-F238E27FC236}">
                <a16:creationId xmlns:a16="http://schemas.microsoft.com/office/drawing/2014/main" id="{58BFE994-C787-FC72-64D4-42119E9E3B63}"/>
              </a:ext>
            </a:extLst>
          </p:cNvPr>
          <p:cNvCxnSpPr>
            <a:cxnSpLocks/>
            <a:stCxn id="7" idx="2"/>
            <a:endCxn id="12" idx="6"/>
          </p:cNvCxnSpPr>
          <p:nvPr/>
        </p:nvCxnSpPr>
        <p:spPr>
          <a:xfrm flipH="1">
            <a:off x="1902546" y="3169956"/>
            <a:ext cx="1309495" cy="415237"/>
          </a:xfrm>
          <a:prstGeom prst="straightConnector1">
            <a:avLst/>
          </a:prstGeom>
          <a:ln>
            <a:solidFill>
              <a:schemeClr val="accent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直線矢印コネクタ 30">
            <a:extLst>
              <a:ext uri="{FF2B5EF4-FFF2-40B4-BE49-F238E27FC236}">
                <a16:creationId xmlns:a16="http://schemas.microsoft.com/office/drawing/2014/main" id="{11640668-6CB0-E60C-AA83-8C484C4F496F}"/>
              </a:ext>
            </a:extLst>
          </p:cNvPr>
          <p:cNvCxnSpPr>
            <a:cxnSpLocks/>
            <a:stCxn id="6" idx="2"/>
            <a:endCxn id="14" idx="6"/>
          </p:cNvCxnSpPr>
          <p:nvPr/>
        </p:nvCxnSpPr>
        <p:spPr>
          <a:xfrm flipH="1" flipV="1">
            <a:off x="1907491" y="4346099"/>
            <a:ext cx="1304551" cy="291617"/>
          </a:xfrm>
          <a:prstGeom prst="straightConnector1">
            <a:avLst/>
          </a:prstGeom>
          <a:ln>
            <a:solidFill>
              <a:schemeClr val="accent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曲線コネクタ 35">
            <a:extLst>
              <a:ext uri="{FF2B5EF4-FFF2-40B4-BE49-F238E27FC236}">
                <a16:creationId xmlns:a16="http://schemas.microsoft.com/office/drawing/2014/main" id="{9F16094C-90E1-AF55-E4FF-977624DF1C01}"/>
              </a:ext>
            </a:extLst>
          </p:cNvPr>
          <p:cNvCxnSpPr>
            <a:stCxn id="6" idx="6"/>
            <a:endCxn id="17" idx="6"/>
          </p:cNvCxnSpPr>
          <p:nvPr/>
        </p:nvCxnSpPr>
        <p:spPr>
          <a:xfrm flipH="1" flipV="1">
            <a:off x="3411826" y="3877243"/>
            <a:ext cx="15369" cy="760473"/>
          </a:xfrm>
          <a:prstGeom prst="curvedConnector3">
            <a:avLst>
              <a:gd name="adj1" fmla="val -1487410"/>
            </a:avLst>
          </a:prstGeom>
          <a:ln>
            <a:solidFill>
              <a:schemeClr val="accent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曲線コネクタ 37">
            <a:extLst>
              <a:ext uri="{FF2B5EF4-FFF2-40B4-BE49-F238E27FC236}">
                <a16:creationId xmlns:a16="http://schemas.microsoft.com/office/drawing/2014/main" id="{8D01530B-DFC2-D396-E034-84E1FA5389B1}"/>
              </a:ext>
            </a:extLst>
          </p:cNvPr>
          <p:cNvCxnSpPr>
            <a:cxnSpLocks/>
            <a:stCxn id="6" idx="6"/>
            <a:endCxn id="7" idx="6"/>
          </p:cNvCxnSpPr>
          <p:nvPr/>
        </p:nvCxnSpPr>
        <p:spPr>
          <a:xfrm flipH="1" flipV="1">
            <a:off x="3427194" y="3169956"/>
            <a:ext cx="1" cy="1467760"/>
          </a:xfrm>
          <a:prstGeom prst="curvedConnector3">
            <a:avLst>
              <a:gd name="adj1" fmla="val -22860000000"/>
            </a:avLst>
          </a:prstGeom>
          <a:ln>
            <a:solidFill>
              <a:schemeClr val="accent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テキスト ボックス 41">
            <a:extLst>
              <a:ext uri="{FF2B5EF4-FFF2-40B4-BE49-F238E27FC236}">
                <a16:creationId xmlns:a16="http://schemas.microsoft.com/office/drawing/2014/main" id="{A55678A1-CB8D-FC3E-CE23-B8EF5B2B9A24}"/>
              </a:ext>
            </a:extLst>
          </p:cNvPr>
          <p:cNvSpPr txBox="1"/>
          <p:nvPr/>
        </p:nvSpPr>
        <p:spPr>
          <a:xfrm>
            <a:off x="1933641" y="5488761"/>
            <a:ext cx="165942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1400" dirty="0"/>
              <a:t>Knowledge Graph</a:t>
            </a:r>
            <a:endParaRPr kumimoji="1" lang="ja-JP" altLang="en-US" sz="1400"/>
          </a:p>
        </p:txBody>
      </p:sp>
      <p:sp>
        <p:nvSpPr>
          <p:cNvPr id="43" name="正方形/長方形 42">
            <a:extLst>
              <a:ext uri="{FF2B5EF4-FFF2-40B4-BE49-F238E27FC236}">
                <a16:creationId xmlns:a16="http://schemas.microsoft.com/office/drawing/2014/main" id="{7131C00C-1E23-9325-8699-81380F47110C}"/>
              </a:ext>
            </a:extLst>
          </p:cNvPr>
          <p:cNvSpPr/>
          <p:nvPr/>
        </p:nvSpPr>
        <p:spPr>
          <a:xfrm>
            <a:off x="5726590" y="3016948"/>
            <a:ext cx="545566" cy="21707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dist"/>
            <a:endParaRPr kumimoji="1" lang="ja-JP" altLang="en-US"/>
          </a:p>
        </p:txBody>
      </p:sp>
      <p:sp>
        <p:nvSpPr>
          <p:cNvPr id="44" name="正方形/長方形 43">
            <a:extLst>
              <a:ext uri="{FF2B5EF4-FFF2-40B4-BE49-F238E27FC236}">
                <a16:creationId xmlns:a16="http://schemas.microsoft.com/office/drawing/2014/main" id="{73B1BEE5-82B0-72C7-D4A2-DE9606950E6B}"/>
              </a:ext>
            </a:extLst>
          </p:cNvPr>
          <p:cNvSpPr/>
          <p:nvPr/>
        </p:nvSpPr>
        <p:spPr>
          <a:xfrm>
            <a:off x="5726590" y="3583875"/>
            <a:ext cx="545566" cy="21707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dist"/>
            <a:endParaRPr kumimoji="1" lang="ja-JP" altLang="en-US"/>
          </a:p>
        </p:txBody>
      </p:sp>
      <p:sp>
        <p:nvSpPr>
          <p:cNvPr id="45" name="正方形/長方形 44">
            <a:extLst>
              <a:ext uri="{FF2B5EF4-FFF2-40B4-BE49-F238E27FC236}">
                <a16:creationId xmlns:a16="http://schemas.microsoft.com/office/drawing/2014/main" id="{E60D2EFC-2698-F237-11A8-C37F7F7D313D}"/>
              </a:ext>
            </a:extLst>
          </p:cNvPr>
          <p:cNvSpPr/>
          <p:nvPr/>
        </p:nvSpPr>
        <p:spPr>
          <a:xfrm>
            <a:off x="5726590" y="4150802"/>
            <a:ext cx="545566" cy="21707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dist"/>
            <a:endParaRPr kumimoji="1" lang="ja-JP" altLang="en-US"/>
          </a:p>
        </p:txBody>
      </p:sp>
      <p:sp>
        <p:nvSpPr>
          <p:cNvPr id="46" name="正方形/長方形 45">
            <a:extLst>
              <a:ext uri="{FF2B5EF4-FFF2-40B4-BE49-F238E27FC236}">
                <a16:creationId xmlns:a16="http://schemas.microsoft.com/office/drawing/2014/main" id="{4C56B326-4081-DCF5-3CE6-F162D4BCA524}"/>
              </a:ext>
            </a:extLst>
          </p:cNvPr>
          <p:cNvSpPr/>
          <p:nvPr/>
        </p:nvSpPr>
        <p:spPr>
          <a:xfrm>
            <a:off x="5726590" y="4717729"/>
            <a:ext cx="545566" cy="21707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dist"/>
            <a:endParaRPr kumimoji="1" lang="ja-JP" altLang="en-US"/>
          </a:p>
        </p:txBody>
      </p:sp>
      <p:cxnSp>
        <p:nvCxnSpPr>
          <p:cNvPr id="19" name="直線矢印コネクタ 18">
            <a:extLst>
              <a:ext uri="{FF2B5EF4-FFF2-40B4-BE49-F238E27FC236}">
                <a16:creationId xmlns:a16="http://schemas.microsoft.com/office/drawing/2014/main" id="{359AC966-398D-80E2-217E-300D78D60E22}"/>
              </a:ext>
            </a:extLst>
          </p:cNvPr>
          <p:cNvCxnSpPr>
            <a:cxnSpLocks/>
            <a:stCxn id="64" idx="3"/>
            <a:endCxn id="46" idx="1"/>
          </p:cNvCxnSpPr>
          <p:nvPr/>
        </p:nvCxnSpPr>
        <p:spPr>
          <a:xfrm>
            <a:off x="5078358" y="3828900"/>
            <a:ext cx="648232" cy="997366"/>
          </a:xfrm>
          <a:prstGeom prst="straightConnector1">
            <a:avLst/>
          </a:prstGeom>
          <a:ln>
            <a:solidFill>
              <a:schemeClr val="accent1"/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3DFD271F-59AF-98D5-24F2-5F307CF96EF6}"/>
              </a:ext>
            </a:extLst>
          </p:cNvPr>
          <p:cNvSpPr txBox="1"/>
          <p:nvPr/>
        </p:nvSpPr>
        <p:spPr>
          <a:xfrm>
            <a:off x="5688952" y="4909971"/>
            <a:ext cx="606256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900" b="1" dirty="0"/>
              <a:t>GIS-DB</a:t>
            </a:r>
            <a:endParaRPr kumimoji="1" lang="ja-JP" altLang="en-US" sz="900" b="1"/>
          </a:p>
        </p:txBody>
      </p:sp>
      <p:sp>
        <p:nvSpPr>
          <p:cNvPr id="27" name="テキスト ボックス 26">
            <a:extLst>
              <a:ext uri="{FF2B5EF4-FFF2-40B4-BE49-F238E27FC236}">
                <a16:creationId xmlns:a16="http://schemas.microsoft.com/office/drawing/2014/main" id="{4217E681-C42D-DBC9-ADDC-D0F3EE262317}"/>
              </a:ext>
            </a:extLst>
          </p:cNvPr>
          <p:cNvSpPr txBox="1"/>
          <p:nvPr/>
        </p:nvSpPr>
        <p:spPr>
          <a:xfrm>
            <a:off x="5643702" y="3213090"/>
            <a:ext cx="761747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900" b="1"/>
              <a:t>リポジトリ</a:t>
            </a:r>
            <a:endParaRPr kumimoji="1" lang="ja-JP" altLang="en-US" sz="900" b="1"/>
          </a:p>
        </p:txBody>
      </p:sp>
      <p:sp>
        <p:nvSpPr>
          <p:cNvPr id="29" name="テキスト ボックス 28">
            <a:extLst>
              <a:ext uri="{FF2B5EF4-FFF2-40B4-BE49-F238E27FC236}">
                <a16:creationId xmlns:a16="http://schemas.microsoft.com/office/drawing/2014/main" id="{33360AED-3856-B6E5-23EB-D754CCE08C0B}"/>
              </a:ext>
            </a:extLst>
          </p:cNvPr>
          <p:cNvSpPr txBox="1"/>
          <p:nvPr/>
        </p:nvSpPr>
        <p:spPr>
          <a:xfrm>
            <a:off x="5453059" y="2648475"/>
            <a:ext cx="1107996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900" b="1"/>
              <a:t>データリポジトリ</a:t>
            </a:r>
            <a:endParaRPr kumimoji="1" lang="ja-JP" altLang="en-US" sz="900" b="1"/>
          </a:p>
        </p:txBody>
      </p:sp>
      <p:sp>
        <p:nvSpPr>
          <p:cNvPr id="30" name="テキスト ボックス 29">
            <a:extLst>
              <a:ext uri="{FF2B5EF4-FFF2-40B4-BE49-F238E27FC236}">
                <a16:creationId xmlns:a16="http://schemas.microsoft.com/office/drawing/2014/main" id="{FD080A92-98FB-66B4-B8D7-782A9A8D0704}"/>
              </a:ext>
            </a:extLst>
          </p:cNvPr>
          <p:cNvSpPr txBox="1"/>
          <p:nvPr/>
        </p:nvSpPr>
        <p:spPr>
          <a:xfrm>
            <a:off x="5416790" y="3764455"/>
            <a:ext cx="13392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900" b="1"/>
              <a:t>有体物管理</a:t>
            </a:r>
            <a:r>
              <a:rPr kumimoji="1" lang="en-US" altLang="ja-JP" sz="900" b="1" dirty="0"/>
              <a:t>/</a:t>
            </a:r>
            <a:r>
              <a:rPr kumimoji="1" lang="ja-JP" altLang="en-US" sz="900" b="1"/>
              <a:t>トラッキングシステム</a:t>
            </a:r>
          </a:p>
        </p:txBody>
      </p:sp>
      <p:sp>
        <p:nvSpPr>
          <p:cNvPr id="33" name="正方形/長方形 32">
            <a:extLst>
              <a:ext uri="{FF2B5EF4-FFF2-40B4-BE49-F238E27FC236}">
                <a16:creationId xmlns:a16="http://schemas.microsoft.com/office/drawing/2014/main" id="{C8803511-F622-6FBD-2AB1-70B5031AC8E9}"/>
              </a:ext>
            </a:extLst>
          </p:cNvPr>
          <p:cNvSpPr/>
          <p:nvPr/>
        </p:nvSpPr>
        <p:spPr>
          <a:xfrm>
            <a:off x="5734274" y="5284655"/>
            <a:ext cx="545566" cy="21707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dist"/>
            <a:endParaRPr kumimoji="1" lang="ja-JP" altLang="en-US"/>
          </a:p>
        </p:txBody>
      </p:sp>
      <p:sp>
        <p:nvSpPr>
          <p:cNvPr id="34" name="テキスト ボックス 33">
            <a:extLst>
              <a:ext uri="{FF2B5EF4-FFF2-40B4-BE49-F238E27FC236}">
                <a16:creationId xmlns:a16="http://schemas.microsoft.com/office/drawing/2014/main" id="{BBF7F5ED-358E-B25F-2FE2-79F37F39B4AA}"/>
              </a:ext>
            </a:extLst>
          </p:cNvPr>
          <p:cNvSpPr txBox="1"/>
          <p:nvPr/>
        </p:nvSpPr>
        <p:spPr>
          <a:xfrm>
            <a:off x="5635235" y="5487830"/>
            <a:ext cx="761747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900" b="1"/>
              <a:t>キーワード</a:t>
            </a:r>
          </a:p>
        </p:txBody>
      </p:sp>
      <p:cxnSp>
        <p:nvCxnSpPr>
          <p:cNvPr id="35" name="直線矢印コネクタ 34">
            <a:extLst>
              <a:ext uri="{FF2B5EF4-FFF2-40B4-BE49-F238E27FC236}">
                <a16:creationId xmlns:a16="http://schemas.microsoft.com/office/drawing/2014/main" id="{1A819665-D816-2F85-EEAA-7066A9317ED1}"/>
              </a:ext>
            </a:extLst>
          </p:cNvPr>
          <p:cNvCxnSpPr>
            <a:cxnSpLocks/>
            <a:stCxn id="6" idx="5"/>
            <a:endCxn id="33" idx="1"/>
          </p:cNvCxnSpPr>
          <p:nvPr/>
        </p:nvCxnSpPr>
        <p:spPr>
          <a:xfrm>
            <a:off x="3395687" y="4714463"/>
            <a:ext cx="2338587" cy="678729"/>
          </a:xfrm>
          <a:prstGeom prst="straightConnector1">
            <a:avLst/>
          </a:prstGeom>
          <a:ln>
            <a:solidFill>
              <a:schemeClr val="accent1"/>
            </a:solidFill>
            <a:prstDash val="dash"/>
            <a:headEnd type="triangl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直線矢印コネクタ 39">
            <a:extLst>
              <a:ext uri="{FF2B5EF4-FFF2-40B4-BE49-F238E27FC236}">
                <a16:creationId xmlns:a16="http://schemas.microsoft.com/office/drawing/2014/main" id="{4BE8079C-21EF-7927-54E4-F628D60C5415}"/>
              </a:ext>
            </a:extLst>
          </p:cNvPr>
          <p:cNvCxnSpPr>
            <a:cxnSpLocks/>
            <a:stCxn id="64" idx="3"/>
            <a:endCxn id="45" idx="1"/>
          </p:cNvCxnSpPr>
          <p:nvPr/>
        </p:nvCxnSpPr>
        <p:spPr>
          <a:xfrm>
            <a:off x="5078358" y="3828900"/>
            <a:ext cx="648232" cy="430439"/>
          </a:xfrm>
          <a:prstGeom prst="straightConnector1">
            <a:avLst/>
          </a:prstGeom>
          <a:ln>
            <a:solidFill>
              <a:schemeClr val="accent1"/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直線矢印コネクタ 47">
            <a:extLst>
              <a:ext uri="{FF2B5EF4-FFF2-40B4-BE49-F238E27FC236}">
                <a16:creationId xmlns:a16="http://schemas.microsoft.com/office/drawing/2014/main" id="{3C3F799C-E912-4888-58D2-E7CAAD522DDE}"/>
              </a:ext>
            </a:extLst>
          </p:cNvPr>
          <p:cNvCxnSpPr>
            <a:cxnSpLocks/>
            <a:stCxn id="64" idx="3"/>
            <a:endCxn id="44" idx="1"/>
          </p:cNvCxnSpPr>
          <p:nvPr/>
        </p:nvCxnSpPr>
        <p:spPr>
          <a:xfrm flipV="1">
            <a:off x="5078358" y="3692412"/>
            <a:ext cx="648232" cy="136488"/>
          </a:xfrm>
          <a:prstGeom prst="straightConnector1">
            <a:avLst/>
          </a:prstGeom>
          <a:ln>
            <a:solidFill>
              <a:schemeClr val="accent1"/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直線矢印コネクタ 51">
            <a:extLst>
              <a:ext uri="{FF2B5EF4-FFF2-40B4-BE49-F238E27FC236}">
                <a16:creationId xmlns:a16="http://schemas.microsoft.com/office/drawing/2014/main" id="{7467BDAC-C270-5BFE-C1A7-3695DF6D7C8A}"/>
              </a:ext>
            </a:extLst>
          </p:cNvPr>
          <p:cNvCxnSpPr>
            <a:cxnSpLocks/>
            <a:stCxn id="64" idx="3"/>
            <a:endCxn id="43" idx="1"/>
          </p:cNvCxnSpPr>
          <p:nvPr/>
        </p:nvCxnSpPr>
        <p:spPr>
          <a:xfrm flipV="1">
            <a:off x="5078358" y="3125485"/>
            <a:ext cx="648232" cy="703415"/>
          </a:xfrm>
          <a:prstGeom prst="straightConnector1">
            <a:avLst/>
          </a:prstGeom>
          <a:ln>
            <a:solidFill>
              <a:schemeClr val="accent1"/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正方形/長方形 54">
            <a:extLst>
              <a:ext uri="{FF2B5EF4-FFF2-40B4-BE49-F238E27FC236}">
                <a16:creationId xmlns:a16="http://schemas.microsoft.com/office/drawing/2014/main" id="{97535631-7CF6-AEB1-162A-61681E1F6EE1}"/>
              </a:ext>
            </a:extLst>
          </p:cNvPr>
          <p:cNvSpPr/>
          <p:nvPr/>
        </p:nvSpPr>
        <p:spPr>
          <a:xfrm>
            <a:off x="5734274" y="2450021"/>
            <a:ext cx="545566" cy="21707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dist"/>
            <a:endParaRPr kumimoji="1" lang="ja-JP" altLang="en-US"/>
          </a:p>
        </p:txBody>
      </p:sp>
      <p:sp>
        <p:nvSpPr>
          <p:cNvPr id="56" name="テキスト ボックス 55">
            <a:extLst>
              <a:ext uri="{FF2B5EF4-FFF2-40B4-BE49-F238E27FC236}">
                <a16:creationId xmlns:a16="http://schemas.microsoft.com/office/drawing/2014/main" id="{AEB104C3-1341-7D2D-7D44-3823759CBE5A}"/>
              </a:ext>
            </a:extLst>
          </p:cNvPr>
          <p:cNvSpPr txBox="1"/>
          <p:nvPr/>
        </p:nvSpPr>
        <p:spPr>
          <a:xfrm>
            <a:off x="5588294" y="4342473"/>
            <a:ext cx="761747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900" b="1"/>
              <a:t>研究者一覧</a:t>
            </a:r>
          </a:p>
        </p:txBody>
      </p:sp>
      <p:cxnSp>
        <p:nvCxnSpPr>
          <p:cNvPr id="57" name="直線矢印コネクタ 56">
            <a:extLst>
              <a:ext uri="{FF2B5EF4-FFF2-40B4-BE49-F238E27FC236}">
                <a16:creationId xmlns:a16="http://schemas.microsoft.com/office/drawing/2014/main" id="{C71D9B17-CCD8-00A5-E5A8-2B02015C58F9}"/>
              </a:ext>
            </a:extLst>
          </p:cNvPr>
          <p:cNvCxnSpPr>
            <a:cxnSpLocks/>
            <a:stCxn id="64" idx="3"/>
            <a:endCxn id="55" idx="1"/>
          </p:cNvCxnSpPr>
          <p:nvPr/>
        </p:nvCxnSpPr>
        <p:spPr>
          <a:xfrm flipV="1">
            <a:off x="5078358" y="2558558"/>
            <a:ext cx="655916" cy="1270342"/>
          </a:xfrm>
          <a:prstGeom prst="straightConnector1">
            <a:avLst/>
          </a:prstGeom>
          <a:ln>
            <a:solidFill>
              <a:schemeClr val="accent1"/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テキスト ボックス 62">
            <a:extLst>
              <a:ext uri="{FF2B5EF4-FFF2-40B4-BE49-F238E27FC236}">
                <a16:creationId xmlns:a16="http://schemas.microsoft.com/office/drawing/2014/main" id="{FB78A54F-37B8-8BA6-ACD1-7C31DE514269}"/>
              </a:ext>
            </a:extLst>
          </p:cNvPr>
          <p:cNvSpPr txBox="1"/>
          <p:nvPr/>
        </p:nvSpPr>
        <p:spPr>
          <a:xfrm rot="16200000">
            <a:off x="6776359" y="4579839"/>
            <a:ext cx="2265793" cy="338554"/>
          </a:xfrm>
          <a:prstGeom prst="rect">
            <a:avLst/>
          </a:prstGeom>
          <a:noFill/>
          <a:ln w="25400">
            <a:solidFill>
              <a:schemeClr val="accent6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ja-JP" altLang="en-US" sz="1600"/>
              <a:t>検索</a:t>
            </a:r>
            <a:r>
              <a:rPr kumimoji="1" lang="ja-JP" altLang="en-US" sz="1600"/>
              <a:t>インターフェイス</a:t>
            </a:r>
          </a:p>
        </p:txBody>
      </p:sp>
      <p:sp>
        <p:nvSpPr>
          <p:cNvPr id="64" name="正方形/長方形 63">
            <a:extLst>
              <a:ext uri="{FF2B5EF4-FFF2-40B4-BE49-F238E27FC236}">
                <a16:creationId xmlns:a16="http://schemas.microsoft.com/office/drawing/2014/main" id="{F302F04C-236E-66BE-3E2E-EFEA387121D1}"/>
              </a:ext>
            </a:extLst>
          </p:cNvPr>
          <p:cNvSpPr/>
          <p:nvPr/>
        </p:nvSpPr>
        <p:spPr>
          <a:xfrm>
            <a:off x="4532792" y="3720363"/>
            <a:ext cx="545566" cy="21707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5" name="テキスト ボックス 64">
            <a:extLst>
              <a:ext uri="{FF2B5EF4-FFF2-40B4-BE49-F238E27FC236}">
                <a16:creationId xmlns:a16="http://schemas.microsoft.com/office/drawing/2014/main" id="{2B9D2423-1BE8-3DA8-E7EE-2CCCF279F644}"/>
              </a:ext>
            </a:extLst>
          </p:cNvPr>
          <p:cNvSpPr txBox="1"/>
          <p:nvPr/>
        </p:nvSpPr>
        <p:spPr>
          <a:xfrm>
            <a:off x="4319898" y="3945805"/>
            <a:ext cx="100380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900" b="1" dirty="0"/>
              <a:t>ID</a:t>
            </a:r>
            <a:r>
              <a:rPr lang="ja-JP" altLang="en-US" sz="900" b="1"/>
              <a:t>管理システム</a:t>
            </a:r>
            <a:endParaRPr kumimoji="1" lang="ja-JP" altLang="en-US" sz="900" b="1"/>
          </a:p>
        </p:txBody>
      </p:sp>
      <p:cxnSp>
        <p:nvCxnSpPr>
          <p:cNvPr id="66" name="直線矢印コネクタ 65">
            <a:extLst>
              <a:ext uri="{FF2B5EF4-FFF2-40B4-BE49-F238E27FC236}">
                <a16:creationId xmlns:a16="http://schemas.microsoft.com/office/drawing/2014/main" id="{B03C694D-2574-2EA8-69DF-C7E3005223EC}"/>
              </a:ext>
            </a:extLst>
          </p:cNvPr>
          <p:cNvCxnSpPr>
            <a:cxnSpLocks/>
            <a:stCxn id="14" idx="5"/>
            <a:endCxn id="64" idx="1"/>
          </p:cNvCxnSpPr>
          <p:nvPr/>
        </p:nvCxnSpPr>
        <p:spPr>
          <a:xfrm flipV="1">
            <a:off x="1875983" y="3828900"/>
            <a:ext cx="2656809" cy="593946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直線矢印コネクタ 68">
            <a:extLst>
              <a:ext uri="{FF2B5EF4-FFF2-40B4-BE49-F238E27FC236}">
                <a16:creationId xmlns:a16="http://schemas.microsoft.com/office/drawing/2014/main" id="{01CA3A1D-618A-6BFE-6C0F-C90C38D5317D}"/>
              </a:ext>
            </a:extLst>
          </p:cNvPr>
          <p:cNvCxnSpPr>
            <a:cxnSpLocks/>
            <a:stCxn id="6" idx="5"/>
            <a:endCxn id="64" idx="1"/>
          </p:cNvCxnSpPr>
          <p:nvPr/>
        </p:nvCxnSpPr>
        <p:spPr>
          <a:xfrm flipV="1">
            <a:off x="3395687" y="3828900"/>
            <a:ext cx="1137105" cy="885563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直線矢印コネクタ 72">
            <a:extLst>
              <a:ext uri="{FF2B5EF4-FFF2-40B4-BE49-F238E27FC236}">
                <a16:creationId xmlns:a16="http://schemas.microsoft.com/office/drawing/2014/main" id="{AEEB11BD-F225-CACA-8C7B-62E11FDEB51B}"/>
              </a:ext>
            </a:extLst>
          </p:cNvPr>
          <p:cNvCxnSpPr>
            <a:cxnSpLocks/>
            <a:stCxn id="12" idx="5"/>
            <a:endCxn id="64" idx="1"/>
          </p:cNvCxnSpPr>
          <p:nvPr/>
        </p:nvCxnSpPr>
        <p:spPr>
          <a:xfrm>
            <a:off x="1871038" y="3661940"/>
            <a:ext cx="2661754" cy="166960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直線矢印コネクタ 75">
            <a:extLst>
              <a:ext uri="{FF2B5EF4-FFF2-40B4-BE49-F238E27FC236}">
                <a16:creationId xmlns:a16="http://schemas.microsoft.com/office/drawing/2014/main" id="{C4DFAAA0-F838-4C41-066F-EB6581B477F6}"/>
              </a:ext>
            </a:extLst>
          </p:cNvPr>
          <p:cNvCxnSpPr>
            <a:cxnSpLocks/>
            <a:stCxn id="17" idx="5"/>
            <a:endCxn id="64" idx="1"/>
          </p:cNvCxnSpPr>
          <p:nvPr/>
        </p:nvCxnSpPr>
        <p:spPr>
          <a:xfrm flipV="1">
            <a:off x="3380318" y="3828900"/>
            <a:ext cx="1152474" cy="125090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直線矢印コネクタ 78">
            <a:extLst>
              <a:ext uri="{FF2B5EF4-FFF2-40B4-BE49-F238E27FC236}">
                <a16:creationId xmlns:a16="http://schemas.microsoft.com/office/drawing/2014/main" id="{78632DAF-4247-0EA2-AA6E-B1C5A728B6F8}"/>
              </a:ext>
            </a:extLst>
          </p:cNvPr>
          <p:cNvCxnSpPr>
            <a:cxnSpLocks/>
            <a:stCxn id="7" idx="5"/>
            <a:endCxn id="64" idx="1"/>
          </p:cNvCxnSpPr>
          <p:nvPr/>
        </p:nvCxnSpPr>
        <p:spPr>
          <a:xfrm>
            <a:off x="3395686" y="3246703"/>
            <a:ext cx="1137106" cy="582197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テキスト ボックス 83">
            <a:extLst>
              <a:ext uri="{FF2B5EF4-FFF2-40B4-BE49-F238E27FC236}">
                <a16:creationId xmlns:a16="http://schemas.microsoft.com/office/drawing/2014/main" id="{16ED227D-24EE-CCF0-C74C-53483151655B}"/>
              </a:ext>
            </a:extLst>
          </p:cNvPr>
          <p:cNvSpPr txBox="1"/>
          <p:nvPr/>
        </p:nvSpPr>
        <p:spPr>
          <a:xfrm rot="16200000">
            <a:off x="5976560" y="3710439"/>
            <a:ext cx="223651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ja-JP" altLang="en-US" sz="1600"/>
              <a:t>コントロールプレーン</a:t>
            </a:r>
            <a:endParaRPr kumimoji="1" lang="en-US" altLang="ja-JP" sz="1600" dirty="0"/>
          </a:p>
          <a:p>
            <a:pPr algn="ctr"/>
            <a:r>
              <a:rPr lang="en-US" altLang="ja-JP" sz="1600" dirty="0" err="1"/>
              <a:t>IaC</a:t>
            </a:r>
            <a:endParaRPr kumimoji="1" lang="ja-JP" altLang="en-US" sz="1600"/>
          </a:p>
        </p:txBody>
      </p:sp>
      <p:sp>
        <p:nvSpPr>
          <p:cNvPr id="86" name="テキスト ボックス 85">
            <a:extLst>
              <a:ext uri="{FF2B5EF4-FFF2-40B4-BE49-F238E27FC236}">
                <a16:creationId xmlns:a16="http://schemas.microsoft.com/office/drawing/2014/main" id="{0EFCE3F2-7F9C-FAEA-E994-572E6AF8897C}"/>
              </a:ext>
            </a:extLst>
          </p:cNvPr>
          <p:cNvSpPr txBox="1"/>
          <p:nvPr/>
        </p:nvSpPr>
        <p:spPr>
          <a:xfrm>
            <a:off x="8341337" y="5227229"/>
            <a:ext cx="90281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1400"/>
              <a:t>ユーザー</a:t>
            </a:r>
            <a:endParaRPr kumimoji="1" lang="ja-JP" altLang="en-US" sz="1400"/>
          </a:p>
        </p:txBody>
      </p:sp>
      <p:cxnSp>
        <p:nvCxnSpPr>
          <p:cNvPr id="22" name="直線矢印コネクタ 21">
            <a:extLst>
              <a:ext uri="{FF2B5EF4-FFF2-40B4-BE49-F238E27FC236}">
                <a16:creationId xmlns:a16="http://schemas.microsoft.com/office/drawing/2014/main" id="{17556F70-1125-DC53-29F1-8610016855D5}"/>
              </a:ext>
            </a:extLst>
          </p:cNvPr>
          <p:cNvCxnSpPr>
            <a:cxnSpLocks/>
          </p:cNvCxnSpPr>
          <p:nvPr/>
        </p:nvCxnSpPr>
        <p:spPr>
          <a:xfrm>
            <a:off x="4156222" y="2540135"/>
            <a:ext cx="4141757" cy="0"/>
          </a:xfrm>
          <a:prstGeom prst="straightConnector1">
            <a:avLst/>
          </a:prstGeom>
          <a:ln>
            <a:solidFill>
              <a:schemeClr val="accent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D8419CD0-FF30-A0D7-D356-F82A514B5065}"/>
              </a:ext>
            </a:extLst>
          </p:cNvPr>
          <p:cNvSpPr txBox="1"/>
          <p:nvPr/>
        </p:nvSpPr>
        <p:spPr>
          <a:xfrm>
            <a:off x="8297979" y="2361659"/>
            <a:ext cx="221661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200" dirty="0" err="1"/>
              <a:t>KGdump</a:t>
            </a:r>
            <a:r>
              <a:rPr kumimoji="1" lang="ja-JP" altLang="en-US" sz="1200" dirty="0" err="1"/>
              <a:t>：</a:t>
            </a:r>
            <a:endParaRPr lang="en-US" altLang="ja-JP" sz="1200" dirty="0"/>
          </a:p>
          <a:p>
            <a:r>
              <a:rPr lang="ja-JP" altLang="en-US" sz="1200"/>
              <a:t>ローカル</a:t>
            </a:r>
            <a:r>
              <a:rPr lang="en-US" altLang="ja-JP" sz="1200" dirty="0"/>
              <a:t>KG</a:t>
            </a:r>
            <a:r>
              <a:rPr lang="ja-JP" altLang="en-US" sz="1200" dirty="0"/>
              <a:t>の</a:t>
            </a:r>
            <a:r>
              <a:rPr lang="en-US" altLang="ja-JP" sz="1200" dirty="0"/>
              <a:t>join/</a:t>
            </a:r>
            <a:r>
              <a:rPr lang="ja-JP" altLang="en-US" sz="1200" dirty="0"/>
              <a:t>共通システムコード</a:t>
            </a:r>
            <a:r>
              <a:rPr lang="ja-JP" altLang="en-US" sz="1200"/>
              <a:t>により組織を越えたグローバル</a:t>
            </a:r>
            <a:r>
              <a:rPr lang="en-US" altLang="ja-JP" sz="1200" dirty="0"/>
              <a:t>KG</a:t>
            </a:r>
            <a:r>
              <a:rPr lang="ja-JP" altLang="en-US" sz="1200"/>
              <a:t>を構築可能</a:t>
            </a:r>
            <a:endParaRPr kumimoji="1" lang="ja-JP" altLang="en-US" sz="1200"/>
          </a:p>
        </p:txBody>
      </p:sp>
      <p:sp>
        <p:nvSpPr>
          <p:cNvPr id="32" name="テキスト ボックス 31">
            <a:extLst>
              <a:ext uri="{FF2B5EF4-FFF2-40B4-BE49-F238E27FC236}">
                <a16:creationId xmlns:a16="http://schemas.microsoft.com/office/drawing/2014/main" id="{BE5AD159-A505-5538-41D9-AC158384A7A6}"/>
              </a:ext>
            </a:extLst>
          </p:cNvPr>
          <p:cNvSpPr txBox="1"/>
          <p:nvPr/>
        </p:nvSpPr>
        <p:spPr>
          <a:xfrm rot="16200000">
            <a:off x="7224823" y="2763557"/>
            <a:ext cx="1366767" cy="338554"/>
          </a:xfrm>
          <a:prstGeom prst="rect">
            <a:avLst/>
          </a:prstGeom>
          <a:noFill/>
          <a:ln w="25400">
            <a:solidFill>
              <a:schemeClr val="accent6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1600"/>
              <a:t>データ公開</a:t>
            </a:r>
          </a:p>
        </p:txBody>
      </p:sp>
      <p:cxnSp>
        <p:nvCxnSpPr>
          <p:cNvPr id="37" name="直線矢印コネクタ 36">
            <a:extLst>
              <a:ext uri="{FF2B5EF4-FFF2-40B4-BE49-F238E27FC236}">
                <a16:creationId xmlns:a16="http://schemas.microsoft.com/office/drawing/2014/main" id="{4127431C-FB27-B875-93E7-4C0F0597ACE0}"/>
              </a:ext>
            </a:extLst>
          </p:cNvPr>
          <p:cNvCxnSpPr>
            <a:cxnSpLocks/>
            <a:stCxn id="17" idx="5"/>
            <a:endCxn id="33" idx="1"/>
          </p:cNvCxnSpPr>
          <p:nvPr/>
        </p:nvCxnSpPr>
        <p:spPr>
          <a:xfrm>
            <a:off x="3380318" y="3953990"/>
            <a:ext cx="2353956" cy="1439202"/>
          </a:xfrm>
          <a:prstGeom prst="straightConnector1">
            <a:avLst/>
          </a:prstGeom>
          <a:ln>
            <a:solidFill>
              <a:schemeClr val="accent1"/>
            </a:solidFill>
            <a:prstDash val="dash"/>
            <a:headEnd type="triangl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直線矢印コネクタ 46">
            <a:extLst>
              <a:ext uri="{FF2B5EF4-FFF2-40B4-BE49-F238E27FC236}">
                <a16:creationId xmlns:a16="http://schemas.microsoft.com/office/drawing/2014/main" id="{93E1B398-5067-D0AD-FBEA-8E9A032F9E68}"/>
              </a:ext>
            </a:extLst>
          </p:cNvPr>
          <p:cNvCxnSpPr>
            <a:cxnSpLocks/>
            <a:stCxn id="7" idx="5"/>
            <a:endCxn id="33" idx="1"/>
          </p:cNvCxnSpPr>
          <p:nvPr/>
        </p:nvCxnSpPr>
        <p:spPr>
          <a:xfrm>
            <a:off x="3395686" y="3246703"/>
            <a:ext cx="2338588" cy="2146489"/>
          </a:xfrm>
          <a:prstGeom prst="straightConnector1">
            <a:avLst/>
          </a:prstGeom>
          <a:ln>
            <a:solidFill>
              <a:schemeClr val="accent1"/>
            </a:solidFill>
            <a:prstDash val="dash"/>
            <a:headEnd type="triangl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直線矢印コネクタ 50">
            <a:extLst>
              <a:ext uri="{FF2B5EF4-FFF2-40B4-BE49-F238E27FC236}">
                <a16:creationId xmlns:a16="http://schemas.microsoft.com/office/drawing/2014/main" id="{E11FA74B-1D56-9B4B-89DC-A35B31A90134}"/>
              </a:ext>
            </a:extLst>
          </p:cNvPr>
          <p:cNvCxnSpPr>
            <a:cxnSpLocks/>
            <a:stCxn id="14" idx="5"/>
            <a:endCxn id="33" idx="1"/>
          </p:cNvCxnSpPr>
          <p:nvPr/>
        </p:nvCxnSpPr>
        <p:spPr>
          <a:xfrm>
            <a:off x="1875983" y="4422846"/>
            <a:ext cx="3858291" cy="970346"/>
          </a:xfrm>
          <a:prstGeom prst="straightConnector1">
            <a:avLst/>
          </a:prstGeom>
          <a:ln>
            <a:solidFill>
              <a:schemeClr val="accent1"/>
            </a:solidFill>
            <a:prstDash val="dash"/>
            <a:headEnd type="triangl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直線矢印コネクタ 38">
            <a:extLst>
              <a:ext uri="{FF2B5EF4-FFF2-40B4-BE49-F238E27FC236}">
                <a16:creationId xmlns:a16="http://schemas.microsoft.com/office/drawing/2014/main" id="{D88DB10F-8AF1-610D-94A4-17B46889A200}"/>
              </a:ext>
            </a:extLst>
          </p:cNvPr>
          <p:cNvCxnSpPr>
            <a:cxnSpLocks/>
            <a:stCxn id="12" idx="5"/>
            <a:endCxn id="33" idx="1"/>
          </p:cNvCxnSpPr>
          <p:nvPr/>
        </p:nvCxnSpPr>
        <p:spPr>
          <a:xfrm>
            <a:off x="1871038" y="3661940"/>
            <a:ext cx="3863236" cy="1731252"/>
          </a:xfrm>
          <a:prstGeom prst="straightConnector1">
            <a:avLst/>
          </a:prstGeom>
          <a:ln>
            <a:solidFill>
              <a:schemeClr val="accent1"/>
            </a:solidFill>
            <a:prstDash val="dash"/>
            <a:headEnd type="triangl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直線矢印コネクタ 53">
            <a:extLst>
              <a:ext uri="{FF2B5EF4-FFF2-40B4-BE49-F238E27FC236}">
                <a16:creationId xmlns:a16="http://schemas.microsoft.com/office/drawing/2014/main" id="{0BE19954-C883-8712-7AFF-8308C374083A}"/>
              </a:ext>
            </a:extLst>
          </p:cNvPr>
          <p:cNvCxnSpPr>
            <a:cxnSpLocks/>
            <a:endCxn id="86" idx="1"/>
          </p:cNvCxnSpPr>
          <p:nvPr/>
        </p:nvCxnSpPr>
        <p:spPr>
          <a:xfrm>
            <a:off x="4156222" y="5380443"/>
            <a:ext cx="4185115" cy="675"/>
          </a:xfrm>
          <a:prstGeom prst="straightConnector1">
            <a:avLst/>
          </a:prstGeom>
          <a:ln>
            <a:solidFill>
              <a:schemeClr val="accent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カギ線コネクタ 76">
            <a:extLst>
              <a:ext uri="{FF2B5EF4-FFF2-40B4-BE49-F238E27FC236}">
                <a16:creationId xmlns:a16="http://schemas.microsoft.com/office/drawing/2014/main" id="{26A08931-C4D6-6626-FF7C-FB366B4BC8B4}"/>
              </a:ext>
            </a:extLst>
          </p:cNvPr>
          <p:cNvCxnSpPr>
            <a:stCxn id="84" idx="2"/>
            <a:endCxn id="24" idx="1"/>
          </p:cNvCxnSpPr>
          <p:nvPr/>
        </p:nvCxnSpPr>
        <p:spPr>
          <a:xfrm flipV="1">
            <a:off x="7387203" y="2777158"/>
            <a:ext cx="910776" cy="1225669"/>
          </a:xfrm>
          <a:prstGeom prst="bentConnector3">
            <a:avLst>
              <a:gd name="adj1" fmla="val 18393"/>
            </a:avLst>
          </a:prstGeom>
          <a:ln>
            <a:solidFill>
              <a:schemeClr val="accent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2310736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85</TotalTime>
  <Words>118</Words>
  <Application>Microsoft Macintosh PowerPoint</Application>
  <PresentationFormat>ワイド画面</PresentationFormat>
  <Paragraphs>28</Paragraphs>
  <Slides>2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2</vt:i4>
      </vt:variant>
    </vt:vector>
  </HeadingPairs>
  <TitlesOfParts>
    <vt:vector size="6" baseType="lpstr">
      <vt:lpstr>游ゴシック</vt:lpstr>
      <vt:lpstr>游ゴシック Light</vt:lpstr>
      <vt:lpstr>Arial</vt:lpstr>
      <vt:lpstr>Office テーマ</vt:lpstr>
      <vt:lpstr>PowerPoint プレゼンテーション</vt:lpstr>
      <vt:lpstr>鹿大知識基盤システム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天野　晃</dc:creator>
  <cp:lastModifiedBy>天野　晃</cp:lastModifiedBy>
  <cp:revision>4</cp:revision>
  <dcterms:created xsi:type="dcterms:W3CDTF">2026-03-04T23:37:53Z</dcterms:created>
  <dcterms:modified xsi:type="dcterms:W3CDTF">2026-03-05T01:04:00Z</dcterms:modified>
</cp:coreProperties>
</file>