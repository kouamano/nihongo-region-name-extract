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96" r:id="rId3"/>
    <p:sldId id="303" r:id="rId4"/>
    <p:sldId id="304" r:id="rId5"/>
    <p:sldId id="306" r:id="rId6"/>
    <p:sldId id="313" r:id="rId7"/>
    <p:sldId id="305" r:id="rId8"/>
    <p:sldId id="307" r:id="rId9"/>
    <p:sldId id="309" r:id="rId10"/>
    <p:sldId id="310" r:id="rId11"/>
    <p:sldId id="308" r:id="rId12"/>
    <p:sldId id="312" r:id="rId13"/>
    <p:sldId id="317" r:id="rId14"/>
    <p:sldId id="314" r:id="rId15"/>
    <p:sldId id="315" r:id="rId16"/>
    <p:sldId id="316"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655"/>
    <p:restoredTop sz="94658"/>
  </p:normalViewPr>
  <p:slideViewPr>
    <p:cSldViewPr snapToGrid="0">
      <p:cViewPr varScale="1">
        <p:scale>
          <a:sx n="120" d="100"/>
          <a:sy n="120" d="100"/>
        </p:scale>
        <p:origin x="808"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2026/4/28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13</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2292989" y="3842010"/>
            <a:ext cx="7606021"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830997"/>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801314"/>
          </a:xfrm>
          <a:prstGeom prst="rect">
            <a:avLst/>
          </a:prstGeom>
          <a:noFill/>
        </p:spPr>
        <p:txBody>
          <a:bodyPr wrap="square" rtlCol="0">
            <a:spAutoFit/>
          </a:bodyPr>
          <a:lstStyle/>
          <a:p>
            <a:r>
              <a:rPr lang="ja-JP" altLang="en-US"/>
              <a:t>文書（特に日本語）からの固有表現の抽出・判定に関して、</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「地名」、「人名」、「固有現象名」等にかかる記述の特定（形態素の特徴量が十分か・正しいか）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人名を地名と特定する可能性が残る</a:t>
            </a:r>
            <a:endParaRPr lang="en-US" altLang="ja-JP" dirty="0"/>
          </a:p>
          <a:p>
            <a:pPr marL="285750" indent="-285750">
              <a:buFont typeface="Arial" panose="020B0604020202020204" pitchFamily="34" charset="0"/>
              <a:buChar char="•"/>
            </a:pPr>
            <a:r>
              <a:rPr lang="ja-JP" altLang="en-US"/>
              <a:t>特定する記述のレベル（複合語等）</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◾️特に地名にかかる課題として</a:t>
            </a:r>
            <a:endParaRPr lang="en-US" altLang="ja-JP" b="1" dirty="0"/>
          </a:p>
          <a:p>
            <a:r>
              <a:rPr lang="ja-JP" altLang="en-US" b="1"/>
              <a:t>▪️名称そのもの</a:t>
            </a:r>
            <a:endParaRPr lang="en-US" altLang="ja-JP" b="1"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endParaRPr lang="en-US" altLang="ja-JP" dirty="0"/>
          </a:p>
          <a:p>
            <a:r>
              <a:rPr lang="ja-JP" altLang="en-US" b="1"/>
              <a:t>▪️名称の関係性</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2308324"/>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0" y="3644206"/>
            <a:ext cx="12192000" cy="1754326"/>
          </a:xfrm>
          <a:prstGeom prst="rect">
            <a:avLst/>
          </a:prstGeom>
          <a:noFill/>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曖昧性解決においても地理情報と結びつけて行うものがほとんど</a:t>
            </a:r>
            <a:endParaRPr kumimoji="1" lang="en-US" altLang="ja-JP" dirty="0"/>
          </a:p>
          <a:p>
            <a:pPr marL="285750" indent="-285750">
              <a:buFont typeface="Wingdings" pitchFamily="2" charset="2"/>
              <a:buChar char="Ø"/>
            </a:pPr>
            <a:r>
              <a:rPr lang="ja-JP" altLang="en-US"/>
              <a:t>地理情報を利用しない曖昧性解決においては、近年には独自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日本語における事例はほぼ見られないが、古くは辞書ベース・ルールベース</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031325"/>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研究課題名・本文および地名抽出結果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212465" cy="369332"/>
          </a:xfrm>
          <a:prstGeom prst="rect">
            <a:avLst/>
          </a:prstGeom>
          <a:noFill/>
        </p:spPr>
        <p:txBody>
          <a:bodyPr wrap="none" rtlCol="0">
            <a:spAutoFit/>
          </a:bodyPr>
          <a:lstStyle/>
          <a:p>
            <a:r>
              <a:rPr kumimoji="1" lang="en-US" altLang="ja-JP" dirty="0"/>
              <a:t>n=1200 -&gt;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86614"/>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74382"/>
            <a:ext cx="1082348" cy="307777"/>
          </a:xfrm>
          <a:prstGeom prst="rect">
            <a:avLst/>
          </a:prstGeom>
          <a:noFill/>
        </p:spPr>
        <p:txBody>
          <a:bodyPr wrap="none" rtlCol="0">
            <a:spAutoFit/>
          </a:bodyPr>
          <a:lstStyle/>
          <a:p>
            <a:r>
              <a:rPr lang="ja-JP" altLang="en-US" sz="1400" b="1"/>
              <a:t>プロンプト</a:t>
            </a:r>
            <a:endParaRPr kumimoji="1" lang="ja-JP" altLang="en-US" sz="1400" b="1"/>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マテリアル・方法（使用した</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2559301"/>
            <a:ext cx="832279" cy="646331"/>
          </a:xfrm>
          <a:prstGeom prst="rect">
            <a:avLst/>
          </a:prstGeom>
          <a:noFill/>
        </p:spPr>
        <p:txBody>
          <a:bodyPr wrap="none" rtlCol="0">
            <a:spAutoFit/>
          </a:bodyPr>
          <a:lstStyle/>
          <a:p>
            <a:r>
              <a:rPr kumimoji="1" lang="ja-JP" altLang="en-US"/>
              <a:t>人</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646331"/>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a:t>Ollama</a:t>
            </a:r>
            <a:r>
              <a:rPr kumimoji="1" lang="ja-JP" altLang="en-US"/>
              <a:t>）による</a:t>
            </a:r>
            <a:r>
              <a:rPr kumimoji="1" lang="en-US" altLang="ja-JP"/>
              <a:t>1</a:t>
            </a:r>
            <a:r>
              <a:rPr kumimoji="1" lang="ja-JP" altLang="en-US"/>
              <a:t>ドキュメント</a:t>
            </a:r>
            <a:r>
              <a:rPr kumimoji="1" lang="en-US" altLang="ja-JP"/>
              <a:t>/1</a:t>
            </a:r>
            <a:r>
              <a:rPr kumimoji="1" lang="ja-JP" altLang="en-US"/>
              <a:t>クエリー</a:t>
            </a:r>
            <a:r>
              <a:rPr kumimoji="1" lang="en-US" altLang="ja-JP"/>
              <a:t>/1</a:t>
            </a:r>
            <a:r>
              <a:rPr kumimoji="1" lang="ja-JP" altLang="en-US"/>
              <a:t>回のみ</a:t>
            </a:r>
            <a:endParaRPr kumimoji="1" lang="en-US" altLang="ja-JP"/>
          </a:p>
          <a:p>
            <a:pPr marL="285750" indent="-285750">
              <a:buFont typeface="Arial" panose="020B0604020202020204" pitchFamily="34" charset="0"/>
              <a:buChar char="•"/>
            </a:pPr>
            <a:r>
              <a:rPr lang="ja-JP" altLang="en-US"/>
              <a:t>総計</a:t>
            </a:r>
            <a:r>
              <a:rPr lang="en-US" altLang="ja-JP"/>
              <a:t>600</a:t>
            </a:r>
            <a:r>
              <a:rPr lang="ja-JP" altLang="en-US"/>
              <a:t>クエリー</a:t>
            </a:r>
            <a:endParaRPr kumimoji="1" lang="ja-JP" altLang="en-US"/>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2743967"/>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a:p>
          <a:p>
            <a:pPr marL="285750" indent="-285750">
              <a:buFont typeface="Arial" panose="020B0604020202020204" pitchFamily="34" charset="0"/>
              <a:buChar char="•"/>
            </a:pPr>
            <a:r>
              <a:rPr lang="ja-JP" altLang="en-US"/>
              <a:t>再提出化</a:t>
            </a:r>
            <a:endParaRPr lang="en-US" altLang="ja-JP"/>
          </a:p>
          <a:p>
            <a:pPr marL="285750" indent="-285750">
              <a:buFont typeface="Arial" panose="020B0604020202020204" pitchFamily="34" charset="0"/>
              <a:buChar char="•"/>
            </a:pPr>
            <a:r>
              <a:rPr kumimoji="1" lang="ja-JP" altLang="en-US"/>
              <a:t>合議を妨げない（質問にも答える）</a:t>
            </a:r>
          </a:p>
        </p:txBody>
      </p:sp>
    </p:spTree>
    <p:extLst>
      <p:ext uri="{BB962C8B-B14F-4D97-AF65-F5344CB8AC3E}">
        <p14:creationId xmlns:p14="http://schemas.microsoft.com/office/powerpoint/2010/main" val="3135446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43501" cy="369332"/>
          </a:xfrm>
          <a:prstGeom prst="rect">
            <a:avLst/>
          </a:prstGeom>
          <a:noFill/>
        </p:spPr>
        <p:txBody>
          <a:bodyPr wrap="none" rtlCol="0">
            <a:spAutoFit/>
          </a:bodyPr>
          <a:lstStyle/>
          <a:p>
            <a:r>
              <a:rPr kumimoji="1" lang="en-US" altLang="ja-JP" b="1"/>
              <a:t>Input:</a:t>
            </a:r>
            <a:endParaRPr kumimoji="1" lang="ja-JP" altLang="en-US" b="1"/>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b="1"/>
              <a:t>Out</a:t>
            </a:r>
            <a:r>
              <a:rPr kumimoji="1" lang="en-US" altLang="ja-JP" b="1"/>
              <a:t>put</a:t>
            </a:r>
            <a:r>
              <a:rPr kumimoji="1" lang="ja-JP" altLang="en-US" b="1"/>
              <a:t>（想定する形式）</a:t>
            </a:r>
            <a:r>
              <a:rPr kumimoji="1" lang="en-US" altLang="ja-JP" b="1"/>
              <a:t>:</a:t>
            </a:r>
            <a:endParaRPr kumimoji="1" lang="ja-JP" altLang="en-US" b="1"/>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894164B1-D474-E3FC-7257-909A1AB306A4}"/>
              </a:ext>
            </a:extLst>
          </p:cNvPr>
          <p:cNvSpPr txBox="1"/>
          <p:nvPr/>
        </p:nvSpPr>
        <p:spPr>
          <a:xfrm>
            <a:off x="0" y="659218"/>
            <a:ext cx="415498" cy="369332"/>
          </a:xfrm>
          <a:prstGeom prst="rect">
            <a:avLst/>
          </a:prstGeom>
          <a:noFill/>
        </p:spPr>
        <p:txBody>
          <a:bodyPr wrap="none" rtlCol="0">
            <a:spAutoFit/>
          </a:bodyPr>
          <a:lstStyle/>
          <a:p>
            <a:r>
              <a:rPr kumimoji="1" lang="ja-JP" altLang="en-US"/>
              <a:t>例</a:t>
            </a:r>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723823" cy="369332"/>
          </a:xfrm>
          <a:prstGeom prst="rect">
            <a:avLst/>
          </a:prstGeom>
          <a:noFill/>
        </p:spPr>
        <p:txBody>
          <a:bodyPr wrap="none" rtlCol="0">
            <a:spAutoFit/>
          </a:bodyPr>
          <a:lstStyle/>
          <a:p>
            <a:r>
              <a:rPr kumimoji="1" lang="ja-JP" altLang="en-US"/>
              <a:t>正しい出力形式とした例</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328703" cy="369332"/>
          </a:xfrm>
          <a:prstGeom prst="rect">
            <a:avLst/>
          </a:prstGeom>
          <a:noFill/>
        </p:spPr>
        <p:txBody>
          <a:bodyPr wrap="none" rtlCol="0">
            <a:spAutoFit/>
          </a:bodyPr>
          <a:lstStyle/>
          <a:p>
            <a:r>
              <a:rPr lang="en-US" altLang="ja-JP" dirty="0"/>
              <a:t>2</a:t>
            </a:r>
            <a:r>
              <a:rPr kumimoji="1" lang="en-US" altLang="ja-JP" dirty="0"/>
              <a:t> AI</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2090854"/>
            <a:ext cx="8710332"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202019" y="108517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202019" y="158900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296124" y="1304815"/>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9000450" y="2814129"/>
            <a:ext cx="2621230"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25208" y="1573615"/>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78000" y="1085173"/>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307805" y="1742892"/>
            <a:ext cx="6917403" cy="0"/>
          </a:xfrm>
          <a:prstGeom prst="straightConnector1">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1107996" cy="369332"/>
          </a:xfrm>
          <a:prstGeom prst="rect">
            <a:avLst/>
          </a:prstGeom>
          <a:noFill/>
        </p:spPr>
        <p:txBody>
          <a:bodyPr wrap="none" rtlCol="0">
            <a:spAutoFit/>
          </a:bodyPr>
          <a:lstStyle/>
          <a:p>
            <a:r>
              <a:rPr kumimoji="1" lang="ja-JP" altLang="en-US"/>
              <a:t>距離行列</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出現した地名</a:t>
            </a:r>
            <a:r>
              <a:rPr lang="en-US" altLang="ja-JP" sz="3600" dirty="0">
                <a:sym typeface="Wingdings" pitchFamily="2" charset="2"/>
              </a:rPr>
              <a:t>)</a:t>
            </a:r>
            <a:endParaRPr kumimoji="1" lang="ja-JP" altLang="en-US" sz="3600"/>
          </a:p>
        </p:txBody>
      </p:sp>
    </p:spTree>
    <p:extLst>
      <p:ext uri="{BB962C8B-B14F-4D97-AF65-F5344CB8AC3E}">
        <p14:creationId xmlns:p14="http://schemas.microsoft.com/office/powerpoint/2010/main" val="208233296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834</TotalTime>
  <Words>2641</Words>
  <Application>Microsoft Macintosh PowerPoint</Application>
  <PresentationFormat>ワイド画面</PresentationFormat>
  <Paragraphs>269</Paragraphs>
  <Slides>16</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マテリアル・方法（プロンプト）</vt:lpstr>
      <vt:lpstr>マテリアル・方法（使用したAI・人への依頼条件等）</vt:lpstr>
      <vt:lpstr>マテリアル・方法（JSON形式の例）</vt:lpstr>
      <vt:lpstr>結果(出力の例)</vt:lpstr>
      <vt:lpstr>結果(正しい出力形式)</vt:lpstr>
      <vt:lpstr>結果(NERに対する判定の差異)</vt:lpstr>
      <vt:lpstr>結果(修正の程度)</vt:lpstr>
      <vt:lpstr>結果(出現した地名)</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134</cp:revision>
  <dcterms:created xsi:type="dcterms:W3CDTF">2026-03-04T23:37:53Z</dcterms:created>
  <dcterms:modified xsi:type="dcterms:W3CDTF">2026-04-28T02:01:20Z</dcterms:modified>
</cp:coreProperties>
</file>