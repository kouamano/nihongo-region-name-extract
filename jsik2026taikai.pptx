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96" r:id="rId3"/>
    <p:sldId id="303" r:id="rId4"/>
    <p:sldId id="304" r:id="rId5"/>
    <p:sldId id="306" r:id="rId6"/>
    <p:sldId id="305" r:id="rId7"/>
    <p:sldId id="307" r:id="rId8"/>
    <p:sldId id="308" r:id="rId9"/>
    <p:sldId id="309" r:id="rId10"/>
    <p:sldId id="310" r:id="rId11"/>
    <p:sldId id="311" r:id="rId12"/>
    <p:sldId id="312" r:id="rId13"/>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588"/>
    <p:restoredTop sz="94638"/>
  </p:normalViewPr>
  <p:slideViewPr>
    <p:cSldViewPr snapToGrid="0">
      <p:cViewPr varScale="1">
        <p:scale>
          <a:sx n="126" d="100"/>
          <a:sy n="126" d="100"/>
        </p:scale>
        <p:origin x="200" y="121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6C6A632-7A03-97D6-06E6-0EF0D62B3411}"/>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53631936-173F-8F1F-D668-004CD4BB5CC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F4E34DC1-EA52-6820-093B-3325DC9E835E}"/>
              </a:ext>
            </a:extLst>
          </p:cNvPr>
          <p:cNvSpPr>
            <a:spLocks noGrp="1"/>
          </p:cNvSpPr>
          <p:nvPr>
            <p:ph type="dt" sz="half" idx="10"/>
          </p:nvPr>
        </p:nvSpPr>
        <p:spPr/>
        <p:txBody>
          <a:bodyPr/>
          <a:lstStyle/>
          <a:p>
            <a:fld id="{716789AD-CAC3-AD41-B5C9-BF5C62A1889D}" type="datetimeFigureOut">
              <a:rPr kumimoji="1" lang="ja-JP" altLang="en-US" smtClean="0"/>
              <a:t>2026/4/21</a:t>
            </a:fld>
            <a:endParaRPr kumimoji="1" lang="ja-JP" altLang="en-US"/>
          </a:p>
        </p:txBody>
      </p:sp>
      <p:sp>
        <p:nvSpPr>
          <p:cNvPr id="5" name="フッター プレースホルダー 4">
            <a:extLst>
              <a:ext uri="{FF2B5EF4-FFF2-40B4-BE49-F238E27FC236}">
                <a16:creationId xmlns:a16="http://schemas.microsoft.com/office/drawing/2014/main" id="{2F5292B1-1DB2-5D30-B95D-14114DB0C94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CCB9934-3D96-5EE5-142C-4EA0B150B50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67193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8A1BD27-5452-BE2F-9511-48DA0408F690}"/>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B5889CB-59F7-D6BC-9274-59C40BC94E98}"/>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441E0B9-ADE3-E0ED-5B61-CA0048BE1375}"/>
              </a:ext>
            </a:extLst>
          </p:cNvPr>
          <p:cNvSpPr>
            <a:spLocks noGrp="1"/>
          </p:cNvSpPr>
          <p:nvPr>
            <p:ph type="dt" sz="half" idx="10"/>
          </p:nvPr>
        </p:nvSpPr>
        <p:spPr/>
        <p:txBody>
          <a:bodyPr/>
          <a:lstStyle/>
          <a:p>
            <a:fld id="{716789AD-CAC3-AD41-B5C9-BF5C62A1889D}" type="datetimeFigureOut">
              <a:rPr kumimoji="1" lang="ja-JP" altLang="en-US" smtClean="0"/>
              <a:t>2026/4/21</a:t>
            </a:fld>
            <a:endParaRPr kumimoji="1" lang="ja-JP" altLang="en-US"/>
          </a:p>
        </p:txBody>
      </p:sp>
      <p:sp>
        <p:nvSpPr>
          <p:cNvPr id="5" name="フッター プレースホルダー 4">
            <a:extLst>
              <a:ext uri="{FF2B5EF4-FFF2-40B4-BE49-F238E27FC236}">
                <a16:creationId xmlns:a16="http://schemas.microsoft.com/office/drawing/2014/main" id="{63C547F7-2590-90EB-A176-23C831FAB99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077F363-5620-E337-DC00-AF52392CAE50}"/>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314534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938AFB6-A320-CAF1-87A5-2D97163836B8}"/>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6374E81-70CC-4423-09AA-174A2CA6DDD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A7F7F049-9A50-CA53-D176-71EA34995C4D}"/>
              </a:ext>
            </a:extLst>
          </p:cNvPr>
          <p:cNvSpPr>
            <a:spLocks noGrp="1"/>
          </p:cNvSpPr>
          <p:nvPr>
            <p:ph type="dt" sz="half" idx="10"/>
          </p:nvPr>
        </p:nvSpPr>
        <p:spPr/>
        <p:txBody>
          <a:bodyPr/>
          <a:lstStyle/>
          <a:p>
            <a:fld id="{716789AD-CAC3-AD41-B5C9-BF5C62A1889D}" type="datetimeFigureOut">
              <a:rPr kumimoji="1" lang="ja-JP" altLang="en-US" smtClean="0"/>
              <a:t>2026/4/21</a:t>
            </a:fld>
            <a:endParaRPr kumimoji="1" lang="ja-JP" altLang="en-US"/>
          </a:p>
        </p:txBody>
      </p:sp>
      <p:sp>
        <p:nvSpPr>
          <p:cNvPr id="5" name="フッター プレースホルダー 4">
            <a:extLst>
              <a:ext uri="{FF2B5EF4-FFF2-40B4-BE49-F238E27FC236}">
                <a16:creationId xmlns:a16="http://schemas.microsoft.com/office/drawing/2014/main" id="{D8DB405D-7621-CDB8-8048-A5A36E53D71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891DDDE3-36B9-E78A-839D-8B068ACF6DCE}"/>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1920296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91A47A7-B89B-8076-6D9B-8D5AC1C60BE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CA2E04C-91E5-75C9-81A6-E597A649C0A1}"/>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CA6BC579-EA02-00FB-01CE-9BFDE251BF94}"/>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C5C043F0-AC83-44E5-C367-AD3BCE55DFED}"/>
              </a:ext>
            </a:extLst>
          </p:cNvPr>
          <p:cNvSpPr>
            <a:spLocks noGrp="1"/>
          </p:cNvSpPr>
          <p:nvPr>
            <p:ph type="dt" sz="half" idx="10"/>
          </p:nvPr>
        </p:nvSpPr>
        <p:spPr/>
        <p:txBody>
          <a:bodyPr/>
          <a:lstStyle/>
          <a:p>
            <a:fld id="{716789AD-CAC3-AD41-B5C9-BF5C62A1889D}" type="datetimeFigureOut">
              <a:rPr kumimoji="1" lang="ja-JP" altLang="en-US" smtClean="0"/>
              <a:t>2026/4/21</a:t>
            </a:fld>
            <a:endParaRPr kumimoji="1" lang="ja-JP" altLang="en-US"/>
          </a:p>
        </p:txBody>
      </p:sp>
      <p:sp>
        <p:nvSpPr>
          <p:cNvPr id="6" name="フッター プレースホルダー 5">
            <a:extLst>
              <a:ext uri="{FF2B5EF4-FFF2-40B4-BE49-F238E27FC236}">
                <a16:creationId xmlns:a16="http://schemas.microsoft.com/office/drawing/2014/main" id="{B98B8877-1693-FF2A-DD22-6072009E785D}"/>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8618FC4-731D-A3EA-E437-41947980846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4169509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85ACE69-5C3A-A8B0-69CA-FDDF79C02DB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37F15CE-C0AA-A8EC-7450-6476E5F3B08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100725B5-8E2B-041E-CB1A-EF3E8B70D244}"/>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812D8A55-5AD7-8454-060F-F3B928F7C5C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2770827D-BE9F-C60D-0D4A-56BE066761BF}"/>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084CAC34-A91B-913F-112C-1E98360A9B16}"/>
              </a:ext>
            </a:extLst>
          </p:cNvPr>
          <p:cNvSpPr>
            <a:spLocks noGrp="1"/>
          </p:cNvSpPr>
          <p:nvPr>
            <p:ph type="dt" sz="half" idx="10"/>
          </p:nvPr>
        </p:nvSpPr>
        <p:spPr/>
        <p:txBody>
          <a:bodyPr/>
          <a:lstStyle/>
          <a:p>
            <a:fld id="{716789AD-CAC3-AD41-B5C9-BF5C62A1889D}" type="datetimeFigureOut">
              <a:rPr kumimoji="1" lang="ja-JP" altLang="en-US" smtClean="0"/>
              <a:t>2026/4/21</a:t>
            </a:fld>
            <a:endParaRPr kumimoji="1" lang="ja-JP" altLang="en-US"/>
          </a:p>
        </p:txBody>
      </p:sp>
      <p:sp>
        <p:nvSpPr>
          <p:cNvPr id="8" name="フッター プレースホルダー 7">
            <a:extLst>
              <a:ext uri="{FF2B5EF4-FFF2-40B4-BE49-F238E27FC236}">
                <a16:creationId xmlns:a16="http://schemas.microsoft.com/office/drawing/2014/main" id="{2C9ABD3C-1F40-5841-9942-FE91F313B16A}"/>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B27FB7E5-8B10-1FEF-9E45-ED225BF7177A}"/>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4968750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537E24E-F998-488C-A967-E2384FC951DF}"/>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FA32024B-6100-9240-248B-CA2A43F426D1}"/>
              </a:ext>
            </a:extLst>
          </p:cNvPr>
          <p:cNvSpPr>
            <a:spLocks noGrp="1"/>
          </p:cNvSpPr>
          <p:nvPr>
            <p:ph type="dt" sz="half" idx="10"/>
          </p:nvPr>
        </p:nvSpPr>
        <p:spPr/>
        <p:txBody>
          <a:bodyPr/>
          <a:lstStyle/>
          <a:p>
            <a:fld id="{716789AD-CAC3-AD41-B5C9-BF5C62A1889D}" type="datetimeFigureOut">
              <a:rPr kumimoji="1" lang="ja-JP" altLang="en-US" smtClean="0"/>
              <a:t>2026/4/21</a:t>
            </a:fld>
            <a:endParaRPr kumimoji="1" lang="ja-JP" altLang="en-US"/>
          </a:p>
        </p:txBody>
      </p:sp>
      <p:sp>
        <p:nvSpPr>
          <p:cNvPr id="4" name="フッター プレースホルダー 3">
            <a:extLst>
              <a:ext uri="{FF2B5EF4-FFF2-40B4-BE49-F238E27FC236}">
                <a16:creationId xmlns:a16="http://schemas.microsoft.com/office/drawing/2014/main" id="{FF2EA323-B1D3-A60C-169A-B086CB081EFB}"/>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E4A34271-057B-10C7-132C-A4638553ED80}"/>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5047793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3635FA7A-93AD-D2B1-05D6-7FAF32A2C55F}"/>
              </a:ext>
            </a:extLst>
          </p:cNvPr>
          <p:cNvSpPr>
            <a:spLocks noGrp="1"/>
          </p:cNvSpPr>
          <p:nvPr>
            <p:ph type="dt" sz="half" idx="10"/>
          </p:nvPr>
        </p:nvSpPr>
        <p:spPr/>
        <p:txBody>
          <a:bodyPr/>
          <a:lstStyle/>
          <a:p>
            <a:fld id="{716789AD-CAC3-AD41-B5C9-BF5C62A1889D}" type="datetimeFigureOut">
              <a:rPr kumimoji="1" lang="ja-JP" altLang="en-US" smtClean="0"/>
              <a:t>2026/4/21</a:t>
            </a:fld>
            <a:endParaRPr kumimoji="1" lang="ja-JP" altLang="en-US"/>
          </a:p>
        </p:txBody>
      </p:sp>
      <p:sp>
        <p:nvSpPr>
          <p:cNvPr id="3" name="フッター プレースホルダー 2">
            <a:extLst>
              <a:ext uri="{FF2B5EF4-FFF2-40B4-BE49-F238E27FC236}">
                <a16:creationId xmlns:a16="http://schemas.microsoft.com/office/drawing/2014/main" id="{CFE10980-D7A5-C75A-35A1-74922B872CE5}"/>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E98CCC2E-0372-7984-27A3-E7630330C95D}"/>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7689444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9635452-6694-48B0-2F4B-D8613133BC2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B5EA1B-7CB3-15AD-9339-95BED1FBE0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D6403982-7C57-B123-55F6-4EBCC487E84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3DE23125-1312-B43D-D08E-A33AEE702A2C}"/>
              </a:ext>
            </a:extLst>
          </p:cNvPr>
          <p:cNvSpPr>
            <a:spLocks noGrp="1"/>
          </p:cNvSpPr>
          <p:nvPr>
            <p:ph type="dt" sz="half" idx="10"/>
          </p:nvPr>
        </p:nvSpPr>
        <p:spPr/>
        <p:txBody>
          <a:bodyPr/>
          <a:lstStyle/>
          <a:p>
            <a:fld id="{716789AD-CAC3-AD41-B5C9-BF5C62A1889D}" type="datetimeFigureOut">
              <a:rPr kumimoji="1" lang="ja-JP" altLang="en-US" smtClean="0"/>
              <a:t>2026/4/21</a:t>
            </a:fld>
            <a:endParaRPr kumimoji="1" lang="ja-JP" altLang="en-US"/>
          </a:p>
        </p:txBody>
      </p:sp>
      <p:sp>
        <p:nvSpPr>
          <p:cNvPr id="6" name="フッター プレースホルダー 5">
            <a:extLst>
              <a:ext uri="{FF2B5EF4-FFF2-40B4-BE49-F238E27FC236}">
                <a16:creationId xmlns:a16="http://schemas.microsoft.com/office/drawing/2014/main" id="{80C7F1C1-D5C2-78D7-ADF0-A07C094F4A8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C4415F6-747E-12D7-7100-D414E765BC9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4009880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8BB85E6-A594-1B2E-CBFB-9F5783A90A21}"/>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B9F6E2E7-84FD-0A2C-CA9D-0147AC1AD63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BD9FF62D-1B1E-700E-34E0-7DF45DE18A7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D71ECEB-348F-8EA2-45B3-C830709818FE}"/>
              </a:ext>
            </a:extLst>
          </p:cNvPr>
          <p:cNvSpPr>
            <a:spLocks noGrp="1"/>
          </p:cNvSpPr>
          <p:nvPr>
            <p:ph type="dt" sz="half" idx="10"/>
          </p:nvPr>
        </p:nvSpPr>
        <p:spPr/>
        <p:txBody>
          <a:bodyPr/>
          <a:lstStyle/>
          <a:p>
            <a:fld id="{716789AD-CAC3-AD41-B5C9-BF5C62A1889D}" type="datetimeFigureOut">
              <a:rPr kumimoji="1" lang="ja-JP" altLang="en-US" smtClean="0"/>
              <a:t>2026/4/21</a:t>
            </a:fld>
            <a:endParaRPr kumimoji="1" lang="ja-JP" altLang="en-US"/>
          </a:p>
        </p:txBody>
      </p:sp>
      <p:sp>
        <p:nvSpPr>
          <p:cNvPr id="6" name="フッター プレースホルダー 5">
            <a:extLst>
              <a:ext uri="{FF2B5EF4-FFF2-40B4-BE49-F238E27FC236}">
                <a16:creationId xmlns:a16="http://schemas.microsoft.com/office/drawing/2014/main" id="{53D40AEA-1771-3C1F-D38D-2AABEEB880B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A4CE8C9-A7E6-E91D-5202-34BC2A94AB71}"/>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517323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4AA0D9F-9CE3-D3D7-C4D8-34A0001011C4}"/>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1AACF51F-FE5C-6320-74D8-5117657B4E3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32519A4-5425-3161-51E4-E803C2735863}"/>
              </a:ext>
            </a:extLst>
          </p:cNvPr>
          <p:cNvSpPr>
            <a:spLocks noGrp="1"/>
          </p:cNvSpPr>
          <p:nvPr>
            <p:ph type="dt" sz="half" idx="10"/>
          </p:nvPr>
        </p:nvSpPr>
        <p:spPr/>
        <p:txBody>
          <a:bodyPr/>
          <a:lstStyle/>
          <a:p>
            <a:fld id="{716789AD-CAC3-AD41-B5C9-BF5C62A1889D}" type="datetimeFigureOut">
              <a:rPr kumimoji="1" lang="ja-JP" altLang="en-US" smtClean="0"/>
              <a:t>2026/4/21</a:t>
            </a:fld>
            <a:endParaRPr kumimoji="1" lang="ja-JP" altLang="en-US"/>
          </a:p>
        </p:txBody>
      </p:sp>
      <p:sp>
        <p:nvSpPr>
          <p:cNvPr id="5" name="フッター プレースホルダー 4">
            <a:extLst>
              <a:ext uri="{FF2B5EF4-FFF2-40B4-BE49-F238E27FC236}">
                <a16:creationId xmlns:a16="http://schemas.microsoft.com/office/drawing/2014/main" id="{4DA9A69C-3E26-C307-7312-17E5AB5F5533}"/>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678011B-4581-EE2A-FA4E-6DBD62712FBD}"/>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5119942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3DC0F4E0-25A5-D9D0-89A5-79A67F1DDD75}"/>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3B8CFB4-DC17-7E0C-329E-736FD9303257}"/>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E2CCDFC-48EB-123C-AE7C-FD40758CB4F3}"/>
              </a:ext>
            </a:extLst>
          </p:cNvPr>
          <p:cNvSpPr>
            <a:spLocks noGrp="1"/>
          </p:cNvSpPr>
          <p:nvPr>
            <p:ph type="dt" sz="half" idx="10"/>
          </p:nvPr>
        </p:nvSpPr>
        <p:spPr/>
        <p:txBody>
          <a:bodyPr/>
          <a:lstStyle/>
          <a:p>
            <a:fld id="{716789AD-CAC3-AD41-B5C9-BF5C62A1889D}" type="datetimeFigureOut">
              <a:rPr kumimoji="1" lang="ja-JP" altLang="en-US" smtClean="0"/>
              <a:t>2026/4/21</a:t>
            </a:fld>
            <a:endParaRPr kumimoji="1" lang="ja-JP" altLang="en-US"/>
          </a:p>
        </p:txBody>
      </p:sp>
      <p:sp>
        <p:nvSpPr>
          <p:cNvPr id="5" name="フッター プレースホルダー 4">
            <a:extLst>
              <a:ext uri="{FF2B5EF4-FFF2-40B4-BE49-F238E27FC236}">
                <a16:creationId xmlns:a16="http://schemas.microsoft.com/office/drawing/2014/main" id="{BD272EE4-2DDF-228C-8B9B-994A4AA454E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BD7B0FA-04F6-8EC7-E928-FC997B43EE9C}"/>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8623136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9C346513-02ED-46E1-E87A-2B3C36119D0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7899317-66E8-B955-B11F-CB6B16AE52E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50442F6-8CF5-9167-1176-7168D75F039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16789AD-CAC3-AD41-B5C9-BF5C62A1889D}" type="datetimeFigureOut">
              <a:rPr kumimoji="1" lang="ja-JP" altLang="en-US" smtClean="0"/>
              <a:t>2026/4/21</a:t>
            </a:fld>
            <a:endParaRPr kumimoji="1" lang="ja-JP" altLang="en-US"/>
          </a:p>
        </p:txBody>
      </p:sp>
      <p:sp>
        <p:nvSpPr>
          <p:cNvPr id="5" name="フッター プレースホルダー 4">
            <a:extLst>
              <a:ext uri="{FF2B5EF4-FFF2-40B4-BE49-F238E27FC236}">
                <a16:creationId xmlns:a16="http://schemas.microsoft.com/office/drawing/2014/main" id="{7C368A6B-A177-5391-D0E1-6593606D2A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05F73624-1AFB-ABE8-B3E2-ED7CE2B7F02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7235636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aclanthology.org/C14-1147.pdf" TargetMode="External"/><Relationship Id="rId2" Type="http://schemas.openxmlformats.org/officeDocument/2006/relationships/hyperlink" Target="https://www.tandfonline.com/doi/full/10.1080/13658816.2024.2405182"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A80A9DCA-9619-8B3E-E697-76FFCC1CE46B}"/>
              </a:ext>
            </a:extLst>
          </p:cNvPr>
          <p:cNvSpPr txBox="1"/>
          <p:nvPr/>
        </p:nvSpPr>
        <p:spPr>
          <a:xfrm>
            <a:off x="3313828" y="66522"/>
            <a:ext cx="5564344" cy="584775"/>
          </a:xfrm>
          <a:prstGeom prst="rect">
            <a:avLst/>
          </a:prstGeom>
          <a:noFill/>
        </p:spPr>
        <p:txBody>
          <a:bodyPr wrap="none" rtlCol="0">
            <a:spAutoFit/>
          </a:bodyPr>
          <a:lstStyle/>
          <a:p>
            <a:r>
              <a:rPr lang="ja-JP" altLang="en-US" sz="3200"/>
              <a:t>情報知識学会第</a:t>
            </a:r>
            <a:r>
              <a:rPr lang="en-US" altLang="ja-JP" sz="3200" dirty="0"/>
              <a:t>34</a:t>
            </a:r>
            <a:r>
              <a:rPr lang="ja-JP" altLang="en-US" sz="3200"/>
              <a:t>回年次大会</a:t>
            </a:r>
            <a:endParaRPr kumimoji="1" lang="ja-JP" altLang="en-US" sz="3200"/>
          </a:p>
        </p:txBody>
      </p:sp>
      <p:sp>
        <p:nvSpPr>
          <p:cNvPr id="2" name="テキスト ボックス 1">
            <a:extLst>
              <a:ext uri="{FF2B5EF4-FFF2-40B4-BE49-F238E27FC236}">
                <a16:creationId xmlns:a16="http://schemas.microsoft.com/office/drawing/2014/main" id="{1D49ED0E-D194-025B-4205-E0CEB22CB619}"/>
              </a:ext>
            </a:extLst>
          </p:cNvPr>
          <p:cNvSpPr txBox="1"/>
          <p:nvPr/>
        </p:nvSpPr>
        <p:spPr>
          <a:xfrm>
            <a:off x="2292989" y="3842010"/>
            <a:ext cx="7606021" cy="461665"/>
          </a:xfrm>
          <a:prstGeom prst="rect">
            <a:avLst/>
          </a:prstGeom>
          <a:noFill/>
        </p:spPr>
        <p:txBody>
          <a:bodyPr wrap="square" rtlCol="0">
            <a:spAutoFit/>
          </a:bodyPr>
          <a:lstStyle/>
          <a:p>
            <a:r>
              <a:rPr lang="ja-JP" altLang="en-US" sz="2400"/>
              <a:t>黄秋実</a:t>
            </a:r>
            <a:r>
              <a:rPr lang="en-US" altLang="ja-JP" sz="2400" baseline="30000" dirty="0"/>
              <a:t>1</a:t>
            </a:r>
            <a:r>
              <a:rPr lang="en-US" altLang="ja-JP" sz="2400" dirty="0"/>
              <a:t>, </a:t>
            </a:r>
            <a:r>
              <a:rPr lang="ja-JP" altLang="en-US" sz="2400"/>
              <a:t>寺田将春</a:t>
            </a:r>
            <a:r>
              <a:rPr lang="en-US" altLang="ja-JP" sz="2400" baseline="30000" dirty="0"/>
              <a:t>1</a:t>
            </a:r>
            <a:r>
              <a:rPr lang="en-US" altLang="ja-JP" sz="2400" dirty="0"/>
              <a:t>, </a:t>
            </a:r>
            <a:r>
              <a:rPr lang="ja-JP" altLang="en-US" sz="2400"/>
              <a:t>上村麻里亜</a:t>
            </a:r>
            <a:r>
              <a:rPr lang="en-US" altLang="ja-JP" sz="2400" baseline="30000" dirty="0"/>
              <a:t>1</a:t>
            </a:r>
            <a:r>
              <a:rPr lang="en-US" altLang="ja-JP" sz="2400" dirty="0"/>
              <a:t>, </a:t>
            </a:r>
            <a:r>
              <a:rPr lang="ja-JP" altLang="en-US" sz="2400"/>
              <a:t>船守美穂</a:t>
            </a:r>
            <a:r>
              <a:rPr lang="en-US" altLang="ja-JP" sz="2400" baseline="30000" dirty="0"/>
              <a:t>1,2</a:t>
            </a:r>
            <a:r>
              <a:rPr lang="en-US" altLang="ja-JP" sz="2400" dirty="0"/>
              <a:t>, </a:t>
            </a:r>
            <a:r>
              <a:rPr lang="ja-JP" altLang="en-US" sz="2400"/>
              <a:t>天野晃</a:t>
            </a:r>
            <a:r>
              <a:rPr lang="en-US" altLang="ja-JP" sz="2400" baseline="30000" dirty="0"/>
              <a:t>1*</a:t>
            </a:r>
          </a:p>
        </p:txBody>
      </p:sp>
      <p:sp>
        <p:nvSpPr>
          <p:cNvPr id="3" name="テキスト ボックス 2">
            <a:extLst>
              <a:ext uri="{FF2B5EF4-FFF2-40B4-BE49-F238E27FC236}">
                <a16:creationId xmlns:a16="http://schemas.microsoft.com/office/drawing/2014/main" id="{D07DC189-35F8-7991-589D-C950D4DB5F1C}"/>
              </a:ext>
            </a:extLst>
          </p:cNvPr>
          <p:cNvSpPr txBox="1"/>
          <p:nvPr/>
        </p:nvSpPr>
        <p:spPr>
          <a:xfrm>
            <a:off x="4205994" y="4557722"/>
            <a:ext cx="3780008" cy="830997"/>
          </a:xfrm>
          <a:prstGeom prst="rect">
            <a:avLst/>
          </a:prstGeom>
          <a:noFill/>
        </p:spPr>
        <p:txBody>
          <a:bodyPr wrap="square" rtlCol="0">
            <a:spAutoFit/>
          </a:bodyPr>
          <a:lstStyle/>
          <a:p>
            <a:pPr algn="ctr"/>
            <a:r>
              <a:rPr lang="en-US" altLang="ja-JP" sz="2400" baseline="30000" dirty="0"/>
              <a:t>1</a:t>
            </a:r>
            <a:r>
              <a:rPr lang="en-US" altLang="ja-JP" sz="2400" dirty="0"/>
              <a:t> </a:t>
            </a:r>
            <a:r>
              <a:rPr lang="ja-JP" altLang="en-US" sz="2400"/>
              <a:t>鹿児島大学</a:t>
            </a:r>
            <a:endParaRPr lang="en-US" altLang="ja-JP" sz="2400" dirty="0"/>
          </a:p>
          <a:p>
            <a:pPr algn="ctr"/>
            <a:r>
              <a:rPr lang="en-US" altLang="ja-JP" sz="2400" baseline="30000" dirty="0"/>
              <a:t>2</a:t>
            </a:r>
            <a:r>
              <a:rPr lang="en-US" altLang="ja-JP" sz="2400" dirty="0"/>
              <a:t> </a:t>
            </a:r>
            <a:r>
              <a:rPr lang="ja-JP" altLang="en-US" sz="2400"/>
              <a:t>国立情報学研究所</a:t>
            </a:r>
            <a:endParaRPr lang="en-US" altLang="ja-JP" sz="2400" baseline="30000" dirty="0"/>
          </a:p>
        </p:txBody>
      </p:sp>
      <p:sp>
        <p:nvSpPr>
          <p:cNvPr id="5" name="テキスト ボックス 4">
            <a:extLst>
              <a:ext uri="{FF2B5EF4-FFF2-40B4-BE49-F238E27FC236}">
                <a16:creationId xmlns:a16="http://schemas.microsoft.com/office/drawing/2014/main" id="{A6301F3E-0169-C649-7BBD-7EFDC9ABEFFE}"/>
              </a:ext>
            </a:extLst>
          </p:cNvPr>
          <p:cNvSpPr txBox="1"/>
          <p:nvPr/>
        </p:nvSpPr>
        <p:spPr>
          <a:xfrm>
            <a:off x="2925900" y="2526919"/>
            <a:ext cx="6340197" cy="1077218"/>
          </a:xfrm>
          <a:prstGeom prst="rect">
            <a:avLst/>
          </a:prstGeom>
          <a:noFill/>
        </p:spPr>
        <p:txBody>
          <a:bodyPr wrap="none" rtlCol="0">
            <a:spAutoFit/>
          </a:bodyPr>
          <a:lstStyle/>
          <a:p>
            <a:pPr algn="ctr"/>
            <a:r>
              <a:rPr lang="ja-JP" altLang="en-US" sz="3200"/>
              <a:t>地域研究活動の指標開発にむけて</a:t>
            </a:r>
          </a:p>
          <a:p>
            <a:pPr algn="ctr"/>
            <a:r>
              <a:rPr lang="en-US" altLang="ja-JP" sz="3200" dirty="0"/>
              <a:t>- </a:t>
            </a:r>
            <a:r>
              <a:rPr lang="ja-JP" altLang="en-US" sz="3200"/>
              <a:t>文書からの地名抽出</a:t>
            </a:r>
            <a:r>
              <a:rPr lang="en-US" altLang="ja-JP" sz="3200" dirty="0"/>
              <a:t>-</a:t>
            </a:r>
          </a:p>
        </p:txBody>
      </p:sp>
    </p:spTree>
    <p:extLst>
      <p:ext uri="{BB962C8B-B14F-4D97-AF65-F5344CB8AC3E}">
        <p14:creationId xmlns:p14="http://schemas.microsoft.com/office/powerpoint/2010/main" val="6159968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C7D6E2-4807-6D49-E579-50570FE5AFB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B839614-20CC-C866-2B67-588804CBF7F5}"/>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kumimoji="1" lang="en-US" altLang="ja-JP" sz="3600" dirty="0"/>
              <a:t>1</a:t>
            </a:r>
            <a:r>
              <a:rPr kumimoji="1" lang="ja-JP" altLang="en-US" sz="3600"/>
              <a:t>）</a:t>
            </a:r>
          </a:p>
        </p:txBody>
      </p:sp>
      <p:sp>
        <p:nvSpPr>
          <p:cNvPr id="5" name="テキスト ボックス 4">
            <a:extLst>
              <a:ext uri="{FF2B5EF4-FFF2-40B4-BE49-F238E27FC236}">
                <a16:creationId xmlns:a16="http://schemas.microsoft.com/office/drawing/2014/main" id="{B442A27C-01CD-E120-DE0D-C0869FC0E90C}"/>
              </a:ext>
            </a:extLst>
          </p:cNvPr>
          <p:cNvSpPr txBox="1"/>
          <p:nvPr/>
        </p:nvSpPr>
        <p:spPr>
          <a:xfrm>
            <a:off x="-1" y="577517"/>
            <a:ext cx="12192000" cy="4247317"/>
          </a:xfrm>
          <a:prstGeom prst="rect">
            <a:avLst/>
          </a:prstGeom>
          <a:noFill/>
        </p:spPr>
        <p:txBody>
          <a:bodyPr wrap="square" rtlCol="0">
            <a:spAutoFit/>
          </a:bodyPr>
          <a:lstStyle/>
          <a:p>
            <a:r>
              <a:rPr lang="ja-JP" altLang="en-US" b="1"/>
              <a:t>◾️地域課題の重要性</a:t>
            </a:r>
            <a:endParaRPr lang="en-US" altLang="ja-JP" b="1" dirty="0"/>
          </a:p>
          <a:p>
            <a:r>
              <a:rPr lang="ja-JP" altLang="en-US"/>
              <a:t>地域の労働人口減少等により地域課題の解決が困難化</a:t>
            </a:r>
            <a:endParaRPr lang="en-US" altLang="ja-JP" dirty="0"/>
          </a:p>
          <a:p>
            <a:endParaRPr lang="en-US" altLang="ja-JP" dirty="0"/>
          </a:p>
          <a:p>
            <a:r>
              <a:rPr lang="ja-JP" altLang="en-US" b="1"/>
              <a:t>◾️（地方）大学への期待</a:t>
            </a:r>
            <a:endParaRPr lang="en-US" altLang="ja-JP" b="1" dirty="0"/>
          </a:p>
          <a:p>
            <a:r>
              <a:rPr lang="ja-JP" altLang="en-US"/>
              <a:t>文部科学省をはじめとする機関や地域行政等からの大学への期待</a:t>
            </a:r>
            <a:endParaRPr lang="en-US" altLang="ja-JP" dirty="0"/>
          </a:p>
          <a:p>
            <a:endParaRPr lang="en-US" altLang="ja-JP" dirty="0"/>
          </a:p>
          <a:p>
            <a:r>
              <a:rPr lang="ja-JP" altLang="en-US" b="1"/>
              <a:t>◾️大学側の対応</a:t>
            </a:r>
            <a:endParaRPr lang="en-US" altLang="ja-JP" b="1" dirty="0"/>
          </a:p>
          <a:p>
            <a:r>
              <a:rPr lang="ja-JP" altLang="en-US"/>
              <a:t>実際、多くの大学が自身の存在意義を示すため、地域に根ざした研究を意識している</a:t>
            </a:r>
            <a:endParaRPr lang="en-US" altLang="ja-JP" dirty="0"/>
          </a:p>
          <a:p>
            <a:endParaRPr lang="en-US" altLang="ja-JP" dirty="0"/>
          </a:p>
          <a:p>
            <a:r>
              <a:rPr lang="ja-JP" altLang="en-US" b="1"/>
              <a:t>◾️評価視点</a:t>
            </a:r>
            <a:endParaRPr lang="en-US" altLang="ja-JP" b="1" dirty="0"/>
          </a:p>
          <a:p>
            <a:r>
              <a:rPr lang="ja-JP" altLang="en-US"/>
              <a:t>地域課題への取り組み、解決に関する計量的な視点は不足している</a:t>
            </a:r>
            <a:endParaRPr lang="en-US" altLang="ja-JP" dirty="0"/>
          </a:p>
          <a:p>
            <a:endParaRPr lang="en-US" altLang="ja-JP" dirty="0"/>
          </a:p>
          <a:p>
            <a:r>
              <a:rPr lang="ja-JP" altLang="en-US" b="1"/>
              <a:t>◾️鹿児島大学では</a:t>
            </a:r>
            <a:endParaRPr lang="en-US" altLang="ja-JP" b="1" dirty="0"/>
          </a:p>
          <a:p>
            <a:r>
              <a:rPr lang="ja-JP" altLang="en-US"/>
              <a:t>すでに地域に根ざした研究を行ってきた本学では、より実効な地域課題解決のため、地域課題にかかる計量化・評価の仕組みを整備する</a:t>
            </a:r>
          </a:p>
        </p:txBody>
      </p:sp>
    </p:spTree>
    <p:extLst>
      <p:ext uri="{BB962C8B-B14F-4D97-AF65-F5344CB8AC3E}">
        <p14:creationId xmlns:p14="http://schemas.microsoft.com/office/powerpoint/2010/main" val="6231073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F0CEB-E2CC-C15E-0575-4D62545A4BA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FFC559C-4174-6CFC-51E5-4526D91E919E}"/>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lang="en-US" altLang="ja-JP" sz="3600" dirty="0"/>
              <a:t>2</a:t>
            </a:r>
            <a:r>
              <a:rPr kumimoji="1" lang="ja-JP" altLang="en-US" sz="3600"/>
              <a:t>）</a:t>
            </a:r>
          </a:p>
        </p:txBody>
      </p:sp>
      <p:sp>
        <p:nvSpPr>
          <p:cNvPr id="5" name="テキスト ボックス 4">
            <a:extLst>
              <a:ext uri="{FF2B5EF4-FFF2-40B4-BE49-F238E27FC236}">
                <a16:creationId xmlns:a16="http://schemas.microsoft.com/office/drawing/2014/main" id="{A20BBFE0-DC1E-AF94-DBFC-1FC845E3DB69}"/>
              </a:ext>
            </a:extLst>
          </p:cNvPr>
          <p:cNvSpPr txBox="1"/>
          <p:nvPr/>
        </p:nvSpPr>
        <p:spPr>
          <a:xfrm>
            <a:off x="-1" y="577517"/>
            <a:ext cx="12192000" cy="2031325"/>
          </a:xfrm>
          <a:prstGeom prst="rect">
            <a:avLst/>
          </a:prstGeom>
          <a:noFill/>
        </p:spPr>
        <p:txBody>
          <a:bodyPr wrap="square" rtlCol="0">
            <a:spAutoFit/>
          </a:bodyPr>
          <a:lstStyle/>
          <a:p>
            <a:r>
              <a:rPr lang="ja-JP" altLang="en-US" b="1"/>
              <a:t>◾️未来共創オープンサイエンス推進事業－地域課題解決型「</a:t>
            </a:r>
            <a:r>
              <a:rPr lang="en" altLang="ja-JP" b="1" dirty="0"/>
              <a:t>KAGOSHIMA </a:t>
            </a:r>
            <a:r>
              <a:rPr lang="ja-JP" altLang="en-US" b="1"/>
              <a:t>モデル」の形成－</a:t>
            </a:r>
            <a:endParaRPr lang="en-US" altLang="ja-JP" b="1" dirty="0"/>
          </a:p>
          <a:p>
            <a:r>
              <a:rPr lang="ja-JP" altLang="en-US"/>
              <a:t>地域課題解決には複数分野（複数学部・部局）の協調が必須であり、オープンサイエンス研究開発部門がこのための有機的なハブとなると同時に、「データ」を中心とするシステム連携を創出する</a:t>
            </a:r>
            <a:endParaRPr lang="en-US" altLang="ja-JP" dirty="0"/>
          </a:p>
          <a:p>
            <a:endParaRPr lang="en-US" altLang="ja-JP" dirty="0"/>
          </a:p>
          <a:p>
            <a:r>
              <a:rPr lang="ja-JP" altLang="en-US" b="1"/>
              <a:t>◾️鹿児島大学知識基盤システム</a:t>
            </a:r>
            <a:endParaRPr lang="en-US" altLang="ja-JP" b="1" dirty="0"/>
          </a:p>
          <a:p>
            <a:r>
              <a:rPr lang="ja-JP" altLang="en-US"/>
              <a:t>オープンサイエンス研究開発部門は、「地域課題」や「データ」だけでなく、研究リソースやファシリティ情報までを結びつけた、研究活動計量・評価の基盤となる「鹿児島大学知識基盤システム」の構築にチャレンジする</a:t>
            </a:r>
            <a:endParaRPr lang="en-US" altLang="ja-JP" dirty="0"/>
          </a:p>
        </p:txBody>
      </p:sp>
      <p:sp>
        <p:nvSpPr>
          <p:cNvPr id="76" name="正方形/長方形 75">
            <a:extLst>
              <a:ext uri="{FF2B5EF4-FFF2-40B4-BE49-F238E27FC236}">
                <a16:creationId xmlns:a16="http://schemas.microsoft.com/office/drawing/2014/main" id="{3BB246FF-B7B0-8D17-CC3C-BCD6BC927252}"/>
              </a:ext>
            </a:extLst>
          </p:cNvPr>
          <p:cNvSpPr/>
          <p:nvPr/>
        </p:nvSpPr>
        <p:spPr>
          <a:xfrm>
            <a:off x="2406513" y="2861146"/>
            <a:ext cx="6618168" cy="3751764"/>
          </a:xfrm>
          <a:prstGeom prst="rect">
            <a:avLst/>
          </a:prstGeom>
          <a:solidFill>
            <a:schemeClr val="accent2">
              <a:alpha val="33458"/>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正方形/長方形 76">
            <a:extLst>
              <a:ext uri="{FF2B5EF4-FFF2-40B4-BE49-F238E27FC236}">
                <a16:creationId xmlns:a16="http://schemas.microsoft.com/office/drawing/2014/main" id="{35BCE917-A39F-7308-A76B-A535E09A503A}"/>
              </a:ext>
            </a:extLst>
          </p:cNvPr>
          <p:cNvSpPr/>
          <p:nvPr/>
        </p:nvSpPr>
        <p:spPr>
          <a:xfrm>
            <a:off x="2496500" y="3014173"/>
            <a:ext cx="2949627" cy="3071465"/>
          </a:xfrm>
          <a:prstGeom prst="rect">
            <a:avLst/>
          </a:prstGeom>
          <a:no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8" name="円/楕円 77">
            <a:extLst>
              <a:ext uri="{FF2B5EF4-FFF2-40B4-BE49-F238E27FC236}">
                <a16:creationId xmlns:a16="http://schemas.microsoft.com/office/drawing/2014/main" id="{6864CFE5-FA8D-AC50-9202-0518BFB5E20D}"/>
              </a:ext>
            </a:extLst>
          </p:cNvPr>
          <p:cNvSpPr/>
          <p:nvPr/>
        </p:nvSpPr>
        <p:spPr>
          <a:xfrm>
            <a:off x="4508679" y="526528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円/楕円 78">
            <a:extLst>
              <a:ext uri="{FF2B5EF4-FFF2-40B4-BE49-F238E27FC236}">
                <a16:creationId xmlns:a16="http://schemas.microsoft.com/office/drawing/2014/main" id="{271DE3B5-8E0E-6340-7672-4B3169F7F859}"/>
              </a:ext>
            </a:extLst>
          </p:cNvPr>
          <p:cNvSpPr/>
          <p:nvPr/>
        </p:nvSpPr>
        <p:spPr>
          <a:xfrm>
            <a:off x="4500994" y="379752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テキスト ボックス 79">
            <a:extLst>
              <a:ext uri="{FF2B5EF4-FFF2-40B4-BE49-F238E27FC236}">
                <a16:creationId xmlns:a16="http://schemas.microsoft.com/office/drawing/2014/main" id="{940D75DE-F8D0-54C7-8F4A-0D89348425EE}"/>
              </a:ext>
            </a:extLst>
          </p:cNvPr>
          <p:cNvSpPr txBox="1"/>
          <p:nvPr/>
        </p:nvSpPr>
        <p:spPr>
          <a:xfrm>
            <a:off x="4408505" y="5482353"/>
            <a:ext cx="415498" cy="230832"/>
          </a:xfrm>
          <a:prstGeom prst="rect">
            <a:avLst/>
          </a:prstGeom>
          <a:noFill/>
        </p:spPr>
        <p:txBody>
          <a:bodyPr wrap="none" rtlCol="0">
            <a:spAutoFit/>
          </a:bodyPr>
          <a:lstStyle/>
          <a:p>
            <a:r>
              <a:rPr kumimoji="1" lang="ja-JP" altLang="en-US" sz="900" b="1"/>
              <a:t>論文</a:t>
            </a:r>
          </a:p>
        </p:txBody>
      </p:sp>
      <p:sp>
        <p:nvSpPr>
          <p:cNvPr id="81" name="テキスト ボックス 80">
            <a:extLst>
              <a:ext uri="{FF2B5EF4-FFF2-40B4-BE49-F238E27FC236}">
                <a16:creationId xmlns:a16="http://schemas.microsoft.com/office/drawing/2014/main" id="{C306EF7F-75AD-E5A4-B25F-5C80CAB6A632}"/>
              </a:ext>
            </a:extLst>
          </p:cNvPr>
          <p:cNvSpPr txBox="1"/>
          <p:nvPr/>
        </p:nvSpPr>
        <p:spPr>
          <a:xfrm>
            <a:off x="4347033" y="4032839"/>
            <a:ext cx="530915" cy="230832"/>
          </a:xfrm>
          <a:prstGeom prst="rect">
            <a:avLst/>
          </a:prstGeom>
          <a:noFill/>
        </p:spPr>
        <p:txBody>
          <a:bodyPr wrap="none" rtlCol="0">
            <a:spAutoFit/>
          </a:bodyPr>
          <a:lstStyle/>
          <a:p>
            <a:r>
              <a:rPr lang="ja-JP" altLang="en-US" sz="900" b="1"/>
              <a:t>データ</a:t>
            </a:r>
            <a:endParaRPr kumimoji="1" lang="ja-JP" altLang="en-US" sz="900" b="1"/>
          </a:p>
        </p:txBody>
      </p:sp>
      <p:sp>
        <p:nvSpPr>
          <p:cNvPr id="82" name="円/楕円 81">
            <a:extLst>
              <a:ext uri="{FF2B5EF4-FFF2-40B4-BE49-F238E27FC236}">
                <a16:creationId xmlns:a16="http://schemas.microsoft.com/office/drawing/2014/main" id="{40B41763-321F-CA3D-138D-ECF45E0A1B70}"/>
              </a:ext>
            </a:extLst>
          </p:cNvPr>
          <p:cNvSpPr/>
          <p:nvPr/>
        </p:nvSpPr>
        <p:spPr>
          <a:xfrm>
            <a:off x="2983519" y="3489189"/>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テキスト ボックス 82">
            <a:extLst>
              <a:ext uri="{FF2B5EF4-FFF2-40B4-BE49-F238E27FC236}">
                <a16:creationId xmlns:a16="http://schemas.microsoft.com/office/drawing/2014/main" id="{6345EA1A-1726-FBE4-D55B-3E2CE238BE0E}"/>
              </a:ext>
            </a:extLst>
          </p:cNvPr>
          <p:cNvSpPr txBox="1"/>
          <p:nvPr/>
        </p:nvSpPr>
        <p:spPr>
          <a:xfrm>
            <a:off x="2649081" y="4491049"/>
            <a:ext cx="877163" cy="230832"/>
          </a:xfrm>
          <a:prstGeom prst="rect">
            <a:avLst/>
          </a:prstGeom>
          <a:noFill/>
        </p:spPr>
        <p:txBody>
          <a:bodyPr wrap="none" rtlCol="0">
            <a:spAutoFit/>
          </a:bodyPr>
          <a:lstStyle/>
          <a:p>
            <a:r>
              <a:rPr lang="ja-JP" altLang="en-US" sz="900" b="1"/>
              <a:t>ファシリティ</a:t>
            </a:r>
            <a:endParaRPr kumimoji="1" lang="ja-JP" altLang="en-US" sz="900" b="1"/>
          </a:p>
        </p:txBody>
      </p:sp>
      <p:sp>
        <p:nvSpPr>
          <p:cNvPr id="84" name="円/楕円 83">
            <a:extLst>
              <a:ext uri="{FF2B5EF4-FFF2-40B4-BE49-F238E27FC236}">
                <a16:creationId xmlns:a16="http://schemas.microsoft.com/office/drawing/2014/main" id="{83467E3B-F7E9-1DED-1908-6F4D57FA2B38}"/>
              </a:ext>
            </a:extLst>
          </p:cNvPr>
          <p:cNvSpPr/>
          <p:nvPr/>
        </p:nvSpPr>
        <p:spPr>
          <a:xfrm>
            <a:off x="2988975" y="4973663"/>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テキスト ボックス 84">
            <a:extLst>
              <a:ext uri="{FF2B5EF4-FFF2-40B4-BE49-F238E27FC236}">
                <a16:creationId xmlns:a16="http://schemas.microsoft.com/office/drawing/2014/main" id="{E5620A43-CC32-C3B6-6480-F4BFC65EBE15}"/>
              </a:ext>
            </a:extLst>
          </p:cNvPr>
          <p:cNvSpPr txBox="1"/>
          <p:nvPr/>
        </p:nvSpPr>
        <p:spPr>
          <a:xfrm>
            <a:off x="2887620" y="5196554"/>
            <a:ext cx="415498" cy="230832"/>
          </a:xfrm>
          <a:prstGeom prst="rect">
            <a:avLst/>
          </a:prstGeom>
          <a:noFill/>
        </p:spPr>
        <p:txBody>
          <a:bodyPr wrap="none" rtlCol="0">
            <a:spAutoFit/>
          </a:bodyPr>
          <a:lstStyle/>
          <a:p>
            <a:r>
              <a:rPr kumimoji="1" lang="ja-JP" altLang="en-US" sz="900" b="1"/>
              <a:t>地名</a:t>
            </a:r>
          </a:p>
        </p:txBody>
      </p:sp>
      <p:sp>
        <p:nvSpPr>
          <p:cNvPr id="86" name="円/楕円 85">
            <a:extLst>
              <a:ext uri="{FF2B5EF4-FFF2-40B4-BE49-F238E27FC236}">
                <a16:creationId xmlns:a16="http://schemas.microsoft.com/office/drawing/2014/main" id="{D2A05924-4C42-8B37-AB49-B891DF4F06C1}"/>
              </a:ext>
            </a:extLst>
          </p:cNvPr>
          <p:cNvSpPr/>
          <p:nvPr/>
        </p:nvSpPr>
        <p:spPr>
          <a:xfrm>
            <a:off x="4493310" y="453140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7" name="テキスト ボックス 86">
            <a:extLst>
              <a:ext uri="{FF2B5EF4-FFF2-40B4-BE49-F238E27FC236}">
                <a16:creationId xmlns:a16="http://schemas.microsoft.com/office/drawing/2014/main" id="{943FE445-74D8-6282-9FA1-DD81F2CBB08E}"/>
              </a:ext>
            </a:extLst>
          </p:cNvPr>
          <p:cNvSpPr txBox="1"/>
          <p:nvPr/>
        </p:nvSpPr>
        <p:spPr>
          <a:xfrm>
            <a:off x="4347033" y="4747927"/>
            <a:ext cx="530915" cy="230832"/>
          </a:xfrm>
          <a:prstGeom prst="rect">
            <a:avLst/>
          </a:prstGeom>
          <a:noFill/>
        </p:spPr>
        <p:txBody>
          <a:bodyPr wrap="none" rtlCol="0">
            <a:spAutoFit/>
          </a:bodyPr>
          <a:lstStyle/>
          <a:p>
            <a:r>
              <a:rPr lang="ja-JP" altLang="en-US" sz="900" b="1"/>
              <a:t>有体物</a:t>
            </a:r>
            <a:endParaRPr kumimoji="1" lang="ja-JP" altLang="en-US" sz="900" b="1"/>
          </a:p>
        </p:txBody>
      </p:sp>
      <p:cxnSp>
        <p:nvCxnSpPr>
          <p:cNvPr id="88" name="直線矢印コネクタ 87">
            <a:extLst>
              <a:ext uri="{FF2B5EF4-FFF2-40B4-BE49-F238E27FC236}">
                <a16:creationId xmlns:a16="http://schemas.microsoft.com/office/drawing/2014/main" id="{EDFC972B-68D6-F5A4-765F-73051C5C2407}"/>
              </a:ext>
            </a:extLst>
          </p:cNvPr>
          <p:cNvCxnSpPr>
            <a:cxnSpLocks/>
            <a:stCxn id="86" idx="2"/>
            <a:endCxn id="82" idx="6"/>
          </p:cNvCxnSpPr>
          <p:nvPr/>
        </p:nvCxnSpPr>
        <p:spPr>
          <a:xfrm flipH="1" flipV="1">
            <a:off x="3198672" y="3597726"/>
            <a:ext cx="1294638" cy="104221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89" name="直線矢印コネクタ 88">
            <a:extLst>
              <a:ext uri="{FF2B5EF4-FFF2-40B4-BE49-F238E27FC236}">
                <a16:creationId xmlns:a16="http://schemas.microsoft.com/office/drawing/2014/main" id="{E7B5871F-063F-F072-1DD1-BD1CBEA0705E}"/>
              </a:ext>
            </a:extLst>
          </p:cNvPr>
          <p:cNvCxnSpPr>
            <a:cxnSpLocks/>
            <a:stCxn id="78" idx="2"/>
            <a:endCxn id="82" idx="6"/>
          </p:cNvCxnSpPr>
          <p:nvPr/>
        </p:nvCxnSpPr>
        <p:spPr>
          <a:xfrm flipH="1" flipV="1">
            <a:off x="3198672" y="3597726"/>
            <a:ext cx="1310007" cy="177609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0" name="直線矢印コネクタ 89">
            <a:extLst>
              <a:ext uri="{FF2B5EF4-FFF2-40B4-BE49-F238E27FC236}">
                <a16:creationId xmlns:a16="http://schemas.microsoft.com/office/drawing/2014/main" id="{64D9E810-3DD4-7CBD-14D5-6C25A188221E}"/>
              </a:ext>
            </a:extLst>
          </p:cNvPr>
          <p:cNvCxnSpPr>
            <a:cxnSpLocks/>
            <a:stCxn id="79" idx="2"/>
            <a:endCxn id="82" idx="6"/>
          </p:cNvCxnSpPr>
          <p:nvPr/>
        </p:nvCxnSpPr>
        <p:spPr>
          <a:xfrm flipH="1" flipV="1">
            <a:off x="3198672" y="3597726"/>
            <a:ext cx="1302322" cy="30833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1" name="直線矢印コネクタ 90">
            <a:extLst>
              <a:ext uri="{FF2B5EF4-FFF2-40B4-BE49-F238E27FC236}">
                <a16:creationId xmlns:a16="http://schemas.microsoft.com/office/drawing/2014/main" id="{F3ABF083-5FF3-99C2-1E7A-DA71FEAF7F88}"/>
              </a:ext>
            </a:extLst>
          </p:cNvPr>
          <p:cNvCxnSpPr>
            <a:cxnSpLocks/>
            <a:stCxn id="78" idx="2"/>
            <a:endCxn id="84" idx="6"/>
          </p:cNvCxnSpPr>
          <p:nvPr/>
        </p:nvCxnSpPr>
        <p:spPr>
          <a:xfrm flipH="1" flipV="1">
            <a:off x="3204128" y="5082200"/>
            <a:ext cx="1304551" cy="291617"/>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2" name="曲線コネクタ 91">
            <a:extLst>
              <a:ext uri="{FF2B5EF4-FFF2-40B4-BE49-F238E27FC236}">
                <a16:creationId xmlns:a16="http://schemas.microsoft.com/office/drawing/2014/main" id="{EE69635E-D0EC-038E-B59A-42BB7BB63016}"/>
              </a:ext>
            </a:extLst>
          </p:cNvPr>
          <p:cNvCxnSpPr>
            <a:stCxn id="78" idx="6"/>
            <a:endCxn id="86" idx="6"/>
          </p:cNvCxnSpPr>
          <p:nvPr/>
        </p:nvCxnSpPr>
        <p:spPr>
          <a:xfrm flipH="1" flipV="1">
            <a:off x="4708463" y="4639937"/>
            <a:ext cx="15369" cy="733880"/>
          </a:xfrm>
          <a:prstGeom prst="curvedConnector3">
            <a:avLst>
              <a:gd name="adj1" fmla="val -1487410"/>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3" name="曲線コネクタ 92">
            <a:extLst>
              <a:ext uri="{FF2B5EF4-FFF2-40B4-BE49-F238E27FC236}">
                <a16:creationId xmlns:a16="http://schemas.microsoft.com/office/drawing/2014/main" id="{BEA0EDE6-B5F6-5FCC-E2BC-EB1C25D326BF}"/>
              </a:ext>
            </a:extLst>
          </p:cNvPr>
          <p:cNvCxnSpPr>
            <a:cxnSpLocks/>
            <a:stCxn id="78" idx="6"/>
            <a:endCxn id="79" idx="6"/>
          </p:cNvCxnSpPr>
          <p:nvPr/>
        </p:nvCxnSpPr>
        <p:spPr>
          <a:xfrm flipH="1" flipV="1">
            <a:off x="4716147" y="3906057"/>
            <a:ext cx="7685" cy="1467760"/>
          </a:xfrm>
          <a:prstGeom prst="curvedConnector3">
            <a:avLst>
              <a:gd name="adj1" fmla="val -2974626"/>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94" name="テキスト ボックス 93">
            <a:extLst>
              <a:ext uri="{FF2B5EF4-FFF2-40B4-BE49-F238E27FC236}">
                <a16:creationId xmlns:a16="http://schemas.microsoft.com/office/drawing/2014/main" id="{14A7DAC0-F4ED-D8B9-9D96-78D0A42F2CDD}"/>
              </a:ext>
            </a:extLst>
          </p:cNvPr>
          <p:cNvSpPr txBox="1"/>
          <p:nvPr/>
        </p:nvSpPr>
        <p:spPr>
          <a:xfrm>
            <a:off x="3230278" y="6089689"/>
            <a:ext cx="1800493" cy="523220"/>
          </a:xfrm>
          <a:prstGeom prst="rect">
            <a:avLst/>
          </a:prstGeom>
          <a:noFill/>
        </p:spPr>
        <p:txBody>
          <a:bodyPr wrap="none" rtlCol="0">
            <a:spAutoFit/>
          </a:bodyPr>
          <a:lstStyle/>
          <a:p>
            <a:r>
              <a:rPr kumimoji="1" lang="en-US" altLang="ja-JP" sz="1400" dirty="0"/>
              <a:t>Knowledge Graph</a:t>
            </a:r>
          </a:p>
          <a:p>
            <a:r>
              <a:rPr lang="ja-JP" altLang="en-US" sz="1400"/>
              <a:t>（キュレーション）</a:t>
            </a:r>
            <a:endParaRPr kumimoji="1" lang="ja-JP" altLang="en-US" sz="1400"/>
          </a:p>
        </p:txBody>
      </p:sp>
      <p:sp>
        <p:nvSpPr>
          <p:cNvPr id="95" name="正方形/長方形 94">
            <a:extLst>
              <a:ext uri="{FF2B5EF4-FFF2-40B4-BE49-F238E27FC236}">
                <a16:creationId xmlns:a16="http://schemas.microsoft.com/office/drawing/2014/main" id="{363EC912-A9F4-5F93-08B6-40408C69005A}"/>
              </a:ext>
            </a:extLst>
          </p:cNvPr>
          <p:cNvSpPr/>
          <p:nvPr/>
        </p:nvSpPr>
        <p:spPr>
          <a:xfrm>
            <a:off x="7023227" y="3617876"/>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6" name="正方形/長方形 95">
            <a:extLst>
              <a:ext uri="{FF2B5EF4-FFF2-40B4-BE49-F238E27FC236}">
                <a16:creationId xmlns:a16="http://schemas.microsoft.com/office/drawing/2014/main" id="{7E316746-64EC-A1BC-ED98-05A7646F9A80}"/>
              </a:ext>
            </a:extLst>
          </p:cNvPr>
          <p:cNvSpPr/>
          <p:nvPr/>
        </p:nvSpPr>
        <p:spPr>
          <a:xfrm>
            <a:off x="7023227" y="4184803"/>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7" name="正方形/長方形 96">
            <a:extLst>
              <a:ext uri="{FF2B5EF4-FFF2-40B4-BE49-F238E27FC236}">
                <a16:creationId xmlns:a16="http://schemas.microsoft.com/office/drawing/2014/main" id="{577DEB4F-59D1-CD04-9662-D8EF81612D13}"/>
              </a:ext>
            </a:extLst>
          </p:cNvPr>
          <p:cNvSpPr/>
          <p:nvPr/>
        </p:nvSpPr>
        <p:spPr>
          <a:xfrm>
            <a:off x="7023227" y="4751730"/>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8" name="正方形/長方形 97">
            <a:extLst>
              <a:ext uri="{FF2B5EF4-FFF2-40B4-BE49-F238E27FC236}">
                <a16:creationId xmlns:a16="http://schemas.microsoft.com/office/drawing/2014/main" id="{A8399119-0B30-3D41-3492-03C56E2408AD}"/>
              </a:ext>
            </a:extLst>
          </p:cNvPr>
          <p:cNvSpPr/>
          <p:nvPr/>
        </p:nvSpPr>
        <p:spPr>
          <a:xfrm>
            <a:off x="7023227" y="5318657"/>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cxnSp>
        <p:nvCxnSpPr>
          <p:cNvPr id="99" name="直線矢印コネクタ 98">
            <a:extLst>
              <a:ext uri="{FF2B5EF4-FFF2-40B4-BE49-F238E27FC236}">
                <a16:creationId xmlns:a16="http://schemas.microsoft.com/office/drawing/2014/main" id="{8BAABACC-B2A9-0AD1-F336-6857026C532A}"/>
              </a:ext>
            </a:extLst>
          </p:cNvPr>
          <p:cNvCxnSpPr>
            <a:cxnSpLocks/>
            <a:stCxn id="114" idx="3"/>
            <a:endCxn id="98" idx="1"/>
          </p:cNvCxnSpPr>
          <p:nvPr/>
        </p:nvCxnSpPr>
        <p:spPr>
          <a:xfrm>
            <a:off x="6374995" y="4429828"/>
            <a:ext cx="648232" cy="997366"/>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00" name="テキスト ボックス 99">
            <a:extLst>
              <a:ext uri="{FF2B5EF4-FFF2-40B4-BE49-F238E27FC236}">
                <a16:creationId xmlns:a16="http://schemas.microsoft.com/office/drawing/2014/main" id="{58075EDB-8693-ED35-29B3-4D5A64C245A8}"/>
              </a:ext>
            </a:extLst>
          </p:cNvPr>
          <p:cNvSpPr txBox="1"/>
          <p:nvPr/>
        </p:nvSpPr>
        <p:spPr>
          <a:xfrm>
            <a:off x="6985589" y="5510899"/>
            <a:ext cx="606256" cy="230832"/>
          </a:xfrm>
          <a:prstGeom prst="rect">
            <a:avLst/>
          </a:prstGeom>
          <a:noFill/>
        </p:spPr>
        <p:txBody>
          <a:bodyPr wrap="none" rtlCol="0">
            <a:spAutoFit/>
          </a:bodyPr>
          <a:lstStyle/>
          <a:p>
            <a:r>
              <a:rPr kumimoji="1" lang="en-US" altLang="ja-JP" sz="900" b="1" dirty="0"/>
              <a:t>GIS-DB</a:t>
            </a:r>
            <a:endParaRPr kumimoji="1" lang="ja-JP" altLang="en-US" sz="900" b="1"/>
          </a:p>
        </p:txBody>
      </p:sp>
      <p:sp>
        <p:nvSpPr>
          <p:cNvPr id="101" name="テキスト ボックス 100">
            <a:extLst>
              <a:ext uri="{FF2B5EF4-FFF2-40B4-BE49-F238E27FC236}">
                <a16:creationId xmlns:a16="http://schemas.microsoft.com/office/drawing/2014/main" id="{1141F35F-6D60-39BC-BB29-AC0269E16072}"/>
              </a:ext>
            </a:extLst>
          </p:cNvPr>
          <p:cNvSpPr txBox="1"/>
          <p:nvPr/>
        </p:nvSpPr>
        <p:spPr>
          <a:xfrm>
            <a:off x="6940339" y="3814018"/>
            <a:ext cx="761747" cy="230832"/>
          </a:xfrm>
          <a:prstGeom prst="rect">
            <a:avLst/>
          </a:prstGeom>
          <a:noFill/>
        </p:spPr>
        <p:txBody>
          <a:bodyPr wrap="none" rtlCol="0">
            <a:spAutoFit/>
          </a:bodyPr>
          <a:lstStyle/>
          <a:p>
            <a:r>
              <a:rPr lang="ja-JP" altLang="en-US" sz="900" b="1"/>
              <a:t>リポジトリ</a:t>
            </a:r>
            <a:endParaRPr kumimoji="1" lang="ja-JP" altLang="en-US" sz="900" b="1"/>
          </a:p>
        </p:txBody>
      </p:sp>
      <p:sp>
        <p:nvSpPr>
          <p:cNvPr id="102" name="テキスト ボックス 101">
            <a:extLst>
              <a:ext uri="{FF2B5EF4-FFF2-40B4-BE49-F238E27FC236}">
                <a16:creationId xmlns:a16="http://schemas.microsoft.com/office/drawing/2014/main" id="{EE31930E-8384-A57B-215A-EF61C5248DD2}"/>
              </a:ext>
            </a:extLst>
          </p:cNvPr>
          <p:cNvSpPr txBox="1"/>
          <p:nvPr/>
        </p:nvSpPr>
        <p:spPr>
          <a:xfrm>
            <a:off x="6749696" y="3249403"/>
            <a:ext cx="1107996" cy="230832"/>
          </a:xfrm>
          <a:prstGeom prst="rect">
            <a:avLst/>
          </a:prstGeom>
          <a:noFill/>
        </p:spPr>
        <p:txBody>
          <a:bodyPr wrap="none" rtlCol="0">
            <a:spAutoFit/>
          </a:bodyPr>
          <a:lstStyle/>
          <a:p>
            <a:r>
              <a:rPr lang="ja-JP" altLang="en-US" sz="900" b="1"/>
              <a:t>データリポジトリ</a:t>
            </a:r>
            <a:endParaRPr kumimoji="1" lang="ja-JP" altLang="en-US" sz="900" b="1"/>
          </a:p>
        </p:txBody>
      </p:sp>
      <p:sp>
        <p:nvSpPr>
          <p:cNvPr id="103" name="テキスト ボックス 102">
            <a:extLst>
              <a:ext uri="{FF2B5EF4-FFF2-40B4-BE49-F238E27FC236}">
                <a16:creationId xmlns:a16="http://schemas.microsoft.com/office/drawing/2014/main" id="{7C532AD1-5CD4-81AD-033D-24A7D9569358}"/>
              </a:ext>
            </a:extLst>
          </p:cNvPr>
          <p:cNvSpPr txBox="1"/>
          <p:nvPr/>
        </p:nvSpPr>
        <p:spPr>
          <a:xfrm>
            <a:off x="6713427" y="4365383"/>
            <a:ext cx="1339264" cy="369332"/>
          </a:xfrm>
          <a:prstGeom prst="rect">
            <a:avLst/>
          </a:prstGeom>
          <a:noFill/>
        </p:spPr>
        <p:txBody>
          <a:bodyPr wrap="square" rtlCol="0">
            <a:spAutoFit/>
          </a:bodyPr>
          <a:lstStyle/>
          <a:p>
            <a:r>
              <a:rPr kumimoji="1" lang="ja-JP" altLang="en-US" sz="900" b="1"/>
              <a:t>有体物管理</a:t>
            </a:r>
            <a:r>
              <a:rPr kumimoji="1" lang="en-US" altLang="ja-JP" sz="900" b="1" dirty="0"/>
              <a:t>/</a:t>
            </a:r>
            <a:r>
              <a:rPr kumimoji="1" lang="ja-JP" altLang="en-US" sz="900" b="1"/>
              <a:t>トラッキングシステム</a:t>
            </a:r>
          </a:p>
        </p:txBody>
      </p:sp>
      <p:sp>
        <p:nvSpPr>
          <p:cNvPr id="104" name="正方形/長方形 103">
            <a:extLst>
              <a:ext uri="{FF2B5EF4-FFF2-40B4-BE49-F238E27FC236}">
                <a16:creationId xmlns:a16="http://schemas.microsoft.com/office/drawing/2014/main" id="{BFD02286-06BA-B7FB-B8EC-8CB5B05A7262}"/>
              </a:ext>
            </a:extLst>
          </p:cNvPr>
          <p:cNvSpPr/>
          <p:nvPr/>
        </p:nvSpPr>
        <p:spPr>
          <a:xfrm>
            <a:off x="7030911" y="5885583"/>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05" name="テキスト ボックス 104">
            <a:extLst>
              <a:ext uri="{FF2B5EF4-FFF2-40B4-BE49-F238E27FC236}">
                <a16:creationId xmlns:a16="http://schemas.microsoft.com/office/drawing/2014/main" id="{316A6EED-38B2-C89C-FEEB-E5D8CE4F3D40}"/>
              </a:ext>
            </a:extLst>
          </p:cNvPr>
          <p:cNvSpPr txBox="1"/>
          <p:nvPr/>
        </p:nvSpPr>
        <p:spPr>
          <a:xfrm>
            <a:off x="6931872" y="6088758"/>
            <a:ext cx="761747" cy="230832"/>
          </a:xfrm>
          <a:prstGeom prst="rect">
            <a:avLst/>
          </a:prstGeom>
          <a:noFill/>
        </p:spPr>
        <p:txBody>
          <a:bodyPr wrap="none" rtlCol="0">
            <a:spAutoFit/>
          </a:bodyPr>
          <a:lstStyle/>
          <a:p>
            <a:r>
              <a:rPr kumimoji="1" lang="ja-JP" altLang="en-US" sz="900" b="1"/>
              <a:t>キーワード</a:t>
            </a:r>
          </a:p>
        </p:txBody>
      </p:sp>
      <p:cxnSp>
        <p:nvCxnSpPr>
          <p:cNvPr id="106" name="直線矢印コネクタ 105">
            <a:extLst>
              <a:ext uri="{FF2B5EF4-FFF2-40B4-BE49-F238E27FC236}">
                <a16:creationId xmlns:a16="http://schemas.microsoft.com/office/drawing/2014/main" id="{EA61AC62-CE4F-4276-CFE2-F1B736B9B7C2}"/>
              </a:ext>
            </a:extLst>
          </p:cNvPr>
          <p:cNvCxnSpPr>
            <a:cxnSpLocks/>
            <a:stCxn id="78" idx="5"/>
            <a:endCxn id="104" idx="1"/>
          </p:cNvCxnSpPr>
          <p:nvPr/>
        </p:nvCxnSpPr>
        <p:spPr>
          <a:xfrm>
            <a:off x="4692324" y="5450564"/>
            <a:ext cx="2338587" cy="54355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07" name="直線矢印コネクタ 106">
            <a:extLst>
              <a:ext uri="{FF2B5EF4-FFF2-40B4-BE49-F238E27FC236}">
                <a16:creationId xmlns:a16="http://schemas.microsoft.com/office/drawing/2014/main" id="{DFBDB900-E25C-8330-5FB4-F9F9C797B7FF}"/>
              </a:ext>
            </a:extLst>
          </p:cNvPr>
          <p:cNvCxnSpPr>
            <a:cxnSpLocks/>
            <a:stCxn id="114" idx="3"/>
            <a:endCxn id="97" idx="1"/>
          </p:cNvCxnSpPr>
          <p:nvPr/>
        </p:nvCxnSpPr>
        <p:spPr>
          <a:xfrm>
            <a:off x="6374995" y="4429828"/>
            <a:ext cx="648232" cy="430439"/>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08" name="直線矢印コネクタ 107">
            <a:extLst>
              <a:ext uri="{FF2B5EF4-FFF2-40B4-BE49-F238E27FC236}">
                <a16:creationId xmlns:a16="http://schemas.microsoft.com/office/drawing/2014/main" id="{6B6CC6EE-D319-E45C-47FE-E07D7BF2E7B1}"/>
              </a:ext>
            </a:extLst>
          </p:cNvPr>
          <p:cNvCxnSpPr>
            <a:cxnSpLocks/>
            <a:stCxn id="114" idx="3"/>
            <a:endCxn id="96" idx="1"/>
          </p:cNvCxnSpPr>
          <p:nvPr/>
        </p:nvCxnSpPr>
        <p:spPr>
          <a:xfrm flipV="1">
            <a:off x="6374995" y="4293340"/>
            <a:ext cx="648232" cy="136488"/>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09" name="直線矢印コネクタ 108">
            <a:extLst>
              <a:ext uri="{FF2B5EF4-FFF2-40B4-BE49-F238E27FC236}">
                <a16:creationId xmlns:a16="http://schemas.microsoft.com/office/drawing/2014/main" id="{AB8C9C24-90ED-000A-B186-DCFEC5501E4F}"/>
              </a:ext>
            </a:extLst>
          </p:cNvPr>
          <p:cNvCxnSpPr>
            <a:cxnSpLocks/>
            <a:stCxn id="114" idx="3"/>
            <a:endCxn id="95" idx="1"/>
          </p:cNvCxnSpPr>
          <p:nvPr/>
        </p:nvCxnSpPr>
        <p:spPr>
          <a:xfrm flipV="1">
            <a:off x="6374995" y="3726413"/>
            <a:ext cx="648232" cy="703415"/>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10" name="正方形/長方形 109">
            <a:extLst>
              <a:ext uri="{FF2B5EF4-FFF2-40B4-BE49-F238E27FC236}">
                <a16:creationId xmlns:a16="http://schemas.microsoft.com/office/drawing/2014/main" id="{0EE09BFD-1730-3757-6C48-12C98347EF41}"/>
              </a:ext>
            </a:extLst>
          </p:cNvPr>
          <p:cNvSpPr/>
          <p:nvPr/>
        </p:nvSpPr>
        <p:spPr>
          <a:xfrm>
            <a:off x="7030911" y="3050949"/>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11" name="テキスト ボックス 110">
            <a:extLst>
              <a:ext uri="{FF2B5EF4-FFF2-40B4-BE49-F238E27FC236}">
                <a16:creationId xmlns:a16="http://schemas.microsoft.com/office/drawing/2014/main" id="{1D6995E0-1003-B075-10C9-1D49E6C9D4B4}"/>
              </a:ext>
            </a:extLst>
          </p:cNvPr>
          <p:cNvSpPr txBox="1"/>
          <p:nvPr/>
        </p:nvSpPr>
        <p:spPr>
          <a:xfrm>
            <a:off x="6884931" y="4943401"/>
            <a:ext cx="761747" cy="230832"/>
          </a:xfrm>
          <a:prstGeom prst="rect">
            <a:avLst/>
          </a:prstGeom>
          <a:noFill/>
        </p:spPr>
        <p:txBody>
          <a:bodyPr wrap="none" rtlCol="0">
            <a:spAutoFit/>
          </a:bodyPr>
          <a:lstStyle/>
          <a:p>
            <a:r>
              <a:rPr kumimoji="1" lang="ja-JP" altLang="en-US" sz="900" b="1"/>
              <a:t>研究者一覧</a:t>
            </a:r>
          </a:p>
        </p:txBody>
      </p:sp>
      <p:cxnSp>
        <p:nvCxnSpPr>
          <p:cNvPr id="112" name="直線矢印コネクタ 111">
            <a:extLst>
              <a:ext uri="{FF2B5EF4-FFF2-40B4-BE49-F238E27FC236}">
                <a16:creationId xmlns:a16="http://schemas.microsoft.com/office/drawing/2014/main" id="{A4968E4E-5A43-A15C-C55F-6822B43941CE}"/>
              </a:ext>
            </a:extLst>
          </p:cNvPr>
          <p:cNvCxnSpPr>
            <a:cxnSpLocks/>
            <a:stCxn id="114" idx="3"/>
            <a:endCxn id="110" idx="1"/>
          </p:cNvCxnSpPr>
          <p:nvPr/>
        </p:nvCxnSpPr>
        <p:spPr>
          <a:xfrm flipV="1">
            <a:off x="6374995" y="3159486"/>
            <a:ext cx="655916" cy="1270342"/>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13" name="テキスト ボックス 112">
            <a:extLst>
              <a:ext uri="{FF2B5EF4-FFF2-40B4-BE49-F238E27FC236}">
                <a16:creationId xmlns:a16="http://schemas.microsoft.com/office/drawing/2014/main" id="{5AE7FFE7-353E-DA7A-5765-F47CAC594911}"/>
              </a:ext>
            </a:extLst>
          </p:cNvPr>
          <p:cNvSpPr txBox="1"/>
          <p:nvPr/>
        </p:nvSpPr>
        <p:spPr>
          <a:xfrm rot="16200000">
            <a:off x="8046108" y="5283847"/>
            <a:ext cx="2319569" cy="338554"/>
          </a:xfrm>
          <a:prstGeom prst="rect">
            <a:avLst/>
          </a:prstGeom>
          <a:noFill/>
          <a:ln w="25400">
            <a:solidFill>
              <a:schemeClr val="accent6"/>
            </a:solidFill>
          </a:ln>
        </p:spPr>
        <p:txBody>
          <a:bodyPr wrap="square" rtlCol="0">
            <a:spAutoFit/>
          </a:bodyPr>
          <a:lstStyle/>
          <a:p>
            <a:pPr algn="ctr"/>
            <a:r>
              <a:rPr lang="ja-JP" altLang="en-US" sz="1600"/>
              <a:t>検索</a:t>
            </a:r>
            <a:r>
              <a:rPr kumimoji="1" lang="ja-JP" altLang="en-US" sz="1600"/>
              <a:t>インターフェイス</a:t>
            </a:r>
          </a:p>
        </p:txBody>
      </p:sp>
      <p:sp>
        <p:nvSpPr>
          <p:cNvPr id="114" name="正方形/長方形 113">
            <a:extLst>
              <a:ext uri="{FF2B5EF4-FFF2-40B4-BE49-F238E27FC236}">
                <a16:creationId xmlns:a16="http://schemas.microsoft.com/office/drawing/2014/main" id="{8D77D8E8-9A35-2903-E2BF-BB8C686C372D}"/>
              </a:ext>
            </a:extLst>
          </p:cNvPr>
          <p:cNvSpPr/>
          <p:nvPr/>
        </p:nvSpPr>
        <p:spPr>
          <a:xfrm>
            <a:off x="5829429" y="4321291"/>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5" name="テキスト ボックス 114">
            <a:extLst>
              <a:ext uri="{FF2B5EF4-FFF2-40B4-BE49-F238E27FC236}">
                <a16:creationId xmlns:a16="http://schemas.microsoft.com/office/drawing/2014/main" id="{979A120F-98AE-C53F-A9CD-D0BA32EE6EC4}"/>
              </a:ext>
            </a:extLst>
          </p:cNvPr>
          <p:cNvSpPr txBox="1"/>
          <p:nvPr/>
        </p:nvSpPr>
        <p:spPr>
          <a:xfrm>
            <a:off x="5616535" y="4546733"/>
            <a:ext cx="1003801" cy="230832"/>
          </a:xfrm>
          <a:prstGeom prst="rect">
            <a:avLst/>
          </a:prstGeom>
          <a:noFill/>
        </p:spPr>
        <p:txBody>
          <a:bodyPr wrap="none" rtlCol="0">
            <a:spAutoFit/>
          </a:bodyPr>
          <a:lstStyle/>
          <a:p>
            <a:r>
              <a:rPr lang="en-US" altLang="ja-JP" sz="900" b="1" dirty="0"/>
              <a:t>ID</a:t>
            </a:r>
            <a:r>
              <a:rPr lang="ja-JP" altLang="en-US" sz="900" b="1"/>
              <a:t>管理システム</a:t>
            </a:r>
            <a:endParaRPr kumimoji="1" lang="ja-JP" altLang="en-US" sz="900" b="1"/>
          </a:p>
        </p:txBody>
      </p:sp>
      <p:cxnSp>
        <p:nvCxnSpPr>
          <p:cNvPr id="116" name="直線矢印コネクタ 115">
            <a:extLst>
              <a:ext uri="{FF2B5EF4-FFF2-40B4-BE49-F238E27FC236}">
                <a16:creationId xmlns:a16="http://schemas.microsoft.com/office/drawing/2014/main" id="{6FA3DE59-CCE1-024A-0FE1-3EE44AB84B12}"/>
              </a:ext>
            </a:extLst>
          </p:cNvPr>
          <p:cNvCxnSpPr>
            <a:cxnSpLocks/>
            <a:stCxn id="84" idx="5"/>
            <a:endCxn id="114" idx="1"/>
          </p:cNvCxnSpPr>
          <p:nvPr/>
        </p:nvCxnSpPr>
        <p:spPr>
          <a:xfrm flipV="1">
            <a:off x="3172620" y="4429828"/>
            <a:ext cx="2656809" cy="729119"/>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7" name="直線矢印コネクタ 116">
            <a:extLst>
              <a:ext uri="{FF2B5EF4-FFF2-40B4-BE49-F238E27FC236}">
                <a16:creationId xmlns:a16="http://schemas.microsoft.com/office/drawing/2014/main" id="{11D6CC17-7CAC-6991-61B3-45C771322D7F}"/>
              </a:ext>
            </a:extLst>
          </p:cNvPr>
          <p:cNvCxnSpPr>
            <a:cxnSpLocks/>
            <a:stCxn id="78" idx="5"/>
            <a:endCxn id="114" idx="1"/>
          </p:cNvCxnSpPr>
          <p:nvPr/>
        </p:nvCxnSpPr>
        <p:spPr>
          <a:xfrm flipV="1">
            <a:off x="4692324" y="4429828"/>
            <a:ext cx="1137105" cy="102073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矢印コネクタ 117">
            <a:extLst>
              <a:ext uri="{FF2B5EF4-FFF2-40B4-BE49-F238E27FC236}">
                <a16:creationId xmlns:a16="http://schemas.microsoft.com/office/drawing/2014/main" id="{B092D014-E363-353C-73F5-704BEDD0951B}"/>
              </a:ext>
            </a:extLst>
          </p:cNvPr>
          <p:cNvCxnSpPr>
            <a:cxnSpLocks/>
            <a:stCxn id="82" idx="5"/>
            <a:endCxn id="114" idx="1"/>
          </p:cNvCxnSpPr>
          <p:nvPr/>
        </p:nvCxnSpPr>
        <p:spPr>
          <a:xfrm>
            <a:off x="3167164" y="3674473"/>
            <a:ext cx="2662265" cy="75535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9" name="直線矢印コネクタ 118">
            <a:extLst>
              <a:ext uri="{FF2B5EF4-FFF2-40B4-BE49-F238E27FC236}">
                <a16:creationId xmlns:a16="http://schemas.microsoft.com/office/drawing/2014/main" id="{15B236BB-1875-C69E-1AC6-D500F8383CA3}"/>
              </a:ext>
            </a:extLst>
          </p:cNvPr>
          <p:cNvCxnSpPr>
            <a:cxnSpLocks/>
            <a:stCxn id="86" idx="5"/>
            <a:endCxn id="114" idx="1"/>
          </p:cNvCxnSpPr>
          <p:nvPr/>
        </p:nvCxnSpPr>
        <p:spPr>
          <a:xfrm flipV="1">
            <a:off x="4676955" y="4429828"/>
            <a:ext cx="1152474" cy="28685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0" name="直線矢印コネクタ 119">
            <a:extLst>
              <a:ext uri="{FF2B5EF4-FFF2-40B4-BE49-F238E27FC236}">
                <a16:creationId xmlns:a16="http://schemas.microsoft.com/office/drawing/2014/main" id="{3486BED5-DA27-5D0D-E6B6-26A9B9656FF5}"/>
              </a:ext>
            </a:extLst>
          </p:cNvPr>
          <p:cNvCxnSpPr>
            <a:cxnSpLocks/>
            <a:stCxn id="79" idx="5"/>
            <a:endCxn id="114" idx="1"/>
          </p:cNvCxnSpPr>
          <p:nvPr/>
        </p:nvCxnSpPr>
        <p:spPr>
          <a:xfrm>
            <a:off x="4684639" y="3982804"/>
            <a:ext cx="1144790" cy="447024"/>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21" name="テキスト ボックス 120">
            <a:extLst>
              <a:ext uri="{FF2B5EF4-FFF2-40B4-BE49-F238E27FC236}">
                <a16:creationId xmlns:a16="http://schemas.microsoft.com/office/drawing/2014/main" id="{A36C807A-287B-461E-FA5E-3A836D8FB957}"/>
              </a:ext>
            </a:extLst>
          </p:cNvPr>
          <p:cNvSpPr txBox="1"/>
          <p:nvPr/>
        </p:nvSpPr>
        <p:spPr>
          <a:xfrm rot="16200000">
            <a:off x="7273197" y="4311367"/>
            <a:ext cx="2236510" cy="584775"/>
          </a:xfrm>
          <a:prstGeom prst="rect">
            <a:avLst/>
          </a:prstGeom>
          <a:noFill/>
        </p:spPr>
        <p:txBody>
          <a:bodyPr wrap="none" rtlCol="0">
            <a:spAutoFit/>
          </a:bodyPr>
          <a:lstStyle/>
          <a:p>
            <a:pPr algn="ctr"/>
            <a:r>
              <a:rPr kumimoji="1" lang="ja-JP" altLang="en-US" sz="1600"/>
              <a:t>コントロールプレーン</a:t>
            </a:r>
            <a:endParaRPr kumimoji="1" lang="en-US" altLang="ja-JP" sz="1600" dirty="0"/>
          </a:p>
          <a:p>
            <a:pPr algn="ctr"/>
            <a:r>
              <a:rPr lang="en-US" altLang="ja-JP" sz="1600" dirty="0" err="1"/>
              <a:t>IaC</a:t>
            </a:r>
            <a:endParaRPr kumimoji="1" lang="ja-JP" altLang="en-US" sz="1600"/>
          </a:p>
        </p:txBody>
      </p:sp>
      <p:sp>
        <p:nvSpPr>
          <p:cNvPr id="122" name="テキスト ボックス 121">
            <a:extLst>
              <a:ext uri="{FF2B5EF4-FFF2-40B4-BE49-F238E27FC236}">
                <a16:creationId xmlns:a16="http://schemas.microsoft.com/office/drawing/2014/main" id="{771C174D-171E-5ED4-3DE8-298A360BF520}"/>
              </a:ext>
            </a:extLst>
          </p:cNvPr>
          <p:cNvSpPr txBox="1"/>
          <p:nvPr/>
        </p:nvSpPr>
        <p:spPr>
          <a:xfrm>
            <a:off x="9637974" y="5828157"/>
            <a:ext cx="902811" cy="307777"/>
          </a:xfrm>
          <a:prstGeom prst="rect">
            <a:avLst/>
          </a:prstGeom>
          <a:noFill/>
        </p:spPr>
        <p:txBody>
          <a:bodyPr wrap="none" rtlCol="0">
            <a:spAutoFit/>
          </a:bodyPr>
          <a:lstStyle/>
          <a:p>
            <a:r>
              <a:rPr lang="ja-JP" altLang="en-US" sz="1400"/>
              <a:t>ユーザー</a:t>
            </a:r>
            <a:endParaRPr kumimoji="1" lang="ja-JP" altLang="en-US" sz="1400"/>
          </a:p>
        </p:txBody>
      </p:sp>
      <p:cxnSp>
        <p:nvCxnSpPr>
          <p:cNvPr id="123" name="直線矢印コネクタ 122">
            <a:extLst>
              <a:ext uri="{FF2B5EF4-FFF2-40B4-BE49-F238E27FC236}">
                <a16:creationId xmlns:a16="http://schemas.microsoft.com/office/drawing/2014/main" id="{09059E05-F44F-CD65-C851-E9AA4DD7034D}"/>
              </a:ext>
            </a:extLst>
          </p:cNvPr>
          <p:cNvCxnSpPr>
            <a:cxnSpLocks/>
          </p:cNvCxnSpPr>
          <p:nvPr/>
        </p:nvCxnSpPr>
        <p:spPr>
          <a:xfrm>
            <a:off x="5452859" y="3141063"/>
            <a:ext cx="4141757" cy="0"/>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24" name="テキスト ボックス 123">
            <a:extLst>
              <a:ext uri="{FF2B5EF4-FFF2-40B4-BE49-F238E27FC236}">
                <a16:creationId xmlns:a16="http://schemas.microsoft.com/office/drawing/2014/main" id="{D8901054-BCEF-7D09-BA98-C7A0AA212FA2}"/>
              </a:ext>
            </a:extLst>
          </p:cNvPr>
          <p:cNvSpPr txBox="1"/>
          <p:nvPr/>
        </p:nvSpPr>
        <p:spPr>
          <a:xfrm>
            <a:off x="9594616" y="2962587"/>
            <a:ext cx="1829433" cy="830997"/>
          </a:xfrm>
          <a:prstGeom prst="rect">
            <a:avLst/>
          </a:prstGeom>
          <a:noFill/>
        </p:spPr>
        <p:txBody>
          <a:bodyPr wrap="square" rtlCol="0">
            <a:spAutoFit/>
          </a:bodyPr>
          <a:lstStyle/>
          <a:p>
            <a:r>
              <a:rPr kumimoji="1" lang="en-US" altLang="ja-JP" sz="1200" dirty="0" err="1"/>
              <a:t>KGdump</a:t>
            </a:r>
            <a:r>
              <a:rPr kumimoji="1" lang="ja-JP" altLang="en-US" sz="1200" dirty="0" err="1"/>
              <a:t>：</a:t>
            </a:r>
            <a:endParaRPr lang="en-US" altLang="ja-JP" sz="1200" dirty="0"/>
          </a:p>
          <a:p>
            <a:r>
              <a:rPr lang="ja-JP" altLang="en-US" sz="1200"/>
              <a:t>ローカル</a:t>
            </a:r>
            <a:r>
              <a:rPr lang="en-US" altLang="ja-JP" sz="1200" dirty="0"/>
              <a:t>KG</a:t>
            </a:r>
            <a:r>
              <a:rPr lang="ja-JP" altLang="en-US" sz="1200"/>
              <a:t>のダンプ、複数</a:t>
            </a:r>
            <a:r>
              <a:rPr lang="en-US" altLang="ja-JP" sz="1200" dirty="0"/>
              <a:t>KG</a:t>
            </a:r>
            <a:r>
              <a:rPr lang="ja-JP" altLang="en-US" sz="1200"/>
              <a:t>の</a:t>
            </a:r>
            <a:r>
              <a:rPr lang="en-US" altLang="ja-JP" sz="1200" dirty="0"/>
              <a:t>join</a:t>
            </a:r>
            <a:r>
              <a:rPr lang="ja-JP" altLang="en-US" sz="1200"/>
              <a:t>を可能とする</a:t>
            </a:r>
            <a:endParaRPr kumimoji="1" lang="ja-JP" altLang="en-US" sz="1200"/>
          </a:p>
        </p:txBody>
      </p:sp>
      <p:sp>
        <p:nvSpPr>
          <p:cNvPr id="125" name="テキスト ボックス 124">
            <a:extLst>
              <a:ext uri="{FF2B5EF4-FFF2-40B4-BE49-F238E27FC236}">
                <a16:creationId xmlns:a16="http://schemas.microsoft.com/office/drawing/2014/main" id="{475B8916-3CE7-8CCD-433B-2ECD9CD743EA}"/>
              </a:ext>
            </a:extLst>
          </p:cNvPr>
          <p:cNvSpPr txBox="1"/>
          <p:nvPr/>
        </p:nvSpPr>
        <p:spPr>
          <a:xfrm rot="16200000">
            <a:off x="8483364" y="3402581"/>
            <a:ext cx="1442960" cy="338554"/>
          </a:xfrm>
          <a:prstGeom prst="rect">
            <a:avLst/>
          </a:prstGeom>
          <a:noFill/>
          <a:ln w="25400">
            <a:solidFill>
              <a:schemeClr val="accent6"/>
            </a:solidFill>
          </a:ln>
        </p:spPr>
        <p:txBody>
          <a:bodyPr wrap="square" rtlCol="0">
            <a:spAutoFit/>
          </a:bodyPr>
          <a:lstStyle/>
          <a:p>
            <a:pPr algn="ctr"/>
            <a:r>
              <a:rPr kumimoji="1" lang="ja-JP" altLang="en-US" sz="1600"/>
              <a:t>データ公開</a:t>
            </a:r>
          </a:p>
        </p:txBody>
      </p:sp>
      <p:cxnSp>
        <p:nvCxnSpPr>
          <p:cNvPr id="126" name="直線矢印コネクタ 125">
            <a:extLst>
              <a:ext uri="{FF2B5EF4-FFF2-40B4-BE49-F238E27FC236}">
                <a16:creationId xmlns:a16="http://schemas.microsoft.com/office/drawing/2014/main" id="{DB9F0D36-4E1B-3907-0CBF-ACE6A285552A}"/>
              </a:ext>
            </a:extLst>
          </p:cNvPr>
          <p:cNvCxnSpPr>
            <a:cxnSpLocks/>
            <a:stCxn id="86" idx="5"/>
            <a:endCxn id="104" idx="1"/>
          </p:cNvCxnSpPr>
          <p:nvPr/>
        </p:nvCxnSpPr>
        <p:spPr>
          <a:xfrm>
            <a:off x="4676955" y="4716684"/>
            <a:ext cx="2353956" cy="127743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7" name="直線矢印コネクタ 126">
            <a:extLst>
              <a:ext uri="{FF2B5EF4-FFF2-40B4-BE49-F238E27FC236}">
                <a16:creationId xmlns:a16="http://schemas.microsoft.com/office/drawing/2014/main" id="{9077665B-0D9F-8513-D9C5-4790B7FEB96C}"/>
              </a:ext>
            </a:extLst>
          </p:cNvPr>
          <p:cNvCxnSpPr>
            <a:cxnSpLocks/>
            <a:stCxn id="79" idx="5"/>
            <a:endCxn id="104" idx="1"/>
          </p:cNvCxnSpPr>
          <p:nvPr/>
        </p:nvCxnSpPr>
        <p:spPr>
          <a:xfrm>
            <a:off x="4684639" y="3982804"/>
            <a:ext cx="2346272" cy="201131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8" name="直線矢印コネクタ 127">
            <a:extLst>
              <a:ext uri="{FF2B5EF4-FFF2-40B4-BE49-F238E27FC236}">
                <a16:creationId xmlns:a16="http://schemas.microsoft.com/office/drawing/2014/main" id="{0F6F59DF-9B5A-56FB-29B2-520B10D12157}"/>
              </a:ext>
            </a:extLst>
          </p:cNvPr>
          <p:cNvCxnSpPr>
            <a:cxnSpLocks/>
            <a:stCxn id="84" idx="5"/>
            <a:endCxn id="104" idx="1"/>
          </p:cNvCxnSpPr>
          <p:nvPr/>
        </p:nvCxnSpPr>
        <p:spPr>
          <a:xfrm>
            <a:off x="3172620" y="5158947"/>
            <a:ext cx="3858291" cy="835173"/>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9" name="直線矢印コネクタ 128">
            <a:extLst>
              <a:ext uri="{FF2B5EF4-FFF2-40B4-BE49-F238E27FC236}">
                <a16:creationId xmlns:a16="http://schemas.microsoft.com/office/drawing/2014/main" id="{E62B933D-9ECA-C5EE-4FDC-1A2ADE683A25}"/>
              </a:ext>
            </a:extLst>
          </p:cNvPr>
          <p:cNvCxnSpPr>
            <a:cxnSpLocks/>
            <a:endCxn id="122" idx="1"/>
          </p:cNvCxnSpPr>
          <p:nvPr/>
        </p:nvCxnSpPr>
        <p:spPr>
          <a:xfrm>
            <a:off x="5452859" y="5981371"/>
            <a:ext cx="4185115" cy="675"/>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0" name="カギ線コネクタ 129">
            <a:extLst>
              <a:ext uri="{FF2B5EF4-FFF2-40B4-BE49-F238E27FC236}">
                <a16:creationId xmlns:a16="http://schemas.microsoft.com/office/drawing/2014/main" id="{8B1DA905-522F-B83C-73D2-F63C297B78EB}"/>
              </a:ext>
            </a:extLst>
          </p:cNvPr>
          <p:cNvCxnSpPr>
            <a:cxnSpLocks/>
            <a:stCxn id="121" idx="2"/>
            <a:endCxn id="124" idx="1"/>
          </p:cNvCxnSpPr>
          <p:nvPr/>
        </p:nvCxnSpPr>
        <p:spPr>
          <a:xfrm flipV="1">
            <a:off x="8683840" y="3378086"/>
            <a:ext cx="910776" cy="1225669"/>
          </a:xfrm>
          <a:prstGeom prst="bentConnector3">
            <a:avLst>
              <a:gd name="adj1" fmla="val 21740"/>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31" name="円/楕円 130">
            <a:extLst>
              <a:ext uri="{FF2B5EF4-FFF2-40B4-BE49-F238E27FC236}">
                <a16:creationId xmlns:a16="http://schemas.microsoft.com/office/drawing/2014/main" id="{8A369BF7-B989-D14B-9529-A591301B171B}"/>
              </a:ext>
            </a:extLst>
          </p:cNvPr>
          <p:cNvSpPr/>
          <p:nvPr/>
        </p:nvSpPr>
        <p:spPr>
          <a:xfrm>
            <a:off x="2978063" y="4231426"/>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2" name="テキスト ボックス 131">
            <a:extLst>
              <a:ext uri="{FF2B5EF4-FFF2-40B4-BE49-F238E27FC236}">
                <a16:creationId xmlns:a16="http://schemas.microsoft.com/office/drawing/2014/main" id="{479EE2E1-749A-EE78-F708-9B97BD88CECF}"/>
              </a:ext>
            </a:extLst>
          </p:cNvPr>
          <p:cNvSpPr txBox="1"/>
          <p:nvPr/>
        </p:nvSpPr>
        <p:spPr>
          <a:xfrm>
            <a:off x="2883858" y="3719424"/>
            <a:ext cx="415498" cy="230832"/>
          </a:xfrm>
          <a:prstGeom prst="rect">
            <a:avLst/>
          </a:prstGeom>
          <a:noFill/>
        </p:spPr>
        <p:txBody>
          <a:bodyPr wrap="none" rtlCol="0">
            <a:spAutoFit/>
          </a:bodyPr>
          <a:lstStyle/>
          <a:p>
            <a:r>
              <a:rPr kumimoji="1" lang="ja-JP" altLang="en-US" sz="900" b="1"/>
              <a:t>作者</a:t>
            </a:r>
          </a:p>
        </p:txBody>
      </p:sp>
      <p:cxnSp>
        <p:nvCxnSpPr>
          <p:cNvPr id="133" name="直線矢印コネクタ 132">
            <a:extLst>
              <a:ext uri="{FF2B5EF4-FFF2-40B4-BE49-F238E27FC236}">
                <a16:creationId xmlns:a16="http://schemas.microsoft.com/office/drawing/2014/main" id="{B48CB873-B187-880A-C2EC-E624B96C0E8A}"/>
              </a:ext>
            </a:extLst>
          </p:cNvPr>
          <p:cNvCxnSpPr>
            <a:cxnSpLocks/>
            <a:stCxn id="78" idx="2"/>
            <a:endCxn id="131" idx="6"/>
          </p:cNvCxnSpPr>
          <p:nvPr/>
        </p:nvCxnSpPr>
        <p:spPr>
          <a:xfrm flipH="1" flipV="1">
            <a:off x="3193216" y="4339963"/>
            <a:ext cx="1315463" cy="1033854"/>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4" name="直線矢印コネクタ 133">
            <a:extLst>
              <a:ext uri="{FF2B5EF4-FFF2-40B4-BE49-F238E27FC236}">
                <a16:creationId xmlns:a16="http://schemas.microsoft.com/office/drawing/2014/main" id="{0CFDA654-CB76-4840-4A4F-6FC4A23A2383}"/>
              </a:ext>
            </a:extLst>
          </p:cNvPr>
          <p:cNvCxnSpPr>
            <a:cxnSpLocks/>
            <a:stCxn id="131" idx="5"/>
            <a:endCxn id="114" idx="1"/>
          </p:cNvCxnSpPr>
          <p:nvPr/>
        </p:nvCxnSpPr>
        <p:spPr>
          <a:xfrm>
            <a:off x="3161708" y="4416710"/>
            <a:ext cx="2667721" cy="13118"/>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5" name="直線矢印コネクタ 134">
            <a:extLst>
              <a:ext uri="{FF2B5EF4-FFF2-40B4-BE49-F238E27FC236}">
                <a16:creationId xmlns:a16="http://schemas.microsoft.com/office/drawing/2014/main" id="{8F088135-1047-3FB9-15DC-411A9040DE3C}"/>
              </a:ext>
            </a:extLst>
          </p:cNvPr>
          <p:cNvCxnSpPr>
            <a:cxnSpLocks/>
            <a:stCxn id="79" idx="2"/>
            <a:endCxn id="131" idx="6"/>
          </p:cNvCxnSpPr>
          <p:nvPr/>
        </p:nvCxnSpPr>
        <p:spPr>
          <a:xfrm flipH="1">
            <a:off x="3193216" y="3906057"/>
            <a:ext cx="1307778" cy="433906"/>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6" name="直線矢印コネクタ 135">
            <a:extLst>
              <a:ext uri="{FF2B5EF4-FFF2-40B4-BE49-F238E27FC236}">
                <a16:creationId xmlns:a16="http://schemas.microsoft.com/office/drawing/2014/main" id="{1D222093-6A0C-1D31-3E88-B82DCEC6326C}"/>
              </a:ext>
            </a:extLst>
          </p:cNvPr>
          <p:cNvCxnSpPr>
            <a:cxnSpLocks/>
            <a:stCxn id="82" idx="5"/>
            <a:endCxn id="104" idx="1"/>
          </p:cNvCxnSpPr>
          <p:nvPr/>
        </p:nvCxnSpPr>
        <p:spPr>
          <a:xfrm>
            <a:off x="3167164" y="3674473"/>
            <a:ext cx="3863747" cy="2319647"/>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37" name="直線矢印コネクタ 136">
            <a:extLst>
              <a:ext uri="{FF2B5EF4-FFF2-40B4-BE49-F238E27FC236}">
                <a16:creationId xmlns:a16="http://schemas.microsoft.com/office/drawing/2014/main" id="{C4D5E505-922A-6586-76FE-CFD28D6FE776}"/>
              </a:ext>
            </a:extLst>
          </p:cNvPr>
          <p:cNvCxnSpPr>
            <a:cxnSpLocks/>
            <a:stCxn id="131" idx="5"/>
            <a:endCxn id="104" idx="1"/>
          </p:cNvCxnSpPr>
          <p:nvPr/>
        </p:nvCxnSpPr>
        <p:spPr>
          <a:xfrm>
            <a:off x="3161708" y="4416710"/>
            <a:ext cx="3869203" cy="1577410"/>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38" name="曲線コネクタ 137">
            <a:extLst>
              <a:ext uri="{FF2B5EF4-FFF2-40B4-BE49-F238E27FC236}">
                <a16:creationId xmlns:a16="http://schemas.microsoft.com/office/drawing/2014/main" id="{534B222D-E01E-9340-A602-FC54BBD27923}"/>
              </a:ext>
            </a:extLst>
          </p:cNvPr>
          <p:cNvCxnSpPr>
            <a:cxnSpLocks/>
            <a:stCxn id="110" idx="3"/>
            <a:endCxn id="104" idx="3"/>
          </p:cNvCxnSpPr>
          <p:nvPr/>
        </p:nvCxnSpPr>
        <p:spPr>
          <a:xfrm>
            <a:off x="7576477" y="3159486"/>
            <a:ext cx="12700" cy="2834634"/>
          </a:xfrm>
          <a:prstGeom prst="curvedConnector3">
            <a:avLst>
              <a:gd name="adj1" fmla="val 180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9" name="曲線コネクタ 138">
            <a:extLst>
              <a:ext uri="{FF2B5EF4-FFF2-40B4-BE49-F238E27FC236}">
                <a16:creationId xmlns:a16="http://schemas.microsoft.com/office/drawing/2014/main" id="{68435FC4-DBBA-9671-FFBD-FA6D371C92A1}"/>
              </a:ext>
            </a:extLst>
          </p:cNvPr>
          <p:cNvCxnSpPr>
            <a:cxnSpLocks/>
            <a:stCxn id="95" idx="3"/>
            <a:endCxn id="104" idx="3"/>
          </p:cNvCxnSpPr>
          <p:nvPr/>
        </p:nvCxnSpPr>
        <p:spPr>
          <a:xfrm>
            <a:off x="7568793" y="3726413"/>
            <a:ext cx="7684" cy="2267707"/>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0" name="曲線コネクタ 139">
            <a:extLst>
              <a:ext uri="{FF2B5EF4-FFF2-40B4-BE49-F238E27FC236}">
                <a16:creationId xmlns:a16="http://schemas.microsoft.com/office/drawing/2014/main" id="{72735D1D-C7DD-A122-5A4F-6CCD7049568C}"/>
              </a:ext>
            </a:extLst>
          </p:cNvPr>
          <p:cNvCxnSpPr>
            <a:cxnSpLocks/>
            <a:stCxn id="96" idx="3"/>
            <a:endCxn id="104" idx="3"/>
          </p:cNvCxnSpPr>
          <p:nvPr/>
        </p:nvCxnSpPr>
        <p:spPr>
          <a:xfrm>
            <a:off x="7568793" y="4293340"/>
            <a:ext cx="7684" cy="1700780"/>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1" name="曲線コネクタ 140">
            <a:extLst>
              <a:ext uri="{FF2B5EF4-FFF2-40B4-BE49-F238E27FC236}">
                <a16:creationId xmlns:a16="http://schemas.microsoft.com/office/drawing/2014/main" id="{77DDC61A-74C5-534D-80FD-13F4EB1B9848}"/>
              </a:ext>
            </a:extLst>
          </p:cNvPr>
          <p:cNvCxnSpPr>
            <a:cxnSpLocks/>
            <a:stCxn id="97" idx="3"/>
            <a:endCxn id="104" idx="3"/>
          </p:cNvCxnSpPr>
          <p:nvPr/>
        </p:nvCxnSpPr>
        <p:spPr>
          <a:xfrm>
            <a:off x="7568793" y="4860267"/>
            <a:ext cx="7684" cy="1133853"/>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2" name="曲線コネクタ 141">
            <a:extLst>
              <a:ext uri="{FF2B5EF4-FFF2-40B4-BE49-F238E27FC236}">
                <a16:creationId xmlns:a16="http://schemas.microsoft.com/office/drawing/2014/main" id="{F460CF87-6E82-C6AD-D48A-005DB82EB46F}"/>
              </a:ext>
            </a:extLst>
          </p:cNvPr>
          <p:cNvCxnSpPr>
            <a:cxnSpLocks/>
            <a:stCxn id="98" idx="3"/>
            <a:endCxn id="104" idx="3"/>
          </p:cNvCxnSpPr>
          <p:nvPr/>
        </p:nvCxnSpPr>
        <p:spPr>
          <a:xfrm>
            <a:off x="7568793" y="5427194"/>
            <a:ext cx="7684" cy="566926"/>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3" name="円/楕円 142">
            <a:extLst>
              <a:ext uri="{FF2B5EF4-FFF2-40B4-BE49-F238E27FC236}">
                <a16:creationId xmlns:a16="http://schemas.microsoft.com/office/drawing/2014/main" id="{E70D1513-C42C-D32F-76E8-11C202CD1FBD}"/>
              </a:ext>
            </a:extLst>
          </p:cNvPr>
          <p:cNvSpPr/>
          <p:nvPr/>
        </p:nvSpPr>
        <p:spPr>
          <a:xfrm>
            <a:off x="700273" y="288796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4" name="テキスト ボックス 143">
            <a:extLst>
              <a:ext uri="{FF2B5EF4-FFF2-40B4-BE49-F238E27FC236}">
                <a16:creationId xmlns:a16="http://schemas.microsoft.com/office/drawing/2014/main" id="{7CBB87B1-1997-AD1F-3F8F-63844CA7326B}"/>
              </a:ext>
            </a:extLst>
          </p:cNvPr>
          <p:cNvSpPr txBox="1"/>
          <p:nvPr/>
        </p:nvSpPr>
        <p:spPr>
          <a:xfrm>
            <a:off x="860242" y="2864064"/>
            <a:ext cx="732893" cy="276999"/>
          </a:xfrm>
          <a:prstGeom prst="rect">
            <a:avLst/>
          </a:prstGeom>
          <a:noFill/>
        </p:spPr>
        <p:txBody>
          <a:bodyPr wrap="none" rtlCol="0">
            <a:spAutoFit/>
          </a:bodyPr>
          <a:lstStyle/>
          <a:p>
            <a:r>
              <a:rPr kumimoji="1" lang="en-US" altLang="ja-JP" sz="1200" dirty="0"/>
              <a:t>: </a:t>
            </a:r>
            <a:r>
              <a:rPr kumimoji="1" lang="ja-JP" altLang="en-US" sz="1200"/>
              <a:t>ノード</a:t>
            </a:r>
          </a:p>
        </p:txBody>
      </p:sp>
      <p:sp>
        <p:nvSpPr>
          <p:cNvPr id="145" name="正方形/長方形 144">
            <a:extLst>
              <a:ext uri="{FF2B5EF4-FFF2-40B4-BE49-F238E27FC236}">
                <a16:creationId xmlns:a16="http://schemas.microsoft.com/office/drawing/2014/main" id="{89F552C5-E9E3-E772-06B7-11A15DD9BC8F}"/>
              </a:ext>
            </a:extLst>
          </p:cNvPr>
          <p:cNvSpPr/>
          <p:nvPr/>
        </p:nvSpPr>
        <p:spPr>
          <a:xfrm>
            <a:off x="697058" y="3169011"/>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6" name="テキスト ボックス 145">
            <a:extLst>
              <a:ext uri="{FF2B5EF4-FFF2-40B4-BE49-F238E27FC236}">
                <a16:creationId xmlns:a16="http://schemas.microsoft.com/office/drawing/2014/main" id="{3536CCDB-FD05-53D5-15EF-EEE92BA781E0}"/>
              </a:ext>
            </a:extLst>
          </p:cNvPr>
          <p:cNvSpPr txBox="1"/>
          <p:nvPr/>
        </p:nvSpPr>
        <p:spPr>
          <a:xfrm>
            <a:off x="1201450" y="3145114"/>
            <a:ext cx="798617" cy="276999"/>
          </a:xfrm>
          <a:prstGeom prst="rect">
            <a:avLst/>
          </a:prstGeom>
          <a:noFill/>
        </p:spPr>
        <p:txBody>
          <a:bodyPr wrap="none" rtlCol="0">
            <a:spAutoFit/>
          </a:bodyPr>
          <a:lstStyle/>
          <a:p>
            <a:r>
              <a:rPr lang="en-US" altLang="ja-JP" sz="1200" dirty="0"/>
              <a:t>: </a:t>
            </a:r>
            <a:r>
              <a:rPr lang="ja-JP" altLang="en-US" sz="1200"/>
              <a:t>外部</a:t>
            </a:r>
            <a:r>
              <a:rPr lang="en-US" altLang="ja-JP" sz="1200" dirty="0"/>
              <a:t>DB</a:t>
            </a:r>
            <a:endParaRPr kumimoji="1" lang="ja-JP" altLang="en-US" sz="1200"/>
          </a:p>
        </p:txBody>
      </p:sp>
      <p:sp>
        <p:nvSpPr>
          <p:cNvPr id="147" name="テキスト ボックス 146">
            <a:extLst>
              <a:ext uri="{FF2B5EF4-FFF2-40B4-BE49-F238E27FC236}">
                <a16:creationId xmlns:a16="http://schemas.microsoft.com/office/drawing/2014/main" id="{947E49C5-5904-146B-B6CA-77CE23009718}"/>
              </a:ext>
            </a:extLst>
          </p:cNvPr>
          <p:cNvSpPr txBox="1"/>
          <p:nvPr/>
        </p:nvSpPr>
        <p:spPr>
          <a:xfrm>
            <a:off x="539342" y="3481161"/>
            <a:ext cx="1648825" cy="1015663"/>
          </a:xfrm>
          <a:prstGeom prst="rect">
            <a:avLst/>
          </a:prstGeom>
          <a:noFill/>
        </p:spPr>
        <p:txBody>
          <a:bodyPr wrap="square" rtlCol="0">
            <a:spAutoFit/>
          </a:bodyPr>
          <a:lstStyle/>
          <a:p>
            <a:r>
              <a:rPr lang="ja-JP" altLang="en-US" sz="1200"/>
              <a:t>リンクポリシー</a:t>
            </a:r>
            <a:r>
              <a:rPr lang="en-US" altLang="ja-JP" sz="1200" dirty="0"/>
              <a:t>: </a:t>
            </a:r>
            <a:r>
              <a:rPr lang="ja-JP" altLang="en-US" sz="1200"/>
              <a:t>データセントリック</a:t>
            </a:r>
            <a:r>
              <a:rPr lang="en-US" altLang="ja-JP" sz="1200" dirty="0"/>
              <a:t> -&gt; </a:t>
            </a:r>
            <a:r>
              <a:rPr lang="ja-JP" altLang="en-US" sz="1200"/>
              <a:t>データソースから見えるものをそのままグラフ関係にする</a:t>
            </a:r>
            <a:endParaRPr kumimoji="1" lang="ja-JP" altLang="en-US" sz="1200"/>
          </a:p>
        </p:txBody>
      </p:sp>
    </p:spTree>
    <p:extLst>
      <p:ext uri="{BB962C8B-B14F-4D97-AF65-F5344CB8AC3E}">
        <p14:creationId xmlns:p14="http://schemas.microsoft.com/office/powerpoint/2010/main" val="4184773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671A9-9140-BC61-8FE0-C9F73551141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8D1088F-6712-10D9-D4B3-64DB271BE0A1}"/>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kumimoji="1" lang="en-US" altLang="ja-JP" sz="3600" dirty="0"/>
              <a:t>3</a:t>
            </a:r>
            <a:r>
              <a:rPr kumimoji="1" lang="ja-JP" altLang="en-US" sz="3600"/>
              <a:t>）</a:t>
            </a:r>
          </a:p>
        </p:txBody>
      </p:sp>
      <p:sp>
        <p:nvSpPr>
          <p:cNvPr id="5" name="テキスト ボックス 4">
            <a:extLst>
              <a:ext uri="{FF2B5EF4-FFF2-40B4-BE49-F238E27FC236}">
                <a16:creationId xmlns:a16="http://schemas.microsoft.com/office/drawing/2014/main" id="{4358CD7E-D579-6162-C3F7-79BD53BBD0DB}"/>
              </a:ext>
            </a:extLst>
          </p:cNvPr>
          <p:cNvSpPr txBox="1"/>
          <p:nvPr/>
        </p:nvSpPr>
        <p:spPr>
          <a:xfrm>
            <a:off x="-1" y="577517"/>
            <a:ext cx="12192000" cy="4801314"/>
          </a:xfrm>
          <a:prstGeom prst="rect">
            <a:avLst/>
          </a:prstGeom>
          <a:noFill/>
        </p:spPr>
        <p:txBody>
          <a:bodyPr wrap="square" rtlCol="0">
            <a:spAutoFit/>
          </a:bodyPr>
          <a:lstStyle/>
          <a:p>
            <a:r>
              <a:rPr lang="ja-JP" altLang="en-US"/>
              <a:t>文書（特に日本語）からの固有表現の抽出・判定に関して、</a:t>
            </a:r>
            <a:endParaRPr lang="en-US" altLang="ja-JP"/>
          </a:p>
          <a:p>
            <a:endParaRPr lang="en-US" altLang="ja-JP" b="1"/>
          </a:p>
          <a:p>
            <a:r>
              <a:rPr lang="ja-JP" altLang="en-US" b="1"/>
              <a:t>◾️</a:t>
            </a:r>
            <a:r>
              <a:rPr lang="en-US" altLang="ja-JP" b="1" dirty="0"/>
              <a:t>NER</a:t>
            </a:r>
            <a:r>
              <a:rPr lang="ja-JP" altLang="en-US" b="1"/>
              <a:t>の技術的課題</a:t>
            </a:r>
            <a:endParaRPr lang="en-US" altLang="ja-JP" b="1" dirty="0"/>
          </a:p>
          <a:p>
            <a:pPr marL="285750" indent="-285750">
              <a:buFont typeface="Arial" panose="020B0604020202020204" pitchFamily="34" charset="0"/>
              <a:buChar char="•"/>
            </a:pPr>
            <a:r>
              <a:rPr lang="ja-JP" altLang="en-US"/>
              <a:t>「地名」、「人名」、「固有現象名」等にかかる記述の特定（形態素の特徴量が十分か・正しいか）</a:t>
            </a:r>
            <a:endParaRPr lang="en-US" altLang="ja-JP"/>
          </a:p>
          <a:p>
            <a:pPr marL="742950" lvl="1" indent="-285750">
              <a:buFont typeface="Arial" panose="020B0604020202020204" pitchFamily="34" charset="0"/>
              <a:buChar char="•"/>
            </a:pPr>
            <a:r>
              <a:rPr lang="ja-JP" altLang="en-US"/>
              <a:t>例</a:t>
            </a:r>
            <a:r>
              <a:rPr lang="en-US" altLang="ja-JP"/>
              <a:t>: </a:t>
            </a:r>
            <a:r>
              <a:rPr lang="ja-JP" altLang="en-US"/>
              <a:t>人名を地名と特定する可能性が残る</a:t>
            </a:r>
            <a:endParaRPr lang="en-US" altLang="ja-JP" dirty="0"/>
          </a:p>
          <a:p>
            <a:pPr marL="285750" indent="-285750">
              <a:buFont typeface="Arial" panose="020B0604020202020204" pitchFamily="34" charset="0"/>
              <a:buChar char="•"/>
            </a:pPr>
            <a:r>
              <a:rPr lang="ja-JP" altLang="en-US"/>
              <a:t>特定する記述のレベル（複合語等）</a:t>
            </a:r>
            <a:endParaRPr lang="en-US" altLang="ja-JP" dirty="0"/>
          </a:p>
          <a:p>
            <a:pPr marL="742950" lvl="1" indent="-285750">
              <a:buFont typeface="Arial" panose="020B0604020202020204" pitchFamily="34" charset="0"/>
              <a:buChar char="•"/>
            </a:pPr>
            <a:r>
              <a:rPr lang="ja-JP" altLang="en-US"/>
              <a:t>トークンの上位判定（特定のトークン列を一つのトークンとして扱うか）</a:t>
            </a:r>
            <a:endParaRPr lang="en-US" altLang="ja-JP" dirty="0"/>
          </a:p>
          <a:p>
            <a:pPr marL="742950" lvl="1" indent="-285750">
              <a:buFont typeface="Arial" panose="020B0604020202020204" pitchFamily="34" charset="0"/>
              <a:buChar char="•"/>
            </a:pPr>
            <a:r>
              <a:rPr lang="ja-JP" altLang="en-US"/>
              <a:t>クラス付与（従来の</a:t>
            </a:r>
            <a:r>
              <a:rPr lang="en-US" altLang="ja-JP"/>
              <a:t>NER</a:t>
            </a:r>
            <a:r>
              <a:rPr lang="ja-JP" altLang="en-US"/>
              <a:t>にはないさらに上位の概念の付与）</a:t>
            </a:r>
            <a:endParaRPr lang="en-US" altLang="ja-JP" dirty="0"/>
          </a:p>
          <a:p>
            <a:endParaRPr lang="en-US" altLang="ja-JP" dirty="0"/>
          </a:p>
          <a:p>
            <a:r>
              <a:rPr lang="ja-JP" altLang="en-US" b="1"/>
              <a:t>◾️特に地名にかかる課題として</a:t>
            </a:r>
            <a:endParaRPr lang="en-US" altLang="ja-JP" b="1" dirty="0"/>
          </a:p>
          <a:p>
            <a:r>
              <a:rPr lang="ja-JP" altLang="en-US" b="1"/>
              <a:t>▪️名称そのもの</a:t>
            </a:r>
            <a:endParaRPr lang="en-US" altLang="ja-JP" b="1" dirty="0"/>
          </a:p>
          <a:p>
            <a:pPr marL="285750" indent="-285750">
              <a:buFont typeface="Arial" panose="020B0604020202020204" pitchFamily="34" charset="0"/>
              <a:buChar char="•"/>
            </a:pPr>
            <a:r>
              <a:rPr lang="ja-JP" altLang="en-US"/>
              <a:t>複数の同一の地名（ただし地理的な場所が異なる）の分離（曖昧性解決）</a:t>
            </a:r>
            <a:endParaRPr lang="en-US" altLang="ja-JP" dirty="0"/>
          </a:p>
          <a:p>
            <a:pPr marL="285750" indent="-285750">
              <a:buFont typeface="Arial" panose="020B0604020202020204" pitchFamily="34" charset="0"/>
              <a:buChar char="•"/>
            </a:pPr>
            <a:r>
              <a:rPr lang="ja-JP" altLang="en-US"/>
              <a:t>複合名詞の一部としての地名をどのように判定するか</a:t>
            </a:r>
            <a:endParaRPr lang="en-US" altLang="ja-JP" dirty="0"/>
          </a:p>
          <a:p>
            <a:endParaRPr lang="en-US" altLang="ja-JP" dirty="0"/>
          </a:p>
          <a:p>
            <a:r>
              <a:rPr lang="ja-JP" altLang="en-US" b="1"/>
              <a:t>▪️名称の関係性</a:t>
            </a:r>
            <a:endParaRPr lang="en-US" altLang="ja-JP" b="1" dirty="0"/>
          </a:p>
          <a:p>
            <a:pPr marL="285750" indent="-285750">
              <a:buFont typeface="Arial" panose="020B0604020202020204" pitchFamily="34" charset="0"/>
              <a:buChar char="•"/>
            </a:pPr>
            <a:r>
              <a:rPr lang="ja-JP" altLang="en-US"/>
              <a:t>文脈による関係性</a:t>
            </a:r>
            <a:endParaRPr lang="en-US" altLang="ja-JP" dirty="0"/>
          </a:p>
          <a:p>
            <a:pPr marL="285750" indent="-285750">
              <a:buFont typeface="Arial" panose="020B0604020202020204" pitchFamily="34" charset="0"/>
              <a:buChar char="•"/>
            </a:pPr>
            <a:r>
              <a:rPr lang="ja-JP" altLang="en-US"/>
              <a:t>地理的な関係性</a:t>
            </a:r>
            <a:endParaRPr lang="en-US" altLang="ja-JP" dirty="0"/>
          </a:p>
        </p:txBody>
      </p:sp>
    </p:spTree>
    <p:extLst>
      <p:ext uri="{BB962C8B-B14F-4D97-AF65-F5344CB8AC3E}">
        <p14:creationId xmlns:p14="http://schemas.microsoft.com/office/powerpoint/2010/main" val="33831244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62D95-6BB5-08C4-6C52-791A0EAD6D9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59F9B36-6E1B-F1B7-3CA0-607DD3CB503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関連</a:t>
            </a:r>
            <a:r>
              <a:rPr kumimoji="1" lang="ja-JP" altLang="en-US" sz="3600"/>
              <a:t>研究</a:t>
            </a:r>
          </a:p>
        </p:txBody>
      </p:sp>
      <p:sp>
        <p:nvSpPr>
          <p:cNvPr id="5" name="テキスト ボックス 4">
            <a:extLst>
              <a:ext uri="{FF2B5EF4-FFF2-40B4-BE49-F238E27FC236}">
                <a16:creationId xmlns:a16="http://schemas.microsoft.com/office/drawing/2014/main" id="{A11988AF-0076-B539-AA4D-FB9D86D4B661}"/>
              </a:ext>
            </a:extLst>
          </p:cNvPr>
          <p:cNvSpPr txBox="1"/>
          <p:nvPr/>
        </p:nvSpPr>
        <p:spPr>
          <a:xfrm>
            <a:off x="0" y="577517"/>
            <a:ext cx="12192000" cy="3970318"/>
          </a:xfrm>
          <a:prstGeom prst="rect">
            <a:avLst/>
          </a:prstGeom>
          <a:noFill/>
        </p:spPr>
        <p:txBody>
          <a:bodyPr wrap="square" rtlCol="0">
            <a:spAutoFit/>
          </a:bodyPr>
          <a:lstStyle/>
          <a:p>
            <a:pPr marL="285750" indent="-285750">
              <a:buFont typeface="Arial" panose="020B0604020202020204" pitchFamily="34" charset="0"/>
              <a:buChar char="•"/>
            </a:pPr>
            <a:r>
              <a:rPr lang="en" altLang="ja-JP" dirty="0"/>
              <a:t>Toponym resolution leveraging lightweight and open-source large language models and geo-knowledge. 2024.  (</a:t>
            </a:r>
            <a:r>
              <a:rPr lang="en" altLang="ja-JP" dirty="0">
                <a:hlinkClick r:id="rId2"/>
              </a:rPr>
              <a:t>https://www.tandfonline.com/doi/full/10.1080/13658816.2024.2405182</a:t>
            </a:r>
            <a:r>
              <a:rPr lang="en" altLang="ja-JP" dirty="0"/>
              <a:t>)</a:t>
            </a:r>
          </a:p>
          <a:p>
            <a:pPr marL="742950" lvl="1" indent="-285750">
              <a:buFont typeface="Arial" panose="020B0604020202020204" pitchFamily="34" charset="0"/>
              <a:buChar char="•"/>
            </a:pPr>
            <a:r>
              <a:rPr lang="ja-JP" altLang="en-US"/>
              <a:t>地名から地理的な位置を推定する</a:t>
            </a:r>
            <a:endParaRPr lang="en-US" altLang="ja-JP" dirty="0"/>
          </a:p>
          <a:p>
            <a:pPr marL="742950" lvl="1" indent="-285750">
              <a:buFont typeface="Arial" panose="020B0604020202020204" pitchFamily="34" charset="0"/>
              <a:buChar char="•"/>
            </a:pPr>
            <a:r>
              <a:rPr lang="en-US" altLang="ja-JP" dirty="0"/>
              <a:t>GIS</a:t>
            </a:r>
            <a:r>
              <a:rPr lang="ja-JP" altLang="en-US"/>
              <a:t>情報を使う</a:t>
            </a:r>
            <a:endParaRPr lang="en-US" altLang="ja-JP" dirty="0"/>
          </a:p>
          <a:p>
            <a:pPr marL="742950" lvl="1" indent="-285750">
              <a:buFont typeface="Arial" panose="020B0604020202020204" pitchFamily="34" charset="0"/>
              <a:buChar char="•"/>
            </a:pPr>
            <a:r>
              <a:rPr lang="ja-JP" altLang="en-US"/>
              <a:t>既存</a:t>
            </a:r>
            <a:r>
              <a:rPr lang="en-US" altLang="ja-JP" dirty="0"/>
              <a:t>LLM</a:t>
            </a:r>
            <a:r>
              <a:rPr lang="ja-JP" altLang="en-US"/>
              <a:t>を利用</a:t>
            </a:r>
            <a:endParaRPr lang="en-US" altLang="ja-JP" dirty="0"/>
          </a:p>
          <a:p>
            <a:pPr marL="285750" indent="-285750">
              <a:buFont typeface="Arial" panose="020B0604020202020204" pitchFamily="34" charset="0"/>
              <a:buChar char="•"/>
            </a:pPr>
            <a:r>
              <a:rPr lang="en" altLang="ja-JP" dirty="0"/>
              <a:t>Collective Named Entity Disambiguation using Graph Ranking and Clique Partitioning Approaches. 2014. (</a:t>
            </a:r>
            <a:r>
              <a:rPr lang="en" altLang="ja-JP" dirty="0">
                <a:hlinkClick r:id="rId3"/>
              </a:rPr>
              <a:t>https://aclanthology.org/C14-1147.pdf</a:t>
            </a:r>
            <a:r>
              <a:rPr lang="en" altLang="ja-JP" dirty="0"/>
              <a:t>)</a:t>
            </a:r>
          </a:p>
          <a:p>
            <a:pPr marL="742950" lvl="1" indent="-285750">
              <a:buFont typeface="Arial" panose="020B0604020202020204" pitchFamily="34" charset="0"/>
              <a:buChar char="•"/>
            </a:pPr>
            <a:r>
              <a:rPr lang="en-US" altLang="ja-JP" dirty="0"/>
              <a:t>Knowledge Base</a:t>
            </a:r>
            <a:r>
              <a:rPr lang="ja-JP" altLang="en-US"/>
              <a:t>（辞書）を利用</a:t>
            </a:r>
            <a:endParaRPr lang="en-US" altLang="ja-JP" dirty="0"/>
          </a:p>
          <a:p>
            <a:pPr marL="742950" lvl="1" indent="-285750">
              <a:buFont typeface="Arial" panose="020B0604020202020204" pitchFamily="34" charset="0"/>
              <a:buChar char="•"/>
            </a:pPr>
            <a:r>
              <a:rPr lang="ja-JP" altLang="en-US"/>
              <a:t>グラフ構造を解析（ノードが地名）</a:t>
            </a:r>
            <a:endParaRPr lang="en-US" altLang="ja-JP" dirty="0"/>
          </a:p>
          <a:p>
            <a:pPr marL="742950" lvl="1" indent="-285750">
              <a:buFont typeface="Arial" panose="020B0604020202020204" pitchFamily="34" charset="0"/>
              <a:buChar char="•"/>
            </a:pPr>
            <a:r>
              <a:rPr lang="ja-JP" altLang="en-US"/>
              <a:t>既存</a:t>
            </a:r>
            <a:r>
              <a:rPr lang="en-US" altLang="ja-JP" dirty="0"/>
              <a:t>LLM</a:t>
            </a:r>
            <a:r>
              <a:rPr lang="ja-JP" altLang="en-US"/>
              <a:t>を利用しない</a:t>
            </a:r>
            <a:endParaRPr lang="en-US" altLang="ja-JP" dirty="0"/>
          </a:p>
          <a:p>
            <a:pPr marL="285750" indent="-285750">
              <a:buFont typeface="Arial" panose="020B0604020202020204" pitchFamily="34" charset="0"/>
              <a:buChar char="•"/>
            </a:pPr>
            <a:r>
              <a:rPr lang="ja-JP" altLang="en-US"/>
              <a:t>歴史災害史料からの自動地名抽出に向けた自然言語処理システムの性能評価</a:t>
            </a:r>
            <a:r>
              <a:rPr lang="en-US" altLang="ja-JP" dirty="0"/>
              <a:t>. 2023. (https://</a:t>
            </a:r>
            <a:r>
              <a:rPr lang="en-US" altLang="ja-JP" dirty="0" err="1"/>
              <a:t>ipsj.ixsq.nii.ac.jp</a:t>
            </a:r>
            <a:r>
              <a:rPr lang="en-US" altLang="ja-JP" dirty="0"/>
              <a:t>/record/231338/files/IPSJ-CH2023003.pdf)</a:t>
            </a:r>
          </a:p>
          <a:p>
            <a:pPr marL="742950" lvl="1" indent="-285750">
              <a:buFont typeface="Arial" panose="020B0604020202020204" pitchFamily="34" charset="0"/>
              <a:buChar char="•"/>
            </a:pPr>
            <a:r>
              <a:rPr lang="ja-JP" altLang="en-US"/>
              <a:t>固有表現抽出と</a:t>
            </a:r>
            <a:r>
              <a:rPr lang="en-US" altLang="ja-JP" dirty="0"/>
              <a:t>LLM</a:t>
            </a:r>
            <a:r>
              <a:rPr lang="ja-JP" altLang="en-US"/>
              <a:t>に対して評価（連結利用は行なっていない）</a:t>
            </a:r>
            <a:endParaRPr lang="en-US" altLang="ja-JP" dirty="0"/>
          </a:p>
          <a:p>
            <a:pPr marL="742950" lvl="1" indent="-285750">
              <a:buFont typeface="Arial" panose="020B0604020202020204" pitchFamily="34" charset="0"/>
              <a:buChar char="•"/>
            </a:pPr>
            <a:r>
              <a:rPr lang="ja-JP" altLang="en-US"/>
              <a:t>「正解」に対する正答の評価</a:t>
            </a:r>
            <a:endParaRPr lang="en-US" altLang="ja-JP" dirty="0"/>
          </a:p>
        </p:txBody>
      </p:sp>
      <p:sp>
        <p:nvSpPr>
          <p:cNvPr id="3" name="テキスト ボックス 2">
            <a:extLst>
              <a:ext uri="{FF2B5EF4-FFF2-40B4-BE49-F238E27FC236}">
                <a16:creationId xmlns:a16="http://schemas.microsoft.com/office/drawing/2014/main" id="{AACCC8C1-61CC-DBD3-10A4-7D171D5FF268}"/>
              </a:ext>
            </a:extLst>
          </p:cNvPr>
          <p:cNvSpPr txBox="1"/>
          <p:nvPr/>
        </p:nvSpPr>
        <p:spPr>
          <a:xfrm>
            <a:off x="0" y="4803155"/>
            <a:ext cx="12192000" cy="1754326"/>
          </a:xfrm>
          <a:prstGeom prst="rect">
            <a:avLst/>
          </a:prstGeom>
          <a:noFill/>
        </p:spPr>
        <p:txBody>
          <a:bodyPr wrap="square" rtlCol="0">
            <a:spAutoFit/>
          </a:bodyPr>
          <a:lstStyle/>
          <a:p>
            <a:pPr marL="285750" indent="-285750">
              <a:buFont typeface="Wingdings" pitchFamily="2" charset="2"/>
              <a:buChar char="Ø"/>
            </a:pPr>
            <a:r>
              <a:rPr kumimoji="1" lang="ja-JP" altLang="en-US"/>
              <a:t>海外では地名から地理的な位置を特定する研究は典型的（</a:t>
            </a:r>
            <a:r>
              <a:rPr kumimoji="1" lang="en-US" altLang="ja-JP" dirty="0"/>
              <a:t>toponym</a:t>
            </a:r>
            <a:r>
              <a:rPr kumimoji="1" lang="ja-JP" altLang="en-US"/>
              <a:t>）</a:t>
            </a:r>
            <a:endParaRPr lang="en-US" altLang="ja-JP" dirty="0"/>
          </a:p>
          <a:p>
            <a:pPr marL="285750" indent="-285750">
              <a:buFont typeface="Wingdings" pitchFamily="2" charset="2"/>
              <a:buChar char="Ø"/>
            </a:pPr>
            <a:r>
              <a:rPr kumimoji="1" lang="ja-JP" altLang="en-US"/>
              <a:t>曖昧性解決においても地理情報と結びつけて行うものがほとんど</a:t>
            </a:r>
            <a:endParaRPr kumimoji="1" lang="en-US" altLang="ja-JP" dirty="0"/>
          </a:p>
          <a:p>
            <a:pPr marL="285750" indent="-285750">
              <a:buFont typeface="Wingdings" pitchFamily="2" charset="2"/>
              <a:buChar char="Ø"/>
            </a:pPr>
            <a:r>
              <a:rPr lang="ja-JP" altLang="en-US"/>
              <a:t>地理情報を利用しない曖昧性解決においては、近年には独自</a:t>
            </a:r>
            <a:r>
              <a:rPr lang="en-US" altLang="ja-JP" dirty="0"/>
              <a:t>NN</a:t>
            </a:r>
            <a:r>
              <a:rPr lang="ja-JP" altLang="en-US"/>
              <a:t>開発によるものが見受けられる</a:t>
            </a:r>
            <a:endParaRPr lang="en-US" altLang="ja-JP" dirty="0"/>
          </a:p>
          <a:p>
            <a:pPr marL="285750" indent="-285750">
              <a:buFont typeface="Wingdings" pitchFamily="2" charset="2"/>
              <a:buChar char="Ø"/>
            </a:pPr>
            <a:r>
              <a:rPr lang="ja-JP" altLang="en-US"/>
              <a:t>曖昧性解決において</a:t>
            </a:r>
            <a:r>
              <a:rPr kumimoji="1" lang="ja-JP" altLang="en-US"/>
              <a:t>一般的な</a:t>
            </a:r>
            <a:r>
              <a:rPr kumimoji="1" lang="en-US" altLang="ja-JP" dirty="0"/>
              <a:t>LLM</a:t>
            </a:r>
            <a:r>
              <a:rPr lang="ja-JP" altLang="en-US"/>
              <a:t>が用いられはじめたのはごく最近</a:t>
            </a:r>
            <a:endParaRPr lang="en-US" altLang="ja-JP" dirty="0"/>
          </a:p>
          <a:p>
            <a:pPr marL="285750" indent="-285750">
              <a:buFont typeface="Wingdings" pitchFamily="2" charset="2"/>
              <a:buChar char="Ø"/>
            </a:pPr>
            <a:r>
              <a:rPr lang="ja-JP" altLang="en-US"/>
              <a:t>地名と地名以外を含む幅広い固有表現の曖昧性解決も行われている</a:t>
            </a:r>
            <a:endParaRPr lang="en-US" altLang="ja-JP" dirty="0"/>
          </a:p>
          <a:p>
            <a:pPr marL="285750" indent="-285750">
              <a:buFont typeface="Wingdings" pitchFamily="2" charset="2"/>
              <a:buChar char="Ø"/>
            </a:pPr>
            <a:r>
              <a:rPr kumimoji="1" lang="ja-JP" altLang="en-US"/>
              <a:t>日本語における事例はほぼ見られない</a:t>
            </a:r>
            <a:endParaRPr kumimoji="1" lang="en-US" altLang="ja-JP" dirty="0"/>
          </a:p>
        </p:txBody>
      </p:sp>
    </p:spTree>
    <p:extLst>
      <p:ext uri="{BB962C8B-B14F-4D97-AF65-F5344CB8AC3E}">
        <p14:creationId xmlns:p14="http://schemas.microsoft.com/office/powerpoint/2010/main" val="25136169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47BAEF-ED48-AA28-A78E-6C005727713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531DFBF-5A22-D82C-DA39-238E0C1A317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目的</a:t>
            </a:r>
            <a:endParaRPr kumimoji="1" lang="ja-JP" altLang="en-US" sz="3600"/>
          </a:p>
        </p:txBody>
      </p:sp>
      <p:sp>
        <p:nvSpPr>
          <p:cNvPr id="5" name="テキスト ボックス 4">
            <a:extLst>
              <a:ext uri="{FF2B5EF4-FFF2-40B4-BE49-F238E27FC236}">
                <a16:creationId xmlns:a16="http://schemas.microsoft.com/office/drawing/2014/main" id="{2F2E5C55-83E2-107E-1378-E92140D4C437}"/>
              </a:ext>
            </a:extLst>
          </p:cNvPr>
          <p:cNvSpPr txBox="1"/>
          <p:nvPr/>
        </p:nvSpPr>
        <p:spPr>
          <a:xfrm>
            <a:off x="-1" y="577517"/>
            <a:ext cx="12192000" cy="1754326"/>
          </a:xfrm>
          <a:prstGeom prst="rect">
            <a:avLst/>
          </a:prstGeom>
          <a:noFill/>
        </p:spPr>
        <p:txBody>
          <a:bodyPr wrap="square" rtlCol="0">
            <a:spAutoFit/>
          </a:bodyPr>
          <a:lstStyle/>
          <a:p>
            <a:r>
              <a:rPr lang="ja-JP" altLang="en-US" b="1"/>
              <a:t>◾️文書からの地名の抽出に関して、技術的な課題を検討する</a:t>
            </a:r>
            <a:endParaRPr lang="en-US" altLang="ja-JP" b="1" dirty="0"/>
          </a:p>
          <a:p>
            <a:pPr marL="285750" indent="-285750">
              <a:buFont typeface="Arial" panose="020B0604020202020204" pitchFamily="34" charset="0"/>
              <a:buChar char="•"/>
            </a:pPr>
            <a:r>
              <a:rPr lang="ja-JP" altLang="en-US"/>
              <a:t>具体的には、日本語に対する</a:t>
            </a:r>
            <a:endParaRPr lang="en-US" altLang="ja-JP" dirty="0"/>
          </a:p>
          <a:p>
            <a:pPr marL="742950" lvl="1" indent="-285750">
              <a:buFont typeface="Arial" panose="020B0604020202020204" pitchFamily="34" charset="0"/>
              <a:buChar char="•"/>
            </a:pPr>
            <a:r>
              <a:rPr lang="ja-JP" altLang="en-US"/>
              <a:t>固有表現抽出の試行</a:t>
            </a:r>
            <a:endParaRPr lang="en-US" altLang="ja-JP" dirty="0"/>
          </a:p>
          <a:p>
            <a:pPr marL="742950" lvl="1" indent="-285750">
              <a:buFont typeface="Arial" panose="020B0604020202020204" pitchFamily="34" charset="0"/>
              <a:buChar char="•"/>
            </a:pPr>
            <a:r>
              <a:rPr lang="ja-JP" altLang="en-US"/>
              <a:t>抽出された固有表現の判定の試行</a:t>
            </a:r>
            <a:endParaRPr lang="en-US" altLang="ja-JP" dirty="0"/>
          </a:p>
          <a:p>
            <a:pPr marL="742950" lvl="1" indent="-285750">
              <a:buFont typeface="Arial" panose="020B0604020202020204" pitchFamily="34" charset="0"/>
              <a:buChar char="•"/>
            </a:pPr>
            <a:r>
              <a:rPr lang="ja-JP" altLang="en-US"/>
              <a:t>判定における問題の整理</a:t>
            </a:r>
            <a:endParaRPr lang="en-US" altLang="ja-JP" dirty="0"/>
          </a:p>
          <a:p>
            <a:pPr marL="285750" indent="-285750">
              <a:buFont typeface="Arial" panose="020B0604020202020204" pitchFamily="34" charset="0"/>
              <a:buChar char="•"/>
            </a:pPr>
            <a:r>
              <a:rPr lang="ja-JP" altLang="en-US"/>
              <a:t>近年利用しやすくなった学習済み</a:t>
            </a:r>
            <a:r>
              <a:rPr lang="en-US" altLang="ja-JP" dirty="0"/>
              <a:t>LLM</a:t>
            </a:r>
            <a:r>
              <a:rPr lang="ja-JP" altLang="en-US"/>
              <a:t>を用いることにより簡易な方法を模索する</a:t>
            </a:r>
            <a:endParaRPr lang="en-US" altLang="ja-JP" dirty="0"/>
          </a:p>
        </p:txBody>
      </p:sp>
    </p:spTree>
    <p:extLst>
      <p:ext uri="{BB962C8B-B14F-4D97-AF65-F5344CB8AC3E}">
        <p14:creationId xmlns:p14="http://schemas.microsoft.com/office/powerpoint/2010/main" val="23961156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A69AA-1FF6-E35B-D5AD-EF3CD814455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9D666D7-9F06-2E12-DB10-5A1262FC6390}"/>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マテリアル・方法（概要）</a:t>
            </a:r>
          </a:p>
        </p:txBody>
      </p:sp>
      <p:sp>
        <p:nvSpPr>
          <p:cNvPr id="3" name="テキスト ボックス 2">
            <a:extLst>
              <a:ext uri="{FF2B5EF4-FFF2-40B4-BE49-F238E27FC236}">
                <a16:creationId xmlns:a16="http://schemas.microsoft.com/office/drawing/2014/main" id="{6BB50100-A622-8930-2A37-AA9F2F67F023}"/>
              </a:ext>
            </a:extLst>
          </p:cNvPr>
          <p:cNvSpPr txBox="1"/>
          <p:nvPr/>
        </p:nvSpPr>
        <p:spPr>
          <a:xfrm>
            <a:off x="2264575" y="708325"/>
            <a:ext cx="1364476" cy="369332"/>
          </a:xfrm>
          <a:prstGeom prst="rect">
            <a:avLst/>
          </a:prstGeom>
          <a:noFill/>
          <a:ln>
            <a:solidFill>
              <a:schemeClr val="tx1"/>
            </a:solidFill>
          </a:ln>
        </p:spPr>
        <p:txBody>
          <a:bodyPr wrap="none" rtlCol="0" anchor="ctr">
            <a:spAutoFit/>
          </a:bodyPr>
          <a:lstStyle/>
          <a:p>
            <a:r>
              <a:rPr kumimoji="1" lang="en-US" altLang="ja-JP" dirty="0"/>
              <a:t>KAKEN DB</a:t>
            </a:r>
            <a:endParaRPr kumimoji="1" lang="ja-JP" altLang="en-US"/>
          </a:p>
        </p:txBody>
      </p:sp>
      <p:sp>
        <p:nvSpPr>
          <p:cNvPr id="4" name="テキスト ボックス 3">
            <a:extLst>
              <a:ext uri="{FF2B5EF4-FFF2-40B4-BE49-F238E27FC236}">
                <a16:creationId xmlns:a16="http://schemas.microsoft.com/office/drawing/2014/main" id="{50B5646A-820F-E60C-8230-4D0E4A410F3A}"/>
              </a:ext>
            </a:extLst>
          </p:cNvPr>
          <p:cNvSpPr txBox="1"/>
          <p:nvPr/>
        </p:nvSpPr>
        <p:spPr>
          <a:xfrm>
            <a:off x="1931151" y="1440873"/>
            <a:ext cx="2031325" cy="369332"/>
          </a:xfrm>
          <a:prstGeom prst="rect">
            <a:avLst/>
          </a:prstGeom>
          <a:noFill/>
          <a:ln>
            <a:solidFill>
              <a:schemeClr val="tx1"/>
            </a:solidFill>
          </a:ln>
        </p:spPr>
        <p:txBody>
          <a:bodyPr wrap="none" rtlCol="0" anchor="ctr">
            <a:spAutoFit/>
          </a:bodyPr>
          <a:lstStyle/>
          <a:p>
            <a:r>
              <a:rPr lang="ja-JP" altLang="en-US"/>
              <a:t>国立大学の報告書</a:t>
            </a:r>
            <a:endParaRPr lang="en-US" altLang="ja-JP" dirty="0"/>
          </a:p>
        </p:txBody>
      </p:sp>
      <p:sp>
        <p:nvSpPr>
          <p:cNvPr id="6" name="テキスト ボックス 5">
            <a:extLst>
              <a:ext uri="{FF2B5EF4-FFF2-40B4-BE49-F238E27FC236}">
                <a16:creationId xmlns:a16="http://schemas.microsoft.com/office/drawing/2014/main" id="{4AAEC8DF-7497-1AA4-07B3-498D72BB2882}"/>
              </a:ext>
            </a:extLst>
          </p:cNvPr>
          <p:cNvSpPr txBox="1"/>
          <p:nvPr/>
        </p:nvSpPr>
        <p:spPr>
          <a:xfrm>
            <a:off x="3103267" y="1763449"/>
            <a:ext cx="1199367" cy="369332"/>
          </a:xfrm>
          <a:prstGeom prst="rect">
            <a:avLst/>
          </a:prstGeom>
          <a:noFill/>
        </p:spPr>
        <p:txBody>
          <a:bodyPr wrap="none" rtlCol="0">
            <a:spAutoFit/>
          </a:bodyPr>
          <a:lstStyle/>
          <a:p>
            <a:r>
              <a:rPr kumimoji="1" lang="ja-JP" altLang="en-US"/>
              <a:t>大学数</a:t>
            </a:r>
            <a:r>
              <a:rPr kumimoji="1" lang="en-US" altLang="ja-JP" dirty="0"/>
              <a:t>:89</a:t>
            </a:r>
            <a:endParaRPr kumimoji="1" lang="ja-JP" altLang="en-US"/>
          </a:p>
        </p:txBody>
      </p:sp>
      <p:sp>
        <p:nvSpPr>
          <p:cNvPr id="7" name="テキスト ボックス 6">
            <a:extLst>
              <a:ext uri="{FF2B5EF4-FFF2-40B4-BE49-F238E27FC236}">
                <a16:creationId xmlns:a16="http://schemas.microsoft.com/office/drawing/2014/main" id="{8E09B076-FFAF-2715-DBD3-50DFFF469A70}"/>
              </a:ext>
            </a:extLst>
          </p:cNvPr>
          <p:cNvSpPr txBox="1"/>
          <p:nvPr/>
        </p:nvSpPr>
        <p:spPr>
          <a:xfrm>
            <a:off x="2559528" y="2173421"/>
            <a:ext cx="774571" cy="369332"/>
          </a:xfrm>
          <a:prstGeom prst="rect">
            <a:avLst/>
          </a:prstGeom>
          <a:noFill/>
          <a:ln>
            <a:solidFill>
              <a:schemeClr val="tx1"/>
            </a:solidFill>
          </a:ln>
        </p:spPr>
        <p:txBody>
          <a:bodyPr wrap="none" rtlCol="0" anchor="ctr">
            <a:spAutoFit/>
          </a:bodyPr>
          <a:lstStyle/>
          <a:p>
            <a:r>
              <a:rPr lang="en-US" altLang="ja-JP" dirty="0"/>
              <a:t>4</a:t>
            </a:r>
            <a:r>
              <a:rPr lang="ja-JP" altLang="en-US"/>
              <a:t>大学</a:t>
            </a:r>
            <a:endParaRPr lang="en-US" altLang="ja-JP" dirty="0"/>
          </a:p>
        </p:txBody>
      </p:sp>
      <p:sp>
        <p:nvSpPr>
          <p:cNvPr id="8" name="テキスト ボックス 7">
            <a:extLst>
              <a:ext uri="{FF2B5EF4-FFF2-40B4-BE49-F238E27FC236}">
                <a16:creationId xmlns:a16="http://schemas.microsoft.com/office/drawing/2014/main" id="{7860D382-58A5-C995-8FE8-E78F8C1B6F65}"/>
              </a:ext>
            </a:extLst>
          </p:cNvPr>
          <p:cNvSpPr txBox="1"/>
          <p:nvPr/>
        </p:nvSpPr>
        <p:spPr>
          <a:xfrm>
            <a:off x="1936761" y="2905969"/>
            <a:ext cx="2020105" cy="369332"/>
          </a:xfrm>
          <a:prstGeom prst="rect">
            <a:avLst/>
          </a:prstGeom>
          <a:noFill/>
          <a:ln>
            <a:solidFill>
              <a:schemeClr val="tx1"/>
            </a:solidFill>
          </a:ln>
        </p:spPr>
        <p:txBody>
          <a:bodyPr wrap="none" rtlCol="0" anchor="ctr">
            <a:spAutoFit/>
          </a:bodyPr>
          <a:lstStyle/>
          <a:p>
            <a:r>
              <a:rPr lang="en-US" altLang="ja-JP" dirty="0"/>
              <a:t>4</a:t>
            </a:r>
            <a:r>
              <a:rPr lang="ja-JP" altLang="en-US"/>
              <a:t>大学</a:t>
            </a:r>
            <a:r>
              <a:rPr lang="en-US" altLang="ja-JP" dirty="0"/>
              <a:t> </a:t>
            </a:r>
            <a:r>
              <a:rPr lang="ja-JP" altLang="en-US"/>
              <a:t>各</a:t>
            </a:r>
            <a:r>
              <a:rPr lang="en-US" altLang="ja-JP" dirty="0"/>
              <a:t>50</a:t>
            </a:r>
            <a:r>
              <a:rPr lang="ja-JP" altLang="en-US"/>
              <a:t>報告書</a:t>
            </a:r>
            <a:endParaRPr lang="en-US" altLang="ja-JP" dirty="0"/>
          </a:p>
        </p:txBody>
      </p:sp>
      <p:sp>
        <p:nvSpPr>
          <p:cNvPr id="9" name="テキスト ボックス 8">
            <a:extLst>
              <a:ext uri="{FF2B5EF4-FFF2-40B4-BE49-F238E27FC236}">
                <a16:creationId xmlns:a16="http://schemas.microsoft.com/office/drawing/2014/main" id="{F89577F0-2089-00FE-EA03-21ED65B32693}"/>
              </a:ext>
            </a:extLst>
          </p:cNvPr>
          <p:cNvSpPr txBox="1"/>
          <p:nvPr/>
        </p:nvSpPr>
        <p:spPr>
          <a:xfrm>
            <a:off x="892405" y="3638517"/>
            <a:ext cx="4108817" cy="369332"/>
          </a:xfrm>
          <a:prstGeom prst="rect">
            <a:avLst/>
          </a:prstGeom>
          <a:noFill/>
          <a:ln>
            <a:solidFill>
              <a:schemeClr val="tx1"/>
            </a:solidFill>
          </a:ln>
        </p:spPr>
        <p:txBody>
          <a:bodyPr wrap="none" rtlCol="0" anchor="ctr">
            <a:spAutoFit/>
          </a:bodyPr>
          <a:lstStyle/>
          <a:p>
            <a:r>
              <a:rPr lang="ja-JP" altLang="en-US" dirty="0"/>
              <a:t>研究課題名・本文および地名抽出結果</a:t>
            </a:r>
            <a:endParaRPr lang="en-US" altLang="ja-JP" dirty="0"/>
          </a:p>
        </p:txBody>
      </p:sp>
      <p:sp>
        <p:nvSpPr>
          <p:cNvPr id="10" name="テキスト ボックス 9">
            <a:extLst>
              <a:ext uri="{FF2B5EF4-FFF2-40B4-BE49-F238E27FC236}">
                <a16:creationId xmlns:a16="http://schemas.microsoft.com/office/drawing/2014/main" id="{32B48DCF-93FC-2971-C8C3-F07C62E80660}"/>
              </a:ext>
            </a:extLst>
          </p:cNvPr>
          <p:cNvSpPr txBox="1"/>
          <p:nvPr/>
        </p:nvSpPr>
        <p:spPr>
          <a:xfrm>
            <a:off x="784202" y="4371065"/>
            <a:ext cx="4325223" cy="369332"/>
          </a:xfrm>
          <a:prstGeom prst="rect">
            <a:avLst/>
          </a:prstGeom>
          <a:noFill/>
          <a:ln>
            <a:solidFill>
              <a:schemeClr val="tx1"/>
            </a:solidFill>
          </a:ln>
        </p:spPr>
        <p:txBody>
          <a:bodyPr wrap="none" rtlCol="0" anchor="ctr">
            <a:spAutoFit/>
          </a:bodyPr>
          <a:lstStyle/>
          <a:p>
            <a:r>
              <a:rPr lang="en-US" altLang="ja-JP" dirty="0"/>
              <a:t>AI</a:t>
            </a:r>
            <a:r>
              <a:rPr lang="ja-JP" altLang="en-US" dirty="0"/>
              <a:t>、人による地名抽出に対する判定結果</a:t>
            </a:r>
            <a:endParaRPr lang="en-US" altLang="ja-JP" dirty="0"/>
          </a:p>
        </p:txBody>
      </p:sp>
      <p:sp>
        <p:nvSpPr>
          <p:cNvPr id="12" name="テキスト ボックス 11">
            <a:extLst>
              <a:ext uri="{FF2B5EF4-FFF2-40B4-BE49-F238E27FC236}">
                <a16:creationId xmlns:a16="http://schemas.microsoft.com/office/drawing/2014/main" id="{E1C3C056-DB92-8A69-40B4-0B7693A57EB5}"/>
              </a:ext>
            </a:extLst>
          </p:cNvPr>
          <p:cNvSpPr txBox="1"/>
          <p:nvPr/>
        </p:nvSpPr>
        <p:spPr>
          <a:xfrm>
            <a:off x="3103267" y="3213854"/>
            <a:ext cx="870751" cy="369332"/>
          </a:xfrm>
          <a:prstGeom prst="rect">
            <a:avLst/>
          </a:prstGeom>
          <a:noFill/>
        </p:spPr>
        <p:txBody>
          <a:bodyPr wrap="none" rtlCol="0">
            <a:spAutoFit/>
          </a:bodyPr>
          <a:lstStyle/>
          <a:p>
            <a:r>
              <a:rPr kumimoji="1" lang="en-US" altLang="ja-JP"/>
              <a:t>n=200</a:t>
            </a:r>
            <a:endParaRPr kumimoji="1" lang="ja-JP" altLang="en-US"/>
          </a:p>
        </p:txBody>
      </p:sp>
      <p:sp>
        <p:nvSpPr>
          <p:cNvPr id="13" name="テキスト ボックス 12">
            <a:extLst>
              <a:ext uri="{FF2B5EF4-FFF2-40B4-BE49-F238E27FC236}">
                <a16:creationId xmlns:a16="http://schemas.microsoft.com/office/drawing/2014/main" id="{69A38594-91FB-000C-4611-09AD2E102CDF}"/>
              </a:ext>
            </a:extLst>
          </p:cNvPr>
          <p:cNvSpPr txBox="1"/>
          <p:nvPr/>
        </p:nvSpPr>
        <p:spPr>
          <a:xfrm>
            <a:off x="1167319" y="5103613"/>
            <a:ext cx="3558988" cy="369332"/>
          </a:xfrm>
          <a:prstGeom prst="rect">
            <a:avLst/>
          </a:prstGeom>
          <a:noFill/>
          <a:ln>
            <a:solidFill>
              <a:schemeClr val="tx1"/>
            </a:solidFill>
          </a:ln>
        </p:spPr>
        <p:txBody>
          <a:bodyPr wrap="none" rtlCol="0">
            <a:spAutoFit/>
          </a:bodyPr>
          <a:lstStyle/>
          <a:p>
            <a:r>
              <a:rPr lang="en-US" altLang="ja-JP" dirty="0"/>
              <a:t>2 AI</a:t>
            </a:r>
            <a:r>
              <a:rPr lang="ja-JP" altLang="en-US" dirty="0"/>
              <a:t>、</a:t>
            </a:r>
            <a:r>
              <a:rPr lang="en-US" altLang="ja-JP" dirty="0"/>
              <a:t>3 </a:t>
            </a:r>
            <a:r>
              <a:rPr lang="ja-JP" altLang="en-US" dirty="0"/>
              <a:t>名による判定結果を選抜</a:t>
            </a:r>
            <a:endParaRPr lang="en-US" altLang="ja-JP" dirty="0"/>
          </a:p>
        </p:txBody>
      </p:sp>
      <p:sp>
        <p:nvSpPr>
          <p:cNvPr id="17" name="テキスト ボックス 16">
            <a:extLst>
              <a:ext uri="{FF2B5EF4-FFF2-40B4-BE49-F238E27FC236}">
                <a16:creationId xmlns:a16="http://schemas.microsoft.com/office/drawing/2014/main" id="{0DB18FA9-66C9-A4BF-0B34-3A705D79ED9C}"/>
              </a:ext>
            </a:extLst>
          </p:cNvPr>
          <p:cNvSpPr txBox="1"/>
          <p:nvPr/>
        </p:nvSpPr>
        <p:spPr>
          <a:xfrm>
            <a:off x="3103267" y="4678950"/>
            <a:ext cx="998991" cy="369332"/>
          </a:xfrm>
          <a:prstGeom prst="rect">
            <a:avLst/>
          </a:prstGeom>
          <a:noFill/>
        </p:spPr>
        <p:txBody>
          <a:bodyPr wrap="none" rtlCol="0">
            <a:spAutoFit/>
          </a:bodyPr>
          <a:lstStyle/>
          <a:p>
            <a:r>
              <a:rPr kumimoji="1" lang="en-US" altLang="ja-JP"/>
              <a:t>n=1200</a:t>
            </a:r>
            <a:endParaRPr kumimoji="1" lang="ja-JP" altLang="en-US"/>
          </a:p>
        </p:txBody>
      </p:sp>
      <p:sp>
        <p:nvSpPr>
          <p:cNvPr id="18" name="テキスト ボックス 17">
            <a:extLst>
              <a:ext uri="{FF2B5EF4-FFF2-40B4-BE49-F238E27FC236}">
                <a16:creationId xmlns:a16="http://schemas.microsoft.com/office/drawing/2014/main" id="{DC038396-2409-3E57-A5A4-ADDB31A3F81E}"/>
              </a:ext>
            </a:extLst>
          </p:cNvPr>
          <p:cNvSpPr txBox="1"/>
          <p:nvPr/>
        </p:nvSpPr>
        <p:spPr>
          <a:xfrm>
            <a:off x="3103266" y="5411498"/>
            <a:ext cx="870751" cy="369332"/>
          </a:xfrm>
          <a:prstGeom prst="rect">
            <a:avLst/>
          </a:prstGeom>
          <a:noFill/>
        </p:spPr>
        <p:txBody>
          <a:bodyPr wrap="none" rtlCol="0">
            <a:spAutoFit/>
          </a:bodyPr>
          <a:lstStyle/>
          <a:p>
            <a:r>
              <a:rPr kumimoji="1" lang="en-US" altLang="ja-JP"/>
              <a:t>n=495</a:t>
            </a:r>
          </a:p>
        </p:txBody>
      </p:sp>
      <p:sp>
        <p:nvSpPr>
          <p:cNvPr id="19" name="テキスト ボックス 18">
            <a:extLst>
              <a:ext uri="{FF2B5EF4-FFF2-40B4-BE49-F238E27FC236}">
                <a16:creationId xmlns:a16="http://schemas.microsoft.com/office/drawing/2014/main" id="{789180A8-A51B-BD41-8770-60FBEF30712F}"/>
              </a:ext>
            </a:extLst>
          </p:cNvPr>
          <p:cNvSpPr txBox="1"/>
          <p:nvPr/>
        </p:nvSpPr>
        <p:spPr>
          <a:xfrm>
            <a:off x="2946813" y="5678743"/>
            <a:ext cx="2428870" cy="369332"/>
          </a:xfrm>
          <a:prstGeom prst="rect">
            <a:avLst/>
          </a:prstGeom>
          <a:noFill/>
        </p:spPr>
        <p:txBody>
          <a:bodyPr wrap="none" rtlCol="0">
            <a:spAutoFit/>
          </a:bodyPr>
          <a:lstStyle/>
          <a:p>
            <a:r>
              <a:rPr lang="ja-JP" altLang="en-US"/>
              <a:t>（</a:t>
            </a:r>
            <a:r>
              <a:rPr lang="en-US" altLang="ja-JP"/>
              <a:t>99</a:t>
            </a:r>
            <a:r>
              <a:rPr lang="ja-JP" altLang="en-US"/>
              <a:t>報告書</a:t>
            </a:r>
            <a:r>
              <a:rPr lang="en-US" altLang="ja-JP"/>
              <a:t> x 5</a:t>
            </a:r>
            <a:r>
              <a:rPr lang="ja-JP" altLang="en-US"/>
              <a:t>判定）</a:t>
            </a:r>
            <a:endParaRPr kumimoji="1" lang="en-US" altLang="ja-JP"/>
          </a:p>
        </p:txBody>
      </p:sp>
      <p:cxnSp>
        <p:nvCxnSpPr>
          <p:cNvPr id="21" name="直線コネクタ 20">
            <a:extLst>
              <a:ext uri="{FF2B5EF4-FFF2-40B4-BE49-F238E27FC236}">
                <a16:creationId xmlns:a16="http://schemas.microsoft.com/office/drawing/2014/main" id="{30156B95-4ECD-9152-E110-735989CE0A84}"/>
              </a:ext>
            </a:extLst>
          </p:cNvPr>
          <p:cNvCxnSpPr>
            <a:stCxn id="3" idx="2"/>
            <a:endCxn id="4" idx="0"/>
          </p:cNvCxnSpPr>
          <p:nvPr/>
        </p:nvCxnSpPr>
        <p:spPr>
          <a:xfrm>
            <a:off x="2946813" y="1077657"/>
            <a:ext cx="1" cy="363216"/>
          </a:xfrm>
          <a:prstGeom prst="line">
            <a:avLst/>
          </a:prstGeom>
        </p:spPr>
        <p:style>
          <a:lnRef idx="2">
            <a:schemeClr val="dk1"/>
          </a:lnRef>
          <a:fillRef idx="0">
            <a:schemeClr val="dk1"/>
          </a:fillRef>
          <a:effectRef idx="1">
            <a:schemeClr val="dk1"/>
          </a:effectRef>
          <a:fontRef idx="minor">
            <a:schemeClr val="tx1"/>
          </a:fontRef>
        </p:style>
      </p:cxnSp>
      <p:cxnSp>
        <p:nvCxnSpPr>
          <p:cNvPr id="23" name="直線コネクタ 22">
            <a:extLst>
              <a:ext uri="{FF2B5EF4-FFF2-40B4-BE49-F238E27FC236}">
                <a16:creationId xmlns:a16="http://schemas.microsoft.com/office/drawing/2014/main" id="{56F3E1CC-92BA-CA38-599C-064D6BA98C5D}"/>
              </a:ext>
            </a:extLst>
          </p:cNvPr>
          <p:cNvCxnSpPr>
            <a:stCxn id="4" idx="2"/>
            <a:endCxn id="7" idx="0"/>
          </p:cNvCxnSpPr>
          <p:nvPr/>
        </p:nvCxnSpPr>
        <p:spPr>
          <a:xfrm>
            <a:off x="2946814" y="1810205"/>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5" name="直線コネクタ 24">
            <a:extLst>
              <a:ext uri="{FF2B5EF4-FFF2-40B4-BE49-F238E27FC236}">
                <a16:creationId xmlns:a16="http://schemas.microsoft.com/office/drawing/2014/main" id="{49002F55-4D49-BD09-DBCE-6BB2C828947F}"/>
              </a:ext>
            </a:extLst>
          </p:cNvPr>
          <p:cNvCxnSpPr>
            <a:stCxn id="7" idx="2"/>
            <a:endCxn id="8" idx="0"/>
          </p:cNvCxnSpPr>
          <p:nvPr/>
        </p:nvCxnSpPr>
        <p:spPr>
          <a:xfrm>
            <a:off x="2946814" y="2542753"/>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6" name="直線コネクタ 25">
            <a:extLst>
              <a:ext uri="{FF2B5EF4-FFF2-40B4-BE49-F238E27FC236}">
                <a16:creationId xmlns:a16="http://schemas.microsoft.com/office/drawing/2014/main" id="{A3FB6594-FF6C-A8BC-C53A-719D46560A30}"/>
              </a:ext>
            </a:extLst>
          </p:cNvPr>
          <p:cNvCxnSpPr>
            <a:cxnSpLocks/>
            <a:stCxn id="8" idx="2"/>
            <a:endCxn id="9" idx="0"/>
          </p:cNvCxnSpPr>
          <p:nvPr/>
        </p:nvCxnSpPr>
        <p:spPr>
          <a:xfrm>
            <a:off x="2946814" y="3275301"/>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9" name="直線コネクタ 28">
            <a:extLst>
              <a:ext uri="{FF2B5EF4-FFF2-40B4-BE49-F238E27FC236}">
                <a16:creationId xmlns:a16="http://schemas.microsoft.com/office/drawing/2014/main" id="{80A92EC8-4485-8E05-D2FF-4ACB6682DD13}"/>
              </a:ext>
            </a:extLst>
          </p:cNvPr>
          <p:cNvCxnSpPr>
            <a:cxnSpLocks/>
            <a:stCxn id="9" idx="2"/>
            <a:endCxn id="10" idx="0"/>
          </p:cNvCxnSpPr>
          <p:nvPr/>
        </p:nvCxnSpPr>
        <p:spPr>
          <a:xfrm>
            <a:off x="2946814" y="4007849"/>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32" name="直線コネクタ 31">
            <a:extLst>
              <a:ext uri="{FF2B5EF4-FFF2-40B4-BE49-F238E27FC236}">
                <a16:creationId xmlns:a16="http://schemas.microsoft.com/office/drawing/2014/main" id="{D1C9201D-8E52-69F1-829D-A5264D734145}"/>
              </a:ext>
            </a:extLst>
          </p:cNvPr>
          <p:cNvCxnSpPr>
            <a:cxnSpLocks/>
            <a:stCxn id="10" idx="2"/>
            <a:endCxn id="13" idx="0"/>
          </p:cNvCxnSpPr>
          <p:nvPr/>
        </p:nvCxnSpPr>
        <p:spPr>
          <a:xfrm flipH="1">
            <a:off x="2946813" y="4740397"/>
            <a:ext cx="1" cy="363216"/>
          </a:xfrm>
          <a:prstGeom prst="line">
            <a:avLst/>
          </a:prstGeom>
        </p:spPr>
        <p:style>
          <a:lnRef idx="2">
            <a:schemeClr val="dk1"/>
          </a:lnRef>
          <a:fillRef idx="0">
            <a:schemeClr val="dk1"/>
          </a:fillRef>
          <a:effectRef idx="1">
            <a:schemeClr val="dk1"/>
          </a:effectRef>
          <a:fontRef idx="minor">
            <a:schemeClr val="tx1"/>
          </a:fontRef>
        </p:style>
      </p:cxnSp>
      <p:sp>
        <p:nvSpPr>
          <p:cNvPr id="35" name="テキスト ボックス 34">
            <a:extLst>
              <a:ext uri="{FF2B5EF4-FFF2-40B4-BE49-F238E27FC236}">
                <a16:creationId xmlns:a16="http://schemas.microsoft.com/office/drawing/2014/main" id="{29C9CE49-B4EE-88F2-97BF-161E83E4CD9C}"/>
              </a:ext>
            </a:extLst>
          </p:cNvPr>
          <p:cNvSpPr txBox="1"/>
          <p:nvPr/>
        </p:nvSpPr>
        <p:spPr>
          <a:xfrm>
            <a:off x="1301492" y="1868756"/>
            <a:ext cx="1723549" cy="276999"/>
          </a:xfrm>
          <a:prstGeom prst="rect">
            <a:avLst/>
          </a:prstGeom>
          <a:noFill/>
        </p:spPr>
        <p:txBody>
          <a:bodyPr wrap="none" rtlCol="0">
            <a:spAutoFit/>
          </a:bodyPr>
          <a:lstStyle/>
          <a:p>
            <a:r>
              <a:rPr kumimoji="1" lang="ja-JP" altLang="en-US" sz="1200"/>
              <a:t>ランダムサンプリング</a:t>
            </a:r>
          </a:p>
        </p:txBody>
      </p:sp>
      <p:sp>
        <p:nvSpPr>
          <p:cNvPr id="36" name="テキスト ボックス 35">
            <a:extLst>
              <a:ext uri="{FF2B5EF4-FFF2-40B4-BE49-F238E27FC236}">
                <a16:creationId xmlns:a16="http://schemas.microsoft.com/office/drawing/2014/main" id="{C6B897F6-20E5-015E-DD53-352FFDEF0FBC}"/>
              </a:ext>
            </a:extLst>
          </p:cNvPr>
          <p:cNvSpPr txBox="1"/>
          <p:nvPr/>
        </p:nvSpPr>
        <p:spPr>
          <a:xfrm>
            <a:off x="1301492" y="2582804"/>
            <a:ext cx="1723549" cy="276999"/>
          </a:xfrm>
          <a:prstGeom prst="rect">
            <a:avLst/>
          </a:prstGeom>
          <a:noFill/>
        </p:spPr>
        <p:txBody>
          <a:bodyPr wrap="none" rtlCol="0">
            <a:spAutoFit/>
          </a:bodyPr>
          <a:lstStyle/>
          <a:p>
            <a:r>
              <a:rPr kumimoji="1" lang="ja-JP" altLang="en-US" sz="1200"/>
              <a:t>ランダムサンプリング</a:t>
            </a:r>
          </a:p>
        </p:txBody>
      </p:sp>
      <p:sp>
        <p:nvSpPr>
          <p:cNvPr id="37" name="テキスト ボックス 36">
            <a:extLst>
              <a:ext uri="{FF2B5EF4-FFF2-40B4-BE49-F238E27FC236}">
                <a16:creationId xmlns:a16="http://schemas.microsoft.com/office/drawing/2014/main" id="{C123585A-FEBD-F0DA-5D6F-396CDC39E3B3}"/>
              </a:ext>
            </a:extLst>
          </p:cNvPr>
          <p:cNvSpPr txBox="1"/>
          <p:nvPr/>
        </p:nvSpPr>
        <p:spPr>
          <a:xfrm>
            <a:off x="1917045" y="3333852"/>
            <a:ext cx="1107996" cy="276999"/>
          </a:xfrm>
          <a:prstGeom prst="rect">
            <a:avLst/>
          </a:prstGeom>
          <a:noFill/>
        </p:spPr>
        <p:txBody>
          <a:bodyPr wrap="none" rtlCol="0">
            <a:spAutoFit/>
          </a:bodyPr>
          <a:lstStyle/>
          <a:p>
            <a:r>
              <a:rPr lang="ja-JP" altLang="en-US" sz="1200"/>
              <a:t>固有表現抽出</a:t>
            </a:r>
            <a:endParaRPr kumimoji="1" lang="ja-JP" altLang="en-US" sz="1200"/>
          </a:p>
        </p:txBody>
      </p:sp>
      <p:sp>
        <p:nvSpPr>
          <p:cNvPr id="38" name="テキスト ボックス 37">
            <a:extLst>
              <a:ext uri="{FF2B5EF4-FFF2-40B4-BE49-F238E27FC236}">
                <a16:creationId xmlns:a16="http://schemas.microsoft.com/office/drawing/2014/main" id="{B27C02FB-E947-3DBE-BEEB-E6AE50AC33DC}"/>
              </a:ext>
            </a:extLst>
          </p:cNvPr>
          <p:cNvSpPr txBox="1"/>
          <p:nvPr/>
        </p:nvSpPr>
        <p:spPr>
          <a:xfrm>
            <a:off x="1405687" y="4050957"/>
            <a:ext cx="1619354" cy="276999"/>
          </a:xfrm>
          <a:prstGeom prst="rect">
            <a:avLst/>
          </a:prstGeom>
          <a:noFill/>
        </p:spPr>
        <p:txBody>
          <a:bodyPr wrap="none" rtlCol="0">
            <a:spAutoFit/>
          </a:bodyPr>
          <a:lstStyle/>
          <a:p>
            <a:r>
              <a:rPr kumimoji="1" lang="en-US" altLang="ja-JP" sz="1200"/>
              <a:t>3 AI</a:t>
            </a:r>
            <a:r>
              <a:rPr kumimoji="1" lang="ja-JP" altLang="en-US" sz="1200"/>
              <a:t>と</a:t>
            </a:r>
            <a:r>
              <a:rPr kumimoji="1" lang="en-US" altLang="ja-JP" sz="1200"/>
              <a:t>3</a:t>
            </a:r>
            <a:r>
              <a:rPr kumimoji="1" lang="ja-JP" altLang="en-US" sz="1200"/>
              <a:t>名による判定</a:t>
            </a:r>
          </a:p>
        </p:txBody>
      </p:sp>
      <p:sp>
        <p:nvSpPr>
          <p:cNvPr id="39" name="テキスト ボックス 38">
            <a:extLst>
              <a:ext uri="{FF2B5EF4-FFF2-40B4-BE49-F238E27FC236}">
                <a16:creationId xmlns:a16="http://schemas.microsoft.com/office/drawing/2014/main" id="{6C859D4A-5B10-9425-3EF2-3241A55B330C}"/>
              </a:ext>
            </a:extLst>
          </p:cNvPr>
          <p:cNvSpPr txBox="1"/>
          <p:nvPr/>
        </p:nvSpPr>
        <p:spPr>
          <a:xfrm>
            <a:off x="1490647" y="4791014"/>
            <a:ext cx="1534394" cy="276999"/>
          </a:xfrm>
          <a:prstGeom prst="rect">
            <a:avLst/>
          </a:prstGeom>
          <a:noFill/>
        </p:spPr>
        <p:txBody>
          <a:bodyPr wrap="none" rtlCol="0">
            <a:spAutoFit/>
          </a:bodyPr>
          <a:lstStyle/>
          <a:p>
            <a:r>
              <a:rPr lang="en-US" altLang="ja-JP" sz="1200"/>
              <a:t>1</a:t>
            </a:r>
            <a:r>
              <a:rPr kumimoji="1" lang="en-US" altLang="ja-JP" sz="1200"/>
              <a:t> AI</a:t>
            </a:r>
            <a:r>
              <a:rPr kumimoji="1" lang="ja-JP" altLang="en-US" sz="1200"/>
              <a:t>の判定を対象外</a:t>
            </a:r>
          </a:p>
        </p:txBody>
      </p:sp>
      <p:sp>
        <p:nvSpPr>
          <p:cNvPr id="40" name="テキスト ボックス 39">
            <a:extLst>
              <a:ext uri="{FF2B5EF4-FFF2-40B4-BE49-F238E27FC236}">
                <a16:creationId xmlns:a16="http://schemas.microsoft.com/office/drawing/2014/main" id="{9E908830-F2F3-3057-F8BB-D959F4674191}"/>
              </a:ext>
            </a:extLst>
          </p:cNvPr>
          <p:cNvSpPr txBox="1"/>
          <p:nvPr/>
        </p:nvSpPr>
        <p:spPr>
          <a:xfrm>
            <a:off x="2277399" y="6088715"/>
            <a:ext cx="1338828" cy="369332"/>
          </a:xfrm>
          <a:prstGeom prst="rect">
            <a:avLst/>
          </a:prstGeom>
          <a:noFill/>
          <a:ln>
            <a:solidFill>
              <a:schemeClr val="tx1"/>
            </a:solidFill>
          </a:ln>
        </p:spPr>
        <p:txBody>
          <a:bodyPr wrap="none" rtlCol="0">
            <a:spAutoFit/>
          </a:bodyPr>
          <a:lstStyle/>
          <a:p>
            <a:r>
              <a:rPr lang="ja-JP" altLang="en-US" dirty="0"/>
              <a:t>地名の決定</a:t>
            </a:r>
            <a:endParaRPr lang="en-US" altLang="ja-JP" dirty="0"/>
          </a:p>
        </p:txBody>
      </p:sp>
      <p:cxnSp>
        <p:nvCxnSpPr>
          <p:cNvPr id="42" name="直線コネクタ 41">
            <a:extLst>
              <a:ext uri="{FF2B5EF4-FFF2-40B4-BE49-F238E27FC236}">
                <a16:creationId xmlns:a16="http://schemas.microsoft.com/office/drawing/2014/main" id="{295B1CD3-3B9B-D7B5-8EDB-BD5C4216A288}"/>
              </a:ext>
            </a:extLst>
          </p:cNvPr>
          <p:cNvCxnSpPr>
            <a:stCxn id="13" idx="2"/>
            <a:endCxn id="40" idx="0"/>
          </p:cNvCxnSpPr>
          <p:nvPr/>
        </p:nvCxnSpPr>
        <p:spPr>
          <a:xfrm>
            <a:off x="2946813" y="5472945"/>
            <a:ext cx="0" cy="615770"/>
          </a:xfrm>
          <a:prstGeom prst="line">
            <a:avLst/>
          </a:prstGeom>
        </p:spPr>
        <p:style>
          <a:lnRef idx="2">
            <a:schemeClr val="dk1"/>
          </a:lnRef>
          <a:fillRef idx="0">
            <a:schemeClr val="dk1"/>
          </a:fillRef>
          <a:effectRef idx="1">
            <a:schemeClr val="dk1"/>
          </a:effectRef>
          <a:fontRef idx="minor">
            <a:schemeClr val="tx1"/>
          </a:fontRef>
        </p:style>
      </p:cxnSp>
      <p:sp>
        <p:nvSpPr>
          <p:cNvPr id="43" name="テキスト ボックス 42">
            <a:extLst>
              <a:ext uri="{FF2B5EF4-FFF2-40B4-BE49-F238E27FC236}">
                <a16:creationId xmlns:a16="http://schemas.microsoft.com/office/drawing/2014/main" id="{A5FE4797-1CA8-53C0-69E7-FC5ED9495741}"/>
              </a:ext>
            </a:extLst>
          </p:cNvPr>
          <p:cNvSpPr txBox="1"/>
          <p:nvPr/>
        </p:nvSpPr>
        <p:spPr>
          <a:xfrm>
            <a:off x="2350976" y="5626353"/>
            <a:ext cx="646331" cy="276999"/>
          </a:xfrm>
          <a:prstGeom prst="rect">
            <a:avLst/>
          </a:prstGeom>
          <a:noFill/>
        </p:spPr>
        <p:txBody>
          <a:bodyPr wrap="none" rtlCol="0">
            <a:spAutoFit/>
          </a:bodyPr>
          <a:lstStyle/>
          <a:p>
            <a:r>
              <a:rPr kumimoji="1" lang="ja-JP" altLang="en-US" sz="1200"/>
              <a:t>多数決</a:t>
            </a:r>
          </a:p>
        </p:txBody>
      </p:sp>
      <p:sp>
        <p:nvSpPr>
          <p:cNvPr id="46" name="テキスト ボックス 45">
            <a:extLst>
              <a:ext uri="{FF2B5EF4-FFF2-40B4-BE49-F238E27FC236}">
                <a16:creationId xmlns:a16="http://schemas.microsoft.com/office/drawing/2014/main" id="{DE99B3DA-7EFF-84DC-119C-EE3965C33116}"/>
              </a:ext>
            </a:extLst>
          </p:cNvPr>
          <p:cNvSpPr txBox="1"/>
          <p:nvPr/>
        </p:nvSpPr>
        <p:spPr>
          <a:xfrm>
            <a:off x="8016240" y="1338244"/>
            <a:ext cx="2492990" cy="1754326"/>
          </a:xfrm>
          <a:prstGeom prst="rect">
            <a:avLst/>
          </a:prstGeom>
          <a:noFill/>
          <a:ln>
            <a:solidFill>
              <a:schemeClr val="dk1"/>
            </a:solidFill>
          </a:ln>
        </p:spPr>
        <p:txBody>
          <a:bodyPr wrap="none" rtlCol="0">
            <a:spAutoFit/>
          </a:bodyPr>
          <a:lstStyle/>
          <a:p>
            <a:r>
              <a:rPr kumimoji="1" lang="ja-JP" altLang="en-US"/>
              <a:t>修正の程度の差</a:t>
            </a:r>
            <a:endParaRPr kumimoji="1" lang="en-US" altLang="ja-JP"/>
          </a:p>
          <a:p>
            <a:r>
              <a:rPr lang="ja-JP" altLang="en-US"/>
              <a:t>・判定者による</a:t>
            </a:r>
            <a:endParaRPr lang="en-US" altLang="ja-JP"/>
          </a:p>
          <a:p>
            <a:r>
              <a:rPr lang="ja-JP" altLang="en-US"/>
              <a:t>　　・距離行列</a:t>
            </a:r>
            <a:endParaRPr lang="en-US" altLang="ja-JP"/>
          </a:p>
          <a:p>
            <a:r>
              <a:rPr lang="ja-JP" altLang="en-US"/>
              <a:t>　　・クラスタリング</a:t>
            </a:r>
            <a:endParaRPr lang="en-US" altLang="ja-JP"/>
          </a:p>
          <a:p>
            <a:r>
              <a:rPr kumimoji="1" lang="ja-JP" altLang="en-US"/>
              <a:t>・大学ごと</a:t>
            </a:r>
            <a:endParaRPr kumimoji="1" lang="en-US" altLang="ja-JP"/>
          </a:p>
          <a:p>
            <a:r>
              <a:rPr lang="ja-JP" altLang="en-US"/>
              <a:t>　　・検定</a:t>
            </a:r>
            <a:endParaRPr kumimoji="1" lang="ja-JP" altLang="en-US"/>
          </a:p>
        </p:txBody>
      </p:sp>
      <p:sp>
        <p:nvSpPr>
          <p:cNvPr id="48" name="テキスト ボックス 47">
            <a:extLst>
              <a:ext uri="{FF2B5EF4-FFF2-40B4-BE49-F238E27FC236}">
                <a16:creationId xmlns:a16="http://schemas.microsoft.com/office/drawing/2014/main" id="{0402A917-F530-F38F-A7F5-55EF0BA1801A}"/>
              </a:ext>
            </a:extLst>
          </p:cNvPr>
          <p:cNvSpPr txBox="1"/>
          <p:nvPr/>
        </p:nvSpPr>
        <p:spPr>
          <a:xfrm>
            <a:off x="8016240" y="4491713"/>
            <a:ext cx="2723823" cy="923330"/>
          </a:xfrm>
          <a:prstGeom prst="rect">
            <a:avLst/>
          </a:prstGeom>
          <a:noFill/>
          <a:ln>
            <a:solidFill>
              <a:schemeClr val="dk1"/>
            </a:solidFill>
          </a:ln>
        </p:spPr>
        <p:txBody>
          <a:bodyPr wrap="none" rtlCol="0">
            <a:spAutoFit/>
          </a:bodyPr>
          <a:lstStyle/>
          <a:p>
            <a:r>
              <a:rPr lang="ja-JP" altLang="en-US"/>
              <a:t>出現（決定）地名の確認</a:t>
            </a:r>
            <a:endParaRPr lang="en-US" altLang="ja-JP"/>
          </a:p>
          <a:p>
            <a:r>
              <a:rPr kumimoji="1" lang="ja-JP" altLang="en-US"/>
              <a:t>・地名の例</a:t>
            </a:r>
            <a:endParaRPr kumimoji="1" lang="en-US" altLang="ja-JP"/>
          </a:p>
          <a:p>
            <a:r>
              <a:rPr lang="ja-JP" altLang="en-US"/>
              <a:t>・大学ごとの嗜好</a:t>
            </a:r>
            <a:endParaRPr kumimoji="1" lang="ja-JP" altLang="en-US"/>
          </a:p>
        </p:txBody>
      </p:sp>
      <p:cxnSp>
        <p:nvCxnSpPr>
          <p:cNvPr id="50" name="カギ線コネクタ 49">
            <a:extLst>
              <a:ext uri="{FF2B5EF4-FFF2-40B4-BE49-F238E27FC236}">
                <a16:creationId xmlns:a16="http://schemas.microsoft.com/office/drawing/2014/main" id="{A28C7C5C-E306-C684-ACDB-E39ACC1F3FAB}"/>
              </a:ext>
            </a:extLst>
          </p:cNvPr>
          <p:cNvCxnSpPr>
            <a:stCxn id="13" idx="3"/>
            <a:endCxn id="46" idx="1"/>
          </p:cNvCxnSpPr>
          <p:nvPr/>
        </p:nvCxnSpPr>
        <p:spPr>
          <a:xfrm flipV="1">
            <a:off x="4726307" y="2215407"/>
            <a:ext cx="3289933" cy="3072872"/>
          </a:xfrm>
          <a:prstGeom prst="bentConnector3">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2" name="カギ線コネクタ 51">
            <a:extLst>
              <a:ext uri="{FF2B5EF4-FFF2-40B4-BE49-F238E27FC236}">
                <a16:creationId xmlns:a16="http://schemas.microsoft.com/office/drawing/2014/main" id="{6D9D6582-DB29-F9A2-2367-7F6BF897D1FB}"/>
              </a:ext>
            </a:extLst>
          </p:cNvPr>
          <p:cNvCxnSpPr>
            <a:stCxn id="40" idx="3"/>
            <a:endCxn id="48" idx="1"/>
          </p:cNvCxnSpPr>
          <p:nvPr/>
        </p:nvCxnSpPr>
        <p:spPr>
          <a:xfrm flipV="1">
            <a:off x="3616227" y="4953378"/>
            <a:ext cx="4400013" cy="1320003"/>
          </a:xfrm>
          <a:prstGeom prst="bentConnector3">
            <a:avLst>
              <a:gd name="adj1" fmla="val 80942"/>
            </a:avLst>
          </a:prstGeom>
          <a:ln>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156097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D387A-1453-95D2-ECE4-F0F5846A71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B2EEC0A-3EFA-7A7C-9D24-A9AAFD07EE0F}"/>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a:t>
            </a:r>
            <a:r>
              <a:rPr kumimoji="1" lang="en-US" altLang="ja-JP" sz="3600"/>
              <a:t>JSON</a:t>
            </a:r>
            <a:r>
              <a:rPr kumimoji="1" lang="ja-JP" altLang="en-US" sz="3600"/>
              <a:t>形式の例）</a:t>
            </a:r>
          </a:p>
        </p:txBody>
      </p:sp>
    </p:spTree>
    <p:extLst>
      <p:ext uri="{BB962C8B-B14F-4D97-AF65-F5344CB8AC3E}">
        <p14:creationId xmlns:p14="http://schemas.microsoft.com/office/powerpoint/2010/main" val="29512899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B622E3-1D88-097D-0343-32872DBECF4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62EDC01-EC4F-BEDC-7426-C76D07DBBBC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a:t>
            </a:r>
            <a:r>
              <a:rPr lang="ja-JP" altLang="en-US" sz="3600"/>
              <a:t>プロンプト</a:t>
            </a:r>
            <a:r>
              <a:rPr kumimoji="1" lang="ja-JP" altLang="en-US" sz="3600"/>
              <a:t>）</a:t>
            </a:r>
          </a:p>
        </p:txBody>
      </p:sp>
    </p:spTree>
    <p:extLst>
      <p:ext uri="{BB962C8B-B14F-4D97-AF65-F5344CB8AC3E}">
        <p14:creationId xmlns:p14="http://schemas.microsoft.com/office/powerpoint/2010/main" val="16095400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F33F5-0DFD-B6B1-3D10-353348B2241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3E65BD0-3870-7275-2979-ADFDF5B91F2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マテリアル・方法（使用した</a:t>
            </a:r>
            <a:r>
              <a:rPr kumimoji="1" lang="en-US" altLang="ja-JP" sz="3600"/>
              <a:t>AI</a:t>
            </a:r>
            <a:r>
              <a:rPr kumimoji="1" lang="ja-JP" altLang="en-US" sz="3600"/>
              <a:t>・条件）</a:t>
            </a:r>
          </a:p>
        </p:txBody>
      </p:sp>
    </p:spTree>
    <p:extLst>
      <p:ext uri="{BB962C8B-B14F-4D97-AF65-F5344CB8AC3E}">
        <p14:creationId xmlns:p14="http://schemas.microsoft.com/office/powerpoint/2010/main" val="31354468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3619AB-32C7-75F1-1F08-4BAC9A1F647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6978B4D-32B0-B54D-8A68-CBEF7CEB4EDA}"/>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マテリアル・方法（人への作業依頼）</a:t>
            </a:r>
          </a:p>
        </p:txBody>
      </p:sp>
    </p:spTree>
    <p:extLst>
      <p:ext uri="{BB962C8B-B14F-4D97-AF65-F5344CB8AC3E}">
        <p14:creationId xmlns:p14="http://schemas.microsoft.com/office/powerpoint/2010/main" val="6874445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014B9-95D4-2533-BF48-ABDFDC8D583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7E8276E-4711-8839-5464-BA41B46B779B}"/>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endParaRPr kumimoji="1" lang="ja-JP" altLang="en-US" sz="3600"/>
          </a:p>
        </p:txBody>
      </p:sp>
    </p:spTree>
    <p:extLst>
      <p:ext uri="{BB962C8B-B14F-4D97-AF65-F5344CB8AC3E}">
        <p14:creationId xmlns:p14="http://schemas.microsoft.com/office/powerpoint/2010/main" val="2630796194"/>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556</TotalTime>
  <Words>1009</Words>
  <Application>Microsoft Macintosh PowerPoint</Application>
  <PresentationFormat>ワイド画面</PresentationFormat>
  <Paragraphs>129</Paragraphs>
  <Slides>12</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12</vt:i4>
      </vt:variant>
    </vt:vector>
  </HeadingPairs>
  <TitlesOfParts>
    <vt:vector size="17" baseType="lpstr">
      <vt:lpstr>游ゴシック</vt:lpstr>
      <vt:lpstr>游ゴシック Light</vt:lpstr>
      <vt:lpstr>Arial</vt:lpstr>
      <vt:lpstr>Wingdings</vt:lpstr>
      <vt:lpstr>Office テーマ</vt:lpstr>
      <vt:lpstr>PowerPoint プレゼンテーション</vt:lpstr>
      <vt:lpstr>背景（1）</vt:lpstr>
      <vt:lpstr>背景（2）</vt:lpstr>
      <vt:lpstr>背景（3）</vt:lpstr>
      <vt:lpstr>関連研究</vt:lpstr>
      <vt:lpstr>目的</vt:lpstr>
      <vt:lpstr>マテリアル・方法（概要）</vt:lpstr>
      <vt:lpstr>マテリアル・方法（JSON形式の例）</vt:lpstr>
      <vt:lpstr>マテリアル・方法（プロンプト）</vt:lpstr>
      <vt:lpstr>マテリアル・方法（使用したAI・条件）</vt:lpstr>
      <vt:lpstr>マテリアル・方法（人への作業依頼）</vt:lpstr>
      <vt:lpstr>結果</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天野　晃</dc:creator>
  <cp:lastModifiedBy>天野　晃</cp:lastModifiedBy>
  <cp:revision>74</cp:revision>
  <dcterms:created xsi:type="dcterms:W3CDTF">2026-03-04T23:37:53Z</dcterms:created>
  <dcterms:modified xsi:type="dcterms:W3CDTF">2026-04-21T02:54:36Z</dcterms:modified>
</cp:coreProperties>
</file>