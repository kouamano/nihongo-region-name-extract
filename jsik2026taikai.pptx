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96" r:id="rId3"/>
    <p:sldId id="303"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 id="319" r:id="rId1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675"/>
    <p:restoredTop sz="94638"/>
  </p:normalViewPr>
  <p:slideViewPr>
    <p:cSldViewPr snapToGrid="0">
      <p:cViewPr>
        <p:scale>
          <a:sx n="150" d="100"/>
          <a:sy n="150" d="100"/>
        </p:scale>
        <p:origin x="392" y="6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2026/5/1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 Id="rId4" Type="http://schemas.openxmlformats.org/officeDocument/2006/relationships/hyperlink" Target="https://dl.acm.org/doi/abs/10.1002/asi.2149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◾️同一表現の曖昧性（特に地名）</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 (</a:t>
            </a:r>
            <a:r>
              <a:rPr lang="en" altLang="ja-JP" dirty="0">
                <a:hlinkClick r:id="rId4"/>
              </a:rPr>
              <a:t>https://dl.acm.org/doi/abs/10.1002/asi.21491</a:t>
            </a:r>
            <a:r>
              <a:rPr lang="en" altLang="ja-JP" dirty="0"/>
              <a:t>)</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306906"/>
            <a:ext cx="1033238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が用いられはじめたのはさらにごく最近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日本語における事例は少ないが、辞書ベース・ルールベースのものが</a:t>
            </a:r>
            <a:r>
              <a:rPr kumimoji="1" lang="en-US" altLang="ja-JP"/>
              <a:t>2000</a:t>
            </a:r>
            <a:r>
              <a:rPr kumimoji="1" lang="ja-JP" altLang="en-US"/>
              <a:t>年頃までは見られる</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研究課題名・本文からの地名抽出結果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175596" cy="369332"/>
          </a:xfrm>
          <a:prstGeom prst="rect">
            <a:avLst/>
          </a:prstGeom>
          <a:noFill/>
        </p:spPr>
        <p:txBody>
          <a:bodyPr wrap="none" rtlCol="0">
            <a:spAutoFit/>
          </a:bodyPr>
          <a:lstStyle/>
          <a:p>
            <a:r>
              <a:rPr kumimoji="1" lang="en-US" altLang="ja-JP" dirty="0"/>
              <a:t>n=1200 </a:t>
            </a:r>
            <a:r>
              <a:rPr kumimoji="1" lang="ja-JP" altLang="en-US" dirty="0"/>
              <a:t>→</a:t>
            </a:r>
            <a:r>
              <a:rPr kumimoji="1" lang="en-US" altLang="ja-JP" dirty="0"/>
              <a: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78450"/>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25398"/>
            <a:ext cx="1146468" cy="323165"/>
          </a:xfrm>
          <a:prstGeom prst="rect">
            <a:avLst/>
          </a:prstGeom>
          <a:noFill/>
        </p:spPr>
        <p:txBody>
          <a:bodyPr wrap="none" rtlCol="0">
            <a:spAutoFit/>
          </a:bodyPr>
          <a:lstStyle/>
          <a:p>
            <a:r>
              <a:rPr lang="ja-JP" altLang="en-US" sz="1500" b="1"/>
              <a:t>プロンプト</a:t>
            </a:r>
            <a:endParaRPr kumimoji="1" lang="ja-JP" altLang="en-US" sz="15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445722" cy="369332"/>
          </a:xfrm>
          <a:prstGeom prst="rect">
            <a:avLst/>
          </a:prstGeom>
          <a:noFill/>
        </p:spPr>
        <p:txBody>
          <a:bodyPr wrap="none" rtlCol="0">
            <a:spAutoFit/>
          </a:bodyPr>
          <a:lstStyle/>
          <a:p>
            <a:r>
              <a:rPr lang="en-US" altLang="ja-JP" dirty="0"/>
              <a:t>2</a:t>
            </a:r>
            <a:r>
              <a:rPr kumimoji="1" lang="en-US" altLang="ja-JP" dirty="0"/>
              <a:t> AIs</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a:ln w="12700"/>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1029503"/>
            <a:ext cx="8427630"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189319" y="305644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189319" y="356027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173354" y="3276088"/>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8881916" y="1752778"/>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12509" y="3529499"/>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65300" y="3056446"/>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295105" y="3698776"/>
            <a:ext cx="6917404" cy="15389"/>
          </a:xfrm>
          <a:prstGeom prst="straightConnector1">
            <a:avLst/>
          </a:prstGeom>
          <a:ln w="190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dirty="0">
                <a:sym typeface="Wingdings" pitchFamily="2" charset="2"/>
              </a:rPr>
              <a:t>に対する</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決定された地名について</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485628" y="1095419"/>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155214" y="566389"/>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6731882" y="2414481"/>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003278" y="2783604"/>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442454"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003278" y="4887311"/>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6674732" y="4507916"/>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1442454" y="6440076"/>
            <a:ext cx="3707085" cy="276999"/>
          </a:xfrm>
          <a:prstGeom prst="rect">
            <a:avLst/>
          </a:prstGeom>
          <a:noFill/>
        </p:spPr>
        <p:txBody>
          <a:bodyPr wrap="square" rtlCol="0">
            <a:spAutoFit/>
          </a:bodyPr>
          <a:lstStyle/>
          <a:p>
            <a:r>
              <a:rPr kumimoji="1" lang="en-US" altLang="ja-JP" sz="1200" dirty="0"/>
              <a:t>※</a:t>
            </a:r>
            <a:r>
              <a:rPr kumimoji="1" lang="ja-JP" altLang="en-US" sz="1200"/>
              <a:t>決定は</a:t>
            </a:r>
            <a:r>
              <a:rPr kumimoji="1" lang="en-US" altLang="ja-JP" sz="1200" dirty="0"/>
              <a:t>2</a:t>
            </a:r>
            <a:r>
              <a:rPr kumimoji="1" lang="ja-JP" altLang="en-US" sz="1200"/>
              <a:t>種の</a:t>
            </a:r>
            <a:r>
              <a:rPr kumimoji="1" lang="en-US" altLang="ja-JP" sz="1200" dirty="0"/>
              <a:t>AI</a:t>
            </a:r>
            <a:r>
              <a:rPr kumimoji="1" lang="ja-JP" altLang="en-US" sz="1200"/>
              <a:t>、</a:t>
            </a:r>
            <a:r>
              <a:rPr kumimoji="1" lang="en-US" altLang="ja-JP" sz="1200" dirty="0"/>
              <a:t>3</a:t>
            </a:r>
            <a:r>
              <a:rPr kumimoji="1" lang="ja-JP" altLang="en-US" sz="1200"/>
              <a:t>名の人による各サイトの多数決</a:t>
            </a:r>
            <a:endParaRPr kumimoji="1" lang="en-US" altLang="ja-JP" sz="1200" dirty="0"/>
          </a:p>
        </p:txBody>
      </p:sp>
      <p:sp>
        <p:nvSpPr>
          <p:cNvPr id="7" name="テキスト ボックス 6">
            <a:extLst>
              <a:ext uri="{FF2B5EF4-FFF2-40B4-BE49-F238E27FC236}">
                <a16:creationId xmlns:a16="http://schemas.microsoft.com/office/drawing/2014/main" id="{EBC72453-F203-9733-C732-74FCECACCD22}"/>
              </a:ext>
            </a:extLst>
          </p:cNvPr>
          <p:cNvSpPr txBox="1"/>
          <p:nvPr/>
        </p:nvSpPr>
        <p:spPr>
          <a:xfrm>
            <a:off x="6731881" y="585694"/>
            <a:ext cx="2723823" cy="369332"/>
          </a:xfrm>
          <a:prstGeom prst="rect">
            <a:avLst/>
          </a:prstGeom>
          <a:noFill/>
        </p:spPr>
        <p:txBody>
          <a:bodyPr wrap="none" rtlCol="0">
            <a:spAutoFit/>
          </a:bodyPr>
          <a:lstStyle/>
          <a:p>
            <a:r>
              <a:rPr kumimoji="1" lang="ja-JP" altLang="en-US"/>
              <a:t>地名が出現した報告書数</a:t>
            </a:r>
          </a:p>
        </p:txBody>
      </p:sp>
      <p:pic>
        <p:nvPicPr>
          <p:cNvPr id="15" name="図 14">
            <a:extLst>
              <a:ext uri="{FF2B5EF4-FFF2-40B4-BE49-F238E27FC236}">
                <a16:creationId xmlns:a16="http://schemas.microsoft.com/office/drawing/2014/main" id="{F9380533-B022-AD19-01E0-1646732B0451}"/>
              </a:ext>
            </a:extLst>
          </p:cNvPr>
          <p:cNvPicPr>
            <a:picLocks noChangeAspect="1"/>
          </p:cNvPicPr>
          <p:nvPr/>
        </p:nvPicPr>
        <p:blipFill>
          <a:blip r:embed="rId4"/>
          <a:stretch>
            <a:fillRect/>
          </a:stretch>
        </p:blipFill>
        <p:spPr>
          <a:xfrm>
            <a:off x="7003278" y="997265"/>
            <a:ext cx="1185501" cy="750118"/>
          </a:xfrm>
          <a:prstGeom prst="rect">
            <a:avLst/>
          </a:prstGeom>
        </p:spPr>
      </p:pic>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33408" y="824566"/>
            <a:ext cx="5793112" cy="2862322"/>
          </a:xfrm>
          <a:prstGeom prst="rect">
            <a:avLst/>
          </a:prstGeom>
          <a:noFill/>
        </p:spPr>
        <p:txBody>
          <a:bodyPr wrap="square" rtlCol="0">
            <a:spAutoFit/>
          </a:bodyPr>
          <a:lstStyle/>
          <a:p>
            <a:r>
              <a:rPr kumimoji="1" lang="ja-JP" altLang="en-US"/>
              <a:t>日本語</a:t>
            </a:r>
            <a:r>
              <a:rPr kumimoji="1" lang="en-US" altLang="ja-JP"/>
              <a:t>NER</a:t>
            </a:r>
            <a:r>
              <a:rPr kumimoji="1" lang="ja-JP" altLang="en-US"/>
              <a:t>の</a:t>
            </a:r>
            <a:r>
              <a:rPr kumimoji="1" lang="en-US" altLang="ja-JP"/>
              <a:t>AI</a:t>
            </a:r>
            <a:r>
              <a:rPr kumimoji="1" lang="ja-JP" altLang="en-US"/>
              <a:t>利用に関して</a:t>
            </a:r>
            <a:endParaRPr kumimoji="1" lang="en-US" altLang="ja-JP"/>
          </a:p>
          <a:p>
            <a:pPr marL="285750" indent="-285750">
              <a:buFont typeface="Arial" panose="020B0604020202020204" pitchFamily="34" charset="0"/>
              <a:buChar char="•"/>
            </a:pPr>
            <a:r>
              <a:rPr kumimoji="1" lang="ja-JP" altLang="en-US"/>
              <a:t>形態素解析のみでの解決は難しい場合に対応できる可能性はある</a:t>
            </a:r>
            <a:endParaRPr kumimoji="1" lang="en-US" altLang="ja-JP"/>
          </a:p>
          <a:p>
            <a:pPr marL="742950" lvl="1" indent="-285750">
              <a:buFont typeface="Arial" panose="020B0604020202020204" pitchFamily="34" charset="0"/>
              <a:buChar char="•"/>
            </a:pPr>
            <a:r>
              <a:rPr kumimoji="1" lang="ja-JP" altLang="en-US"/>
              <a:t>（人が見た時に）明らかに人名である場合など</a:t>
            </a:r>
            <a:endParaRPr kumimoji="1" lang="en-US" altLang="ja-JP"/>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endParaRPr lang="en-US" altLang="ja-JP"/>
          </a:p>
          <a:p>
            <a:endParaRPr lang="en-US" altLang="ja-JP"/>
          </a:p>
          <a:p>
            <a:r>
              <a:rPr lang="en-US" altLang="ja-JP"/>
              <a:t>AI</a:t>
            </a:r>
            <a:r>
              <a:rPr lang="ja-JP" altLang="en-US"/>
              <a:t>特有の問題</a:t>
            </a:r>
          </a:p>
          <a:p>
            <a:pPr marL="285750" indent="-285750">
              <a:buFont typeface="Arial" panose="020B0604020202020204" pitchFamily="34" charset="0"/>
              <a:buChar char="•"/>
            </a:pPr>
            <a:r>
              <a:rPr kumimoji="1" lang="ja-JP" altLang="en-US"/>
              <a:t>本研究は、</a:t>
            </a:r>
            <a:r>
              <a:rPr kumimoji="1" lang="en-US" altLang="ja-JP"/>
              <a:t>AI</a:t>
            </a:r>
            <a:r>
              <a:rPr kumimoji="1" lang="ja-JP" altLang="en-US"/>
              <a:t>に関しては判定よりも「出力形式」が問題となったケースであった</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870569"/>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320172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4255876"/>
            <a:ext cx="3896496" cy="1200329"/>
          </a:xfrm>
          <a:prstGeom prst="rect">
            <a:avLst/>
          </a:prstGeom>
          <a:noFill/>
          <a:ln w="12700">
            <a:solidFill>
              <a:schemeClr val="tx1"/>
            </a:solidFill>
          </a:ln>
        </p:spPr>
        <p:txBody>
          <a:bodyPr wrap="square" rtlCol="0">
            <a:spAutoFit/>
          </a:bodyPr>
          <a:lstStyle/>
          <a:p>
            <a:r>
              <a:rPr lang="ja-JP" altLang="en-US"/>
              <a:t>指標（特徴化）の可能性</a:t>
            </a:r>
            <a:endParaRPr lang="en-US" altLang="ja-JP"/>
          </a:p>
          <a:p>
            <a:pPr marL="285750" indent="-285750">
              <a:buFont typeface="Arial" panose="020B0604020202020204" pitchFamily="34" charset="0"/>
              <a:buChar char="•"/>
            </a:pPr>
            <a:r>
              <a:rPr lang="ja-JP" altLang="en-US"/>
              <a:t>地名決定の精度が低いことを考慮しても大学ごとの特徴を捉えているように見える</a:t>
            </a:r>
            <a:endParaRPr lang="en-US" altLang="ja-JP"/>
          </a:p>
        </p:txBody>
      </p:sp>
    </p:spTree>
    <p:extLst>
      <p:ext uri="{BB962C8B-B14F-4D97-AF65-F5344CB8AC3E}">
        <p14:creationId xmlns:p14="http://schemas.microsoft.com/office/powerpoint/2010/main" val="13491351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1104</TotalTime>
  <Words>3129</Words>
  <Application>Microsoft Macintosh PowerPoint</Application>
  <PresentationFormat>ワイド画面</PresentationFormat>
  <Paragraphs>307</Paragraphs>
  <Slides>18</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18</vt:i4>
      </vt:variant>
    </vt:vector>
  </HeadingPairs>
  <TitlesOfParts>
    <vt:vector size="24"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結果(NERに対する修正の程度)</vt:lpstr>
      <vt:lpstr>結果(決定された地名について)</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197</cp:revision>
  <dcterms:created xsi:type="dcterms:W3CDTF">2026-03-04T23:37:53Z</dcterms:created>
  <dcterms:modified xsi:type="dcterms:W3CDTF">2026-05-01T07:43:07Z</dcterms:modified>
</cp:coreProperties>
</file>