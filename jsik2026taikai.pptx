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303" r:id="rId4"/>
    <p:sldId id="304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07"/>
    <p:restoredTop sz="94638"/>
  </p:normalViewPr>
  <p:slideViewPr>
    <p:cSldViewPr snapToGrid="0">
      <p:cViewPr varScale="1">
        <p:scale>
          <a:sx n="148" d="100"/>
          <a:sy n="148" d="100"/>
        </p:scale>
        <p:origin x="20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3313828" y="66522"/>
            <a:ext cx="55643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情報知識学会第</a:t>
            </a:r>
            <a:r>
              <a:rPr lang="en-US" altLang="ja-JP" sz="3200" dirty="0"/>
              <a:t>34</a:t>
            </a:r>
            <a:r>
              <a:rPr lang="ja-JP" altLang="en-US" sz="3200"/>
              <a:t>回年次大会</a:t>
            </a:r>
            <a:endParaRPr kumimoji="1" lang="ja-JP" altLang="en-US" sz="320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D49ED0E-D194-025B-4205-E0CEB22CB619}"/>
              </a:ext>
            </a:extLst>
          </p:cNvPr>
          <p:cNvSpPr txBox="1"/>
          <p:nvPr/>
        </p:nvSpPr>
        <p:spPr>
          <a:xfrm>
            <a:off x="2292989" y="3565970"/>
            <a:ext cx="7606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黄秋実</a:t>
            </a:r>
            <a:r>
              <a:rPr lang="en-US" altLang="ja-JP" sz="2400" baseline="30000" dirty="0"/>
              <a:t>1</a:t>
            </a:r>
            <a:r>
              <a:rPr lang="en-US" altLang="ja-JP" sz="2400" dirty="0"/>
              <a:t>, </a:t>
            </a:r>
            <a:r>
              <a:rPr lang="ja-JP" altLang="en-US" sz="2400"/>
              <a:t>寺田将春</a:t>
            </a:r>
            <a:r>
              <a:rPr lang="en-US" altLang="ja-JP" sz="2400" baseline="30000" dirty="0"/>
              <a:t>1</a:t>
            </a:r>
            <a:r>
              <a:rPr lang="en-US" altLang="ja-JP" sz="2400" dirty="0"/>
              <a:t>, </a:t>
            </a:r>
            <a:r>
              <a:rPr lang="ja-JP" altLang="en-US" sz="2400"/>
              <a:t>上村麻里亜</a:t>
            </a:r>
            <a:r>
              <a:rPr lang="en-US" altLang="ja-JP" sz="2400" baseline="30000" dirty="0"/>
              <a:t>1</a:t>
            </a:r>
            <a:r>
              <a:rPr lang="en-US" altLang="ja-JP" sz="2400" dirty="0"/>
              <a:t>, </a:t>
            </a:r>
            <a:r>
              <a:rPr lang="ja-JP" altLang="en-US" sz="2400"/>
              <a:t>船守美穂</a:t>
            </a:r>
            <a:r>
              <a:rPr lang="en-US" altLang="ja-JP" sz="2400" baseline="30000" dirty="0"/>
              <a:t>1,2</a:t>
            </a:r>
            <a:r>
              <a:rPr lang="en-US" altLang="ja-JP" sz="2400" dirty="0"/>
              <a:t>, </a:t>
            </a:r>
            <a:r>
              <a:rPr lang="ja-JP" altLang="en-US" sz="2400"/>
              <a:t>天野晃</a:t>
            </a:r>
            <a:r>
              <a:rPr lang="en-US" altLang="ja-JP" sz="2400" baseline="30000" dirty="0"/>
              <a:t>1*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07DC189-35F8-7991-589D-C950D4DB5F1C}"/>
              </a:ext>
            </a:extLst>
          </p:cNvPr>
          <p:cNvSpPr txBox="1"/>
          <p:nvPr/>
        </p:nvSpPr>
        <p:spPr>
          <a:xfrm>
            <a:off x="4205994" y="4462834"/>
            <a:ext cx="3780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400" baseline="30000" dirty="0"/>
              <a:t>1</a:t>
            </a:r>
            <a:r>
              <a:rPr lang="en-US" altLang="ja-JP" sz="2400" dirty="0"/>
              <a:t> </a:t>
            </a:r>
            <a:r>
              <a:rPr lang="ja-JP" altLang="en-US" sz="2400"/>
              <a:t>鹿児島大学</a:t>
            </a:r>
            <a:endParaRPr lang="en-US" altLang="ja-JP" sz="2400" dirty="0"/>
          </a:p>
          <a:p>
            <a:pPr algn="ctr"/>
            <a:r>
              <a:rPr lang="en-US" altLang="ja-JP" sz="2400" baseline="30000" dirty="0"/>
              <a:t>2</a:t>
            </a:r>
            <a:r>
              <a:rPr lang="en-US" altLang="ja-JP" sz="2400" dirty="0"/>
              <a:t> </a:t>
            </a:r>
            <a:r>
              <a:rPr lang="ja-JP" altLang="en-US" sz="2400"/>
              <a:t>国立情報学研究所</a:t>
            </a:r>
            <a:endParaRPr lang="en-US" altLang="ja-JP" sz="2400" baseline="30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301F3E-0169-C649-7BBD-7EFDC9ABEFFE}"/>
              </a:ext>
            </a:extLst>
          </p:cNvPr>
          <p:cNvSpPr txBox="1"/>
          <p:nvPr/>
        </p:nvSpPr>
        <p:spPr>
          <a:xfrm>
            <a:off x="2925900" y="2311261"/>
            <a:ext cx="634019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3200"/>
              <a:t>地域研究活動の指標開発にむけて</a:t>
            </a:r>
          </a:p>
          <a:p>
            <a:pPr algn="ctr"/>
            <a:r>
              <a:rPr lang="en-US" altLang="ja-JP" sz="3200" dirty="0"/>
              <a:t>- </a:t>
            </a:r>
            <a:r>
              <a:rPr lang="ja-JP" altLang="en-US" sz="3200"/>
              <a:t>文書からの地名抽出</a:t>
            </a:r>
            <a:r>
              <a:rPr lang="en-US" altLang="ja-JP" sz="3200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kumimoji="1" lang="ja-JP" altLang="en-US" sz="3600"/>
              <a:t>背景（</a:t>
            </a:r>
            <a:r>
              <a:rPr kumimoji="1" lang="en-US" altLang="ja-JP" sz="3600" dirty="0"/>
              <a:t>1</a:t>
            </a:r>
            <a:r>
              <a:rPr kumimoji="1" lang="ja-JP" altLang="en-US" sz="3600"/>
              <a:t>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◾️地域課題の重要性</a:t>
            </a:r>
            <a:endParaRPr lang="en-US" altLang="ja-JP" b="1" dirty="0"/>
          </a:p>
          <a:p>
            <a:r>
              <a:rPr lang="ja-JP" altLang="en-US"/>
              <a:t>地域の労働人口減少等により地域課題の解決が困難化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b="1"/>
              <a:t>◾️（地方）大学への期待</a:t>
            </a:r>
            <a:endParaRPr lang="en-US" altLang="ja-JP" b="1" dirty="0"/>
          </a:p>
          <a:p>
            <a:r>
              <a:rPr lang="ja-JP" altLang="en-US"/>
              <a:t>文部科学省をはじめとする機関や地域行政等からの大学への期待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b="1"/>
              <a:t>◾️大学側の対応</a:t>
            </a:r>
            <a:endParaRPr lang="en-US" altLang="ja-JP" b="1" dirty="0"/>
          </a:p>
          <a:p>
            <a:r>
              <a:rPr lang="ja-JP" altLang="en-US"/>
              <a:t>実際、多くの大学が自身の存在意義を示すため、地域に根ざした研究を意識している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b="1"/>
              <a:t>◾️評価視点</a:t>
            </a:r>
            <a:endParaRPr lang="en-US" altLang="ja-JP" b="1" dirty="0"/>
          </a:p>
          <a:p>
            <a:r>
              <a:rPr lang="ja-JP" altLang="en-US"/>
              <a:t>地域課題への取り組み、解決に関する計量的な視点は不足している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b="1"/>
              <a:t>◾️鹿児島大学では</a:t>
            </a:r>
            <a:endParaRPr lang="en-US" altLang="ja-JP" b="1" dirty="0"/>
          </a:p>
          <a:p>
            <a:r>
              <a:rPr lang="ja-JP" altLang="en-US"/>
              <a:t>すでに地域に根ざした研究を行ってきた本学では、より実効な地域課題解決のため、地域課題にかかる評価の計量化の仕組みを整備する</a:t>
            </a:r>
          </a:p>
        </p:txBody>
      </p: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F0CEB-E2CC-C15E-0575-4D62545A4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FC559C-4174-6CFC-51E5-4526D91E9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kumimoji="1" lang="ja-JP" altLang="en-US" sz="3600"/>
              <a:t>背景（</a:t>
            </a:r>
            <a:r>
              <a:rPr lang="en-US" altLang="ja-JP" sz="3600" dirty="0"/>
              <a:t>2</a:t>
            </a:r>
            <a:r>
              <a:rPr kumimoji="1" lang="ja-JP" altLang="en-US" sz="3600"/>
              <a:t>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20BBFE0-DC1E-AF94-DBFC-1FC845E3DB69}"/>
              </a:ext>
            </a:extLst>
          </p:cNvPr>
          <p:cNvSpPr txBox="1"/>
          <p:nvPr/>
        </p:nvSpPr>
        <p:spPr>
          <a:xfrm>
            <a:off x="-1" y="577517"/>
            <a:ext cx="12192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◾️未来共創オープンサイエンス推進事業－地域課題解決型「</a:t>
            </a:r>
            <a:r>
              <a:rPr lang="en" altLang="ja-JP" b="1" dirty="0"/>
              <a:t>KAGOSHIMA </a:t>
            </a:r>
            <a:r>
              <a:rPr lang="ja-JP" altLang="en-US" b="1"/>
              <a:t>モデル」の形成－</a:t>
            </a:r>
            <a:endParaRPr lang="en-US" altLang="ja-JP" b="1" dirty="0"/>
          </a:p>
          <a:p>
            <a:r>
              <a:rPr lang="ja-JP" altLang="en-US"/>
              <a:t>地域課題解決には複数分野（複数学部・部局）の協調が必須であり、オープンサイエンス研究開発部門が有機的なハブとなると同時に、「データ」を中心とするシステム連携を作り出す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b="1"/>
              <a:t>◾️鹿児島大学知識基盤システム</a:t>
            </a:r>
            <a:endParaRPr lang="en-US" altLang="ja-JP" b="1" dirty="0"/>
          </a:p>
          <a:p>
            <a:r>
              <a:rPr lang="ja-JP" altLang="en-US"/>
              <a:t>オープンサイエンス研究開発部門は、「地域課題」や「データ」だけでなく、研究リソースやファシリティ情報までを結びつけた、研究活動計量・評価の基盤となる「鹿児島大学知識基盤システム」の構築にチャレンジする</a:t>
            </a:r>
            <a:endParaRPr lang="en-US" altLang="ja-JP" dirty="0"/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3BB246FF-B7B0-8D17-CC3C-BCD6BC927252}"/>
              </a:ext>
            </a:extLst>
          </p:cNvPr>
          <p:cNvSpPr/>
          <p:nvPr/>
        </p:nvSpPr>
        <p:spPr>
          <a:xfrm>
            <a:off x="1949315" y="2861146"/>
            <a:ext cx="6618168" cy="3751764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35BCE917-A39F-7308-A76B-A535E09A503A}"/>
              </a:ext>
            </a:extLst>
          </p:cNvPr>
          <p:cNvSpPr/>
          <p:nvPr/>
        </p:nvSpPr>
        <p:spPr>
          <a:xfrm>
            <a:off x="2039302" y="3014173"/>
            <a:ext cx="2949627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円/楕円 77">
            <a:extLst>
              <a:ext uri="{FF2B5EF4-FFF2-40B4-BE49-F238E27FC236}">
                <a16:creationId xmlns:a16="http://schemas.microsoft.com/office/drawing/2014/main" id="{6864CFE5-FA8D-AC50-9202-0518BFB5E20D}"/>
              </a:ext>
            </a:extLst>
          </p:cNvPr>
          <p:cNvSpPr/>
          <p:nvPr/>
        </p:nvSpPr>
        <p:spPr>
          <a:xfrm>
            <a:off x="4051481" y="5265280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円/楕円 78">
            <a:extLst>
              <a:ext uri="{FF2B5EF4-FFF2-40B4-BE49-F238E27FC236}">
                <a16:creationId xmlns:a16="http://schemas.microsoft.com/office/drawing/2014/main" id="{271DE3B5-8E0E-6340-7672-4B3169F7F859}"/>
              </a:ext>
            </a:extLst>
          </p:cNvPr>
          <p:cNvSpPr/>
          <p:nvPr/>
        </p:nvSpPr>
        <p:spPr>
          <a:xfrm>
            <a:off x="4043796" y="3797520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940D75DE-F8D0-54C7-8F4A-0D89348425EE}"/>
              </a:ext>
            </a:extLst>
          </p:cNvPr>
          <p:cNvSpPr txBox="1"/>
          <p:nvPr/>
        </p:nvSpPr>
        <p:spPr>
          <a:xfrm>
            <a:off x="3951307" y="5482353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C306EF7F-75AD-E5A4-B25F-5C80CAB6A632}"/>
              </a:ext>
            </a:extLst>
          </p:cNvPr>
          <p:cNvSpPr txBox="1"/>
          <p:nvPr/>
        </p:nvSpPr>
        <p:spPr>
          <a:xfrm>
            <a:off x="3889835" y="4032839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82" name="円/楕円 81">
            <a:extLst>
              <a:ext uri="{FF2B5EF4-FFF2-40B4-BE49-F238E27FC236}">
                <a16:creationId xmlns:a16="http://schemas.microsoft.com/office/drawing/2014/main" id="{40B41763-321F-CA3D-138D-ECF45E0A1B70}"/>
              </a:ext>
            </a:extLst>
          </p:cNvPr>
          <p:cNvSpPr/>
          <p:nvPr/>
        </p:nvSpPr>
        <p:spPr>
          <a:xfrm>
            <a:off x="2526321" y="3489189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6345EA1A-1726-FBE4-D55B-3E2CE238BE0E}"/>
              </a:ext>
            </a:extLst>
          </p:cNvPr>
          <p:cNvSpPr txBox="1"/>
          <p:nvPr/>
        </p:nvSpPr>
        <p:spPr>
          <a:xfrm>
            <a:off x="2191883" y="4491049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84" name="円/楕円 83">
            <a:extLst>
              <a:ext uri="{FF2B5EF4-FFF2-40B4-BE49-F238E27FC236}">
                <a16:creationId xmlns:a16="http://schemas.microsoft.com/office/drawing/2014/main" id="{83467E3B-F7E9-1DED-1908-6F4D57FA2B38}"/>
              </a:ext>
            </a:extLst>
          </p:cNvPr>
          <p:cNvSpPr/>
          <p:nvPr/>
        </p:nvSpPr>
        <p:spPr>
          <a:xfrm>
            <a:off x="2531777" y="4973663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5620A43-CC32-C3B6-6480-F4BFC65EBE15}"/>
              </a:ext>
            </a:extLst>
          </p:cNvPr>
          <p:cNvSpPr txBox="1"/>
          <p:nvPr/>
        </p:nvSpPr>
        <p:spPr>
          <a:xfrm>
            <a:off x="2430422" y="5196554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86" name="円/楕円 85">
            <a:extLst>
              <a:ext uri="{FF2B5EF4-FFF2-40B4-BE49-F238E27FC236}">
                <a16:creationId xmlns:a16="http://schemas.microsoft.com/office/drawing/2014/main" id="{D2A05924-4C42-8B37-AB49-B891DF4F06C1}"/>
              </a:ext>
            </a:extLst>
          </p:cNvPr>
          <p:cNvSpPr/>
          <p:nvPr/>
        </p:nvSpPr>
        <p:spPr>
          <a:xfrm>
            <a:off x="4036112" y="4531400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943FE445-74D8-6282-9FA1-DD81F2CBB08E}"/>
              </a:ext>
            </a:extLst>
          </p:cNvPr>
          <p:cNvSpPr txBox="1"/>
          <p:nvPr/>
        </p:nvSpPr>
        <p:spPr>
          <a:xfrm>
            <a:off x="3889835" y="4747927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cxnSp>
        <p:nvCxnSpPr>
          <p:cNvPr id="88" name="直線矢印コネクタ 87">
            <a:extLst>
              <a:ext uri="{FF2B5EF4-FFF2-40B4-BE49-F238E27FC236}">
                <a16:creationId xmlns:a16="http://schemas.microsoft.com/office/drawing/2014/main" id="{EDFC972B-68D6-F5A4-765F-73051C5C2407}"/>
              </a:ext>
            </a:extLst>
          </p:cNvPr>
          <p:cNvCxnSpPr>
            <a:cxnSpLocks/>
            <a:stCxn id="86" idx="2"/>
            <a:endCxn id="82" idx="6"/>
          </p:cNvCxnSpPr>
          <p:nvPr/>
        </p:nvCxnSpPr>
        <p:spPr>
          <a:xfrm flipH="1" flipV="1">
            <a:off x="2741474" y="3597726"/>
            <a:ext cx="1294638" cy="10422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線矢印コネクタ 88">
            <a:extLst>
              <a:ext uri="{FF2B5EF4-FFF2-40B4-BE49-F238E27FC236}">
                <a16:creationId xmlns:a16="http://schemas.microsoft.com/office/drawing/2014/main" id="{E7B5871F-063F-F072-1DD1-BD1CBEA0705E}"/>
              </a:ext>
            </a:extLst>
          </p:cNvPr>
          <p:cNvCxnSpPr>
            <a:cxnSpLocks/>
            <a:stCxn id="78" idx="2"/>
            <a:endCxn id="82" idx="6"/>
          </p:cNvCxnSpPr>
          <p:nvPr/>
        </p:nvCxnSpPr>
        <p:spPr>
          <a:xfrm flipH="1" flipV="1">
            <a:off x="2741474" y="3597726"/>
            <a:ext cx="1310007" cy="17760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直線矢印コネクタ 89">
            <a:extLst>
              <a:ext uri="{FF2B5EF4-FFF2-40B4-BE49-F238E27FC236}">
                <a16:creationId xmlns:a16="http://schemas.microsoft.com/office/drawing/2014/main" id="{64D9E810-3DD4-7CBD-14D5-6C25A188221E}"/>
              </a:ext>
            </a:extLst>
          </p:cNvPr>
          <p:cNvCxnSpPr>
            <a:cxnSpLocks/>
            <a:stCxn id="79" idx="2"/>
            <a:endCxn id="82" idx="6"/>
          </p:cNvCxnSpPr>
          <p:nvPr/>
        </p:nvCxnSpPr>
        <p:spPr>
          <a:xfrm flipH="1" flipV="1">
            <a:off x="2741474" y="3597726"/>
            <a:ext cx="1302322" cy="30833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直線矢印コネクタ 90">
            <a:extLst>
              <a:ext uri="{FF2B5EF4-FFF2-40B4-BE49-F238E27FC236}">
                <a16:creationId xmlns:a16="http://schemas.microsoft.com/office/drawing/2014/main" id="{F3ABF083-5FF3-99C2-1E7A-DA71FEAF7F88}"/>
              </a:ext>
            </a:extLst>
          </p:cNvPr>
          <p:cNvCxnSpPr>
            <a:cxnSpLocks/>
            <a:stCxn id="78" idx="2"/>
            <a:endCxn id="84" idx="6"/>
          </p:cNvCxnSpPr>
          <p:nvPr/>
        </p:nvCxnSpPr>
        <p:spPr>
          <a:xfrm flipH="1" flipV="1">
            <a:off x="2746930" y="5082200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曲線コネクタ 91">
            <a:extLst>
              <a:ext uri="{FF2B5EF4-FFF2-40B4-BE49-F238E27FC236}">
                <a16:creationId xmlns:a16="http://schemas.microsoft.com/office/drawing/2014/main" id="{EE69635E-D0EC-038E-B59A-42BB7BB63016}"/>
              </a:ext>
            </a:extLst>
          </p:cNvPr>
          <p:cNvCxnSpPr>
            <a:stCxn id="78" idx="6"/>
            <a:endCxn id="86" idx="6"/>
          </p:cNvCxnSpPr>
          <p:nvPr/>
        </p:nvCxnSpPr>
        <p:spPr>
          <a:xfrm flipH="1" flipV="1">
            <a:off x="4251265" y="4639937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曲線コネクタ 92">
            <a:extLst>
              <a:ext uri="{FF2B5EF4-FFF2-40B4-BE49-F238E27FC236}">
                <a16:creationId xmlns:a16="http://schemas.microsoft.com/office/drawing/2014/main" id="{BEA0EDE6-B5F6-5FCC-E2BC-EB1C25D326BF}"/>
              </a:ext>
            </a:extLst>
          </p:cNvPr>
          <p:cNvCxnSpPr>
            <a:cxnSpLocks/>
            <a:stCxn id="78" idx="6"/>
            <a:endCxn id="79" idx="6"/>
          </p:cNvCxnSpPr>
          <p:nvPr/>
        </p:nvCxnSpPr>
        <p:spPr>
          <a:xfrm flipH="1" flipV="1">
            <a:off x="4258949" y="3906057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テキスト ボックス 93">
            <a:extLst>
              <a:ext uri="{FF2B5EF4-FFF2-40B4-BE49-F238E27FC236}">
                <a16:creationId xmlns:a16="http://schemas.microsoft.com/office/drawing/2014/main" id="{14A7DAC0-F4ED-D8B9-9D96-78D0A42F2CDD}"/>
              </a:ext>
            </a:extLst>
          </p:cNvPr>
          <p:cNvSpPr txBox="1"/>
          <p:nvPr/>
        </p:nvSpPr>
        <p:spPr>
          <a:xfrm>
            <a:off x="2773080" y="6089689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  <a:p>
            <a:r>
              <a:rPr lang="ja-JP" altLang="en-US" sz="1400"/>
              <a:t>（キュレーション）</a:t>
            </a:r>
            <a:endParaRPr kumimoji="1" lang="ja-JP" altLang="en-US" sz="1400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363EC912-A9F4-5F93-08B6-40408C69005A}"/>
              </a:ext>
            </a:extLst>
          </p:cNvPr>
          <p:cNvSpPr/>
          <p:nvPr/>
        </p:nvSpPr>
        <p:spPr>
          <a:xfrm>
            <a:off x="6566029" y="3617876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7E316746-64EC-A1BC-ED98-05A7646F9A80}"/>
              </a:ext>
            </a:extLst>
          </p:cNvPr>
          <p:cNvSpPr/>
          <p:nvPr/>
        </p:nvSpPr>
        <p:spPr>
          <a:xfrm>
            <a:off x="6566029" y="4184803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577DEB4F-59D1-CD04-9662-D8EF81612D13}"/>
              </a:ext>
            </a:extLst>
          </p:cNvPr>
          <p:cNvSpPr/>
          <p:nvPr/>
        </p:nvSpPr>
        <p:spPr>
          <a:xfrm>
            <a:off x="6566029" y="4751730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A8399119-0B30-3D41-3492-03C56E2408AD}"/>
              </a:ext>
            </a:extLst>
          </p:cNvPr>
          <p:cNvSpPr/>
          <p:nvPr/>
        </p:nvSpPr>
        <p:spPr>
          <a:xfrm>
            <a:off x="6566029" y="531865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8BAABACC-B2A9-0AD1-F336-6857026C532A}"/>
              </a:ext>
            </a:extLst>
          </p:cNvPr>
          <p:cNvCxnSpPr>
            <a:cxnSpLocks/>
            <a:stCxn id="114" idx="3"/>
            <a:endCxn id="98" idx="1"/>
          </p:cNvCxnSpPr>
          <p:nvPr/>
        </p:nvCxnSpPr>
        <p:spPr>
          <a:xfrm>
            <a:off x="5917797" y="4429828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テキスト ボックス 99">
            <a:extLst>
              <a:ext uri="{FF2B5EF4-FFF2-40B4-BE49-F238E27FC236}">
                <a16:creationId xmlns:a16="http://schemas.microsoft.com/office/drawing/2014/main" id="{58075EDB-8693-ED35-29B3-4D5A64C245A8}"/>
              </a:ext>
            </a:extLst>
          </p:cNvPr>
          <p:cNvSpPr txBox="1"/>
          <p:nvPr/>
        </p:nvSpPr>
        <p:spPr>
          <a:xfrm>
            <a:off x="6528391" y="5510899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1141F35F-6D60-39BC-BB29-AC0269E16072}"/>
              </a:ext>
            </a:extLst>
          </p:cNvPr>
          <p:cNvSpPr txBox="1"/>
          <p:nvPr/>
        </p:nvSpPr>
        <p:spPr>
          <a:xfrm>
            <a:off x="6483141" y="3814018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EE31930E-8384-A57B-215A-EF61C5248DD2}"/>
              </a:ext>
            </a:extLst>
          </p:cNvPr>
          <p:cNvSpPr txBox="1"/>
          <p:nvPr/>
        </p:nvSpPr>
        <p:spPr>
          <a:xfrm>
            <a:off x="6292498" y="3249403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7C532AD1-5CD4-81AD-033D-24A7D9569358}"/>
              </a:ext>
            </a:extLst>
          </p:cNvPr>
          <p:cNvSpPr txBox="1"/>
          <p:nvPr/>
        </p:nvSpPr>
        <p:spPr>
          <a:xfrm>
            <a:off x="6256229" y="4365383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BFD02286-06BA-B7FB-B8EC-8CB5B05A7262}"/>
              </a:ext>
            </a:extLst>
          </p:cNvPr>
          <p:cNvSpPr/>
          <p:nvPr/>
        </p:nvSpPr>
        <p:spPr>
          <a:xfrm>
            <a:off x="6573713" y="5885583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316A6EED-38B2-C89C-FEEB-E5D8CE4F3D40}"/>
              </a:ext>
            </a:extLst>
          </p:cNvPr>
          <p:cNvSpPr txBox="1"/>
          <p:nvPr/>
        </p:nvSpPr>
        <p:spPr>
          <a:xfrm>
            <a:off x="6474674" y="6088758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106" name="直線矢印コネクタ 105">
            <a:extLst>
              <a:ext uri="{FF2B5EF4-FFF2-40B4-BE49-F238E27FC236}">
                <a16:creationId xmlns:a16="http://schemas.microsoft.com/office/drawing/2014/main" id="{EA61AC62-CE4F-4276-CFE2-F1B736B9B7C2}"/>
              </a:ext>
            </a:extLst>
          </p:cNvPr>
          <p:cNvCxnSpPr>
            <a:cxnSpLocks/>
            <a:stCxn id="78" idx="5"/>
            <a:endCxn id="104" idx="1"/>
          </p:cNvCxnSpPr>
          <p:nvPr/>
        </p:nvCxnSpPr>
        <p:spPr>
          <a:xfrm>
            <a:off x="4235126" y="5450564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線矢印コネクタ 106">
            <a:extLst>
              <a:ext uri="{FF2B5EF4-FFF2-40B4-BE49-F238E27FC236}">
                <a16:creationId xmlns:a16="http://schemas.microsoft.com/office/drawing/2014/main" id="{DFBDB900-E25C-8330-5FB4-F9F9C797B7FF}"/>
              </a:ext>
            </a:extLst>
          </p:cNvPr>
          <p:cNvCxnSpPr>
            <a:cxnSpLocks/>
            <a:stCxn id="114" idx="3"/>
            <a:endCxn id="97" idx="1"/>
          </p:cNvCxnSpPr>
          <p:nvPr/>
        </p:nvCxnSpPr>
        <p:spPr>
          <a:xfrm>
            <a:off x="5917797" y="4429828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矢印コネクタ 107">
            <a:extLst>
              <a:ext uri="{FF2B5EF4-FFF2-40B4-BE49-F238E27FC236}">
                <a16:creationId xmlns:a16="http://schemas.microsoft.com/office/drawing/2014/main" id="{6B6CC6EE-D319-E45C-47FE-E07D7BF2E7B1}"/>
              </a:ext>
            </a:extLst>
          </p:cNvPr>
          <p:cNvCxnSpPr>
            <a:cxnSpLocks/>
            <a:stCxn id="114" idx="3"/>
            <a:endCxn id="96" idx="1"/>
          </p:cNvCxnSpPr>
          <p:nvPr/>
        </p:nvCxnSpPr>
        <p:spPr>
          <a:xfrm flipV="1">
            <a:off x="5917797" y="4293340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矢印コネクタ 108">
            <a:extLst>
              <a:ext uri="{FF2B5EF4-FFF2-40B4-BE49-F238E27FC236}">
                <a16:creationId xmlns:a16="http://schemas.microsoft.com/office/drawing/2014/main" id="{AB8C9C24-90ED-000A-B186-DCFEC5501E4F}"/>
              </a:ext>
            </a:extLst>
          </p:cNvPr>
          <p:cNvCxnSpPr>
            <a:cxnSpLocks/>
            <a:stCxn id="114" idx="3"/>
            <a:endCxn id="95" idx="1"/>
          </p:cNvCxnSpPr>
          <p:nvPr/>
        </p:nvCxnSpPr>
        <p:spPr>
          <a:xfrm flipV="1">
            <a:off x="5917797" y="3726413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0EE09BFD-1730-3757-6C48-12C98347EF41}"/>
              </a:ext>
            </a:extLst>
          </p:cNvPr>
          <p:cNvSpPr/>
          <p:nvPr/>
        </p:nvSpPr>
        <p:spPr>
          <a:xfrm>
            <a:off x="6573713" y="305094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1D6995E0-1003-B075-10C9-1D49E6C9D4B4}"/>
              </a:ext>
            </a:extLst>
          </p:cNvPr>
          <p:cNvSpPr txBox="1"/>
          <p:nvPr/>
        </p:nvSpPr>
        <p:spPr>
          <a:xfrm>
            <a:off x="6427733" y="4943401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112" name="直線矢印コネクタ 111">
            <a:extLst>
              <a:ext uri="{FF2B5EF4-FFF2-40B4-BE49-F238E27FC236}">
                <a16:creationId xmlns:a16="http://schemas.microsoft.com/office/drawing/2014/main" id="{A4968E4E-5A43-A15C-C55F-6822B43941CE}"/>
              </a:ext>
            </a:extLst>
          </p:cNvPr>
          <p:cNvCxnSpPr>
            <a:cxnSpLocks/>
            <a:stCxn id="114" idx="3"/>
            <a:endCxn id="110" idx="1"/>
          </p:cNvCxnSpPr>
          <p:nvPr/>
        </p:nvCxnSpPr>
        <p:spPr>
          <a:xfrm flipV="1">
            <a:off x="5917797" y="3159486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テキスト ボックス 112">
            <a:extLst>
              <a:ext uri="{FF2B5EF4-FFF2-40B4-BE49-F238E27FC236}">
                <a16:creationId xmlns:a16="http://schemas.microsoft.com/office/drawing/2014/main" id="{5AE7FFE7-353E-DA7A-5765-F47CAC594911}"/>
              </a:ext>
            </a:extLst>
          </p:cNvPr>
          <p:cNvSpPr txBox="1"/>
          <p:nvPr/>
        </p:nvSpPr>
        <p:spPr>
          <a:xfrm rot="16200000">
            <a:off x="7588910" y="5283847"/>
            <a:ext cx="231956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8D77D8E8-9A35-2903-E2BF-BB8C686C372D}"/>
              </a:ext>
            </a:extLst>
          </p:cNvPr>
          <p:cNvSpPr/>
          <p:nvPr/>
        </p:nvSpPr>
        <p:spPr>
          <a:xfrm>
            <a:off x="5372231" y="432129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979A120F-98AE-C53F-A9CD-D0BA32EE6EC4}"/>
              </a:ext>
            </a:extLst>
          </p:cNvPr>
          <p:cNvSpPr txBox="1"/>
          <p:nvPr/>
        </p:nvSpPr>
        <p:spPr>
          <a:xfrm>
            <a:off x="5159337" y="4546733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116" name="直線矢印コネクタ 115">
            <a:extLst>
              <a:ext uri="{FF2B5EF4-FFF2-40B4-BE49-F238E27FC236}">
                <a16:creationId xmlns:a16="http://schemas.microsoft.com/office/drawing/2014/main" id="{6FA3DE59-CCE1-024A-0FE1-3EE44AB84B12}"/>
              </a:ext>
            </a:extLst>
          </p:cNvPr>
          <p:cNvCxnSpPr>
            <a:cxnSpLocks/>
            <a:stCxn id="84" idx="5"/>
            <a:endCxn id="114" idx="1"/>
          </p:cNvCxnSpPr>
          <p:nvPr/>
        </p:nvCxnSpPr>
        <p:spPr>
          <a:xfrm flipV="1">
            <a:off x="2715422" y="4429828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11D6CC17-7CAC-6991-61B3-45C771322D7F}"/>
              </a:ext>
            </a:extLst>
          </p:cNvPr>
          <p:cNvCxnSpPr>
            <a:cxnSpLocks/>
            <a:stCxn id="78" idx="5"/>
            <a:endCxn id="114" idx="1"/>
          </p:cNvCxnSpPr>
          <p:nvPr/>
        </p:nvCxnSpPr>
        <p:spPr>
          <a:xfrm flipV="1">
            <a:off x="4235126" y="4429828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矢印コネクタ 117">
            <a:extLst>
              <a:ext uri="{FF2B5EF4-FFF2-40B4-BE49-F238E27FC236}">
                <a16:creationId xmlns:a16="http://schemas.microsoft.com/office/drawing/2014/main" id="{B092D014-E363-353C-73F5-704BEDD0951B}"/>
              </a:ext>
            </a:extLst>
          </p:cNvPr>
          <p:cNvCxnSpPr>
            <a:cxnSpLocks/>
            <a:stCxn id="82" idx="5"/>
            <a:endCxn id="114" idx="1"/>
          </p:cNvCxnSpPr>
          <p:nvPr/>
        </p:nvCxnSpPr>
        <p:spPr>
          <a:xfrm>
            <a:off x="2709966" y="3674473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15B236BB-1875-C69E-1AC6-D500F8383CA3}"/>
              </a:ext>
            </a:extLst>
          </p:cNvPr>
          <p:cNvCxnSpPr>
            <a:cxnSpLocks/>
            <a:stCxn id="86" idx="5"/>
            <a:endCxn id="114" idx="1"/>
          </p:cNvCxnSpPr>
          <p:nvPr/>
        </p:nvCxnSpPr>
        <p:spPr>
          <a:xfrm flipV="1">
            <a:off x="4219757" y="4429828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直線矢印コネクタ 119">
            <a:extLst>
              <a:ext uri="{FF2B5EF4-FFF2-40B4-BE49-F238E27FC236}">
                <a16:creationId xmlns:a16="http://schemas.microsoft.com/office/drawing/2014/main" id="{3486BED5-DA27-5D0D-E6B6-26A9B9656FF5}"/>
              </a:ext>
            </a:extLst>
          </p:cNvPr>
          <p:cNvCxnSpPr>
            <a:cxnSpLocks/>
            <a:stCxn id="79" idx="5"/>
            <a:endCxn id="114" idx="1"/>
          </p:cNvCxnSpPr>
          <p:nvPr/>
        </p:nvCxnSpPr>
        <p:spPr>
          <a:xfrm>
            <a:off x="4227441" y="3982804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A36C807A-287B-461E-FA5E-3A836D8FB957}"/>
              </a:ext>
            </a:extLst>
          </p:cNvPr>
          <p:cNvSpPr txBox="1"/>
          <p:nvPr/>
        </p:nvSpPr>
        <p:spPr>
          <a:xfrm rot="16200000">
            <a:off x="6815999" y="4311367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122" name="テキスト ボックス 121">
            <a:extLst>
              <a:ext uri="{FF2B5EF4-FFF2-40B4-BE49-F238E27FC236}">
                <a16:creationId xmlns:a16="http://schemas.microsoft.com/office/drawing/2014/main" id="{771C174D-171E-5ED4-3DE8-298A360BF520}"/>
              </a:ext>
            </a:extLst>
          </p:cNvPr>
          <p:cNvSpPr txBox="1"/>
          <p:nvPr/>
        </p:nvSpPr>
        <p:spPr>
          <a:xfrm>
            <a:off x="9180776" y="582815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09059E05-F44F-CD65-C851-E9AA4DD7034D}"/>
              </a:ext>
            </a:extLst>
          </p:cNvPr>
          <p:cNvCxnSpPr>
            <a:cxnSpLocks/>
          </p:cNvCxnSpPr>
          <p:nvPr/>
        </p:nvCxnSpPr>
        <p:spPr>
          <a:xfrm>
            <a:off x="4995661" y="3141063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テキスト ボックス 123">
            <a:extLst>
              <a:ext uri="{FF2B5EF4-FFF2-40B4-BE49-F238E27FC236}">
                <a16:creationId xmlns:a16="http://schemas.microsoft.com/office/drawing/2014/main" id="{D8901054-BCEF-7D09-BA98-C7A0AA212FA2}"/>
              </a:ext>
            </a:extLst>
          </p:cNvPr>
          <p:cNvSpPr txBox="1"/>
          <p:nvPr/>
        </p:nvSpPr>
        <p:spPr>
          <a:xfrm>
            <a:off x="9137418" y="2962587"/>
            <a:ext cx="18294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/>
              <a:t>のダンプ、複数</a:t>
            </a:r>
            <a:r>
              <a:rPr lang="en-US" altLang="ja-JP" sz="1200" dirty="0"/>
              <a:t>KG</a:t>
            </a:r>
            <a:r>
              <a:rPr lang="ja-JP" altLang="en-US" sz="1200"/>
              <a:t>の</a:t>
            </a:r>
            <a:r>
              <a:rPr lang="en-US" altLang="ja-JP" sz="1200" dirty="0"/>
              <a:t>join</a:t>
            </a:r>
            <a:r>
              <a:rPr lang="ja-JP" altLang="en-US" sz="1200"/>
              <a:t>を可能とする</a:t>
            </a:r>
            <a:endParaRPr kumimoji="1" lang="ja-JP" altLang="en-US" sz="1200"/>
          </a:p>
        </p:txBody>
      </p:sp>
      <p:sp>
        <p:nvSpPr>
          <p:cNvPr id="125" name="テキスト ボックス 124">
            <a:extLst>
              <a:ext uri="{FF2B5EF4-FFF2-40B4-BE49-F238E27FC236}">
                <a16:creationId xmlns:a16="http://schemas.microsoft.com/office/drawing/2014/main" id="{475B8916-3CE7-8CCD-433B-2ECD9CD743EA}"/>
              </a:ext>
            </a:extLst>
          </p:cNvPr>
          <p:cNvSpPr txBox="1"/>
          <p:nvPr/>
        </p:nvSpPr>
        <p:spPr>
          <a:xfrm rot="16200000">
            <a:off x="8026166" y="3402581"/>
            <a:ext cx="144296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126" name="直線矢印コネクタ 125">
            <a:extLst>
              <a:ext uri="{FF2B5EF4-FFF2-40B4-BE49-F238E27FC236}">
                <a16:creationId xmlns:a16="http://schemas.microsoft.com/office/drawing/2014/main" id="{DB9F0D36-4E1B-3907-0CBF-ACE6A285552A}"/>
              </a:ext>
            </a:extLst>
          </p:cNvPr>
          <p:cNvCxnSpPr>
            <a:cxnSpLocks/>
            <a:stCxn id="86" idx="5"/>
            <a:endCxn id="104" idx="1"/>
          </p:cNvCxnSpPr>
          <p:nvPr/>
        </p:nvCxnSpPr>
        <p:spPr>
          <a:xfrm>
            <a:off x="4219757" y="4716684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直線矢印コネクタ 126">
            <a:extLst>
              <a:ext uri="{FF2B5EF4-FFF2-40B4-BE49-F238E27FC236}">
                <a16:creationId xmlns:a16="http://schemas.microsoft.com/office/drawing/2014/main" id="{9077665B-0D9F-8513-D9C5-4790B7FEB96C}"/>
              </a:ext>
            </a:extLst>
          </p:cNvPr>
          <p:cNvCxnSpPr>
            <a:cxnSpLocks/>
            <a:stCxn id="79" idx="5"/>
            <a:endCxn id="104" idx="1"/>
          </p:cNvCxnSpPr>
          <p:nvPr/>
        </p:nvCxnSpPr>
        <p:spPr>
          <a:xfrm>
            <a:off x="4227441" y="3982804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矢印コネクタ 127">
            <a:extLst>
              <a:ext uri="{FF2B5EF4-FFF2-40B4-BE49-F238E27FC236}">
                <a16:creationId xmlns:a16="http://schemas.microsoft.com/office/drawing/2014/main" id="{0F6F59DF-9B5A-56FB-29B2-520B10D12157}"/>
              </a:ext>
            </a:extLst>
          </p:cNvPr>
          <p:cNvCxnSpPr>
            <a:cxnSpLocks/>
            <a:stCxn id="84" idx="5"/>
            <a:endCxn id="104" idx="1"/>
          </p:cNvCxnSpPr>
          <p:nvPr/>
        </p:nvCxnSpPr>
        <p:spPr>
          <a:xfrm>
            <a:off x="2715422" y="5158947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E62B933D-9ECA-C5EE-4FDC-1A2ADE683A25}"/>
              </a:ext>
            </a:extLst>
          </p:cNvPr>
          <p:cNvCxnSpPr>
            <a:cxnSpLocks/>
            <a:endCxn id="122" idx="1"/>
          </p:cNvCxnSpPr>
          <p:nvPr/>
        </p:nvCxnSpPr>
        <p:spPr>
          <a:xfrm>
            <a:off x="4995661" y="5981371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カギ線コネクタ 129">
            <a:extLst>
              <a:ext uri="{FF2B5EF4-FFF2-40B4-BE49-F238E27FC236}">
                <a16:creationId xmlns:a16="http://schemas.microsoft.com/office/drawing/2014/main" id="{8B1DA905-522F-B83C-73D2-F63C297B78EB}"/>
              </a:ext>
            </a:extLst>
          </p:cNvPr>
          <p:cNvCxnSpPr>
            <a:cxnSpLocks/>
            <a:stCxn id="121" idx="2"/>
            <a:endCxn id="124" idx="1"/>
          </p:cNvCxnSpPr>
          <p:nvPr/>
        </p:nvCxnSpPr>
        <p:spPr>
          <a:xfrm flipV="1">
            <a:off x="8226642" y="3378086"/>
            <a:ext cx="910776" cy="1225669"/>
          </a:xfrm>
          <a:prstGeom prst="bentConnector3">
            <a:avLst>
              <a:gd name="adj1" fmla="val 2174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円/楕円 130">
            <a:extLst>
              <a:ext uri="{FF2B5EF4-FFF2-40B4-BE49-F238E27FC236}">
                <a16:creationId xmlns:a16="http://schemas.microsoft.com/office/drawing/2014/main" id="{8A369BF7-B989-D14B-9529-A591301B171B}"/>
              </a:ext>
            </a:extLst>
          </p:cNvPr>
          <p:cNvSpPr/>
          <p:nvPr/>
        </p:nvSpPr>
        <p:spPr>
          <a:xfrm>
            <a:off x="2520865" y="4231426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2" name="テキスト ボックス 131">
            <a:extLst>
              <a:ext uri="{FF2B5EF4-FFF2-40B4-BE49-F238E27FC236}">
                <a16:creationId xmlns:a16="http://schemas.microsoft.com/office/drawing/2014/main" id="{479EE2E1-749A-EE78-F708-9B97BD88CECF}"/>
              </a:ext>
            </a:extLst>
          </p:cNvPr>
          <p:cNvSpPr txBox="1"/>
          <p:nvPr/>
        </p:nvSpPr>
        <p:spPr>
          <a:xfrm>
            <a:off x="2426660" y="3719424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133" name="直線矢印コネクタ 132">
            <a:extLst>
              <a:ext uri="{FF2B5EF4-FFF2-40B4-BE49-F238E27FC236}">
                <a16:creationId xmlns:a16="http://schemas.microsoft.com/office/drawing/2014/main" id="{B48CB873-B187-880A-C2EC-E624B96C0E8A}"/>
              </a:ext>
            </a:extLst>
          </p:cNvPr>
          <p:cNvCxnSpPr>
            <a:cxnSpLocks/>
            <a:stCxn id="78" idx="2"/>
            <a:endCxn id="131" idx="6"/>
          </p:cNvCxnSpPr>
          <p:nvPr/>
        </p:nvCxnSpPr>
        <p:spPr>
          <a:xfrm flipH="1" flipV="1">
            <a:off x="2736018" y="4339963"/>
            <a:ext cx="1315463" cy="103385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直線矢印コネクタ 133">
            <a:extLst>
              <a:ext uri="{FF2B5EF4-FFF2-40B4-BE49-F238E27FC236}">
                <a16:creationId xmlns:a16="http://schemas.microsoft.com/office/drawing/2014/main" id="{0CFDA654-CB76-4840-4A4F-6FC4A23A2383}"/>
              </a:ext>
            </a:extLst>
          </p:cNvPr>
          <p:cNvCxnSpPr>
            <a:cxnSpLocks/>
            <a:stCxn id="131" idx="5"/>
            <a:endCxn id="114" idx="1"/>
          </p:cNvCxnSpPr>
          <p:nvPr/>
        </p:nvCxnSpPr>
        <p:spPr>
          <a:xfrm>
            <a:off x="2704510" y="4416710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直線矢印コネクタ 134">
            <a:extLst>
              <a:ext uri="{FF2B5EF4-FFF2-40B4-BE49-F238E27FC236}">
                <a16:creationId xmlns:a16="http://schemas.microsoft.com/office/drawing/2014/main" id="{8F088135-1047-3FB9-15DC-411A9040DE3C}"/>
              </a:ext>
            </a:extLst>
          </p:cNvPr>
          <p:cNvCxnSpPr>
            <a:cxnSpLocks/>
            <a:stCxn id="79" idx="2"/>
            <a:endCxn id="131" idx="6"/>
          </p:cNvCxnSpPr>
          <p:nvPr/>
        </p:nvCxnSpPr>
        <p:spPr>
          <a:xfrm flipH="1">
            <a:off x="2736018" y="3906057"/>
            <a:ext cx="1307778" cy="43390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1D222093-6A0C-1D31-3E88-B82DCEC6326C}"/>
              </a:ext>
            </a:extLst>
          </p:cNvPr>
          <p:cNvCxnSpPr>
            <a:cxnSpLocks/>
            <a:stCxn id="82" idx="5"/>
            <a:endCxn id="104" idx="1"/>
          </p:cNvCxnSpPr>
          <p:nvPr/>
        </p:nvCxnSpPr>
        <p:spPr>
          <a:xfrm>
            <a:off x="2709966" y="3674473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矢印コネクタ 136">
            <a:extLst>
              <a:ext uri="{FF2B5EF4-FFF2-40B4-BE49-F238E27FC236}">
                <a16:creationId xmlns:a16="http://schemas.microsoft.com/office/drawing/2014/main" id="{C4D5E505-922A-6586-76FE-CFD28D6FE776}"/>
              </a:ext>
            </a:extLst>
          </p:cNvPr>
          <p:cNvCxnSpPr>
            <a:cxnSpLocks/>
            <a:stCxn id="131" idx="5"/>
            <a:endCxn id="104" idx="1"/>
          </p:cNvCxnSpPr>
          <p:nvPr/>
        </p:nvCxnSpPr>
        <p:spPr>
          <a:xfrm>
            <a:off x="2704510" y="4416710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曲線コネクタ 137">
            <a:extLst>
              <a:ext uri="{FF2B5EF4-FFF2-40B4-BE49-F238E27FC236}">
                <a16:creationId xmlns:a16="http://schemas.microsoft.com/office/drawing/2014/main" id="{534B222D-E01E-9340-A602-FC54BBD27923}"/>
              </a:ext>
            </a:extLst>
          </p:cNvPr>
          <p:cNvCxnSpPr>
            <a:cxnSpLocks/>
            <a:stCxn id="110" idx="3"/>
            <a:endCxn id="104" idx="3"/>
          </p:cNvCxnSpPr>
          <p:nvPr/>
        </p:nvCxnSpPr>
        <p:spPr>
          <a:xfrm>
            <a:off x="7119279" y="3159486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曲線コネクタ 138">
            <a:extLst>
              <a:ext uri="{FF2B5EF4-FFF2-40B4-BE49-F238E27FC236}">
                <a16:creationId xmlns:a16="http://schemas.microsoft.com/office/drawing/2014/main" id="{68435FC4-DBBA-9671-FFBD-FA6D371C92A1}"/>
              </a:ext>
            </a:extLst>
          </p:cNvPr>
          <p:cNvCxnSpPr>
            <a:cxnSpLocks/>
            <a:stCxn id="95" idx="3"/>
            <a:endCxn id="104" idx="3"/>
          </p:cNvCxnSpPr>
          <p:nvPr/>
        </p:nvCxnSpPr>
        <p:spPr>
          <a:xfrm>
            <a:off x="7111595" y="3726413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曲線コネクタ 139">
            <a:extLst>
              <a:ext uri="{FF2B5EF4-FFF2-40B4-BE49-F238E27FC236}">
                <a16:creationId xmlns:a16="http://schemas.microsoft.com/office/drawing/2014/main" id="{72735D1D-C7DD-A122-5A4F-6CCD7049568C}"/>
              </a:ext>
            </a:extLst>
          </p:cNvPr>
          <p:cNvCxnSpPr>
            <a:cxnSpLocks/>
            <a:stCxn id="96" idx="3"/>
            <a:endCxn id="104" idx="3"/>
          </p:cNvCxnSpPr>
          <p:nvPr/>
        </p:nvCxnSpPr>
        <p:spPr>
          <a:xfrm>
            <a:off x="7111595" y="4293340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曲線コネクタ 140">
            <a:extLst>
              <a:ext uri="{FF2B5EF4-FFF2-40B4-BE49-F238E27FC236}">
                <a16:creationId xmlns:a16="http://schemas.microsoft.com/office/drawing/2014/main" id="{77DDC61A-74C5-534D-80FD-13F4EB1B9848}"/>
              </a:ext>
            </a:extLst>
          </p:cNvPr>
          <p:cNvCxnSpPr>
            <a:cxnSpLocks/>
            <a:stCxn id="97" idx="3"/>
            <a:endCxn id="104" idx="3"/>
          </p:cNvCxnSpPr>
          <p:nvPr/>
        </p:nvCxnSpPr>
        <p:spPr>
          <a:xfrm>
            <a:off x="7111595" y="4860267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曲線コネクタ 141">
            <a:extLst>
              <a:ext uri="{FF2B5EF4-FFF2-40B4-BE49-F238E27FC236}">
                <a16:creationId xmlns:a16="http://schemas.microsoft.com/office/drawing/2014/main" id="{F460CF87-6E82-C6AD-D48A-005DB82EB46F}"/>
              </a:ext>
            </a:extLst>
          </p:cNvPr>
          <p:cNvCxnSpPr>
            <a:cxnSpLocks/>
            <a:stCxn id="98" idx="3"/>
            <a:endCxn id="104" idx="3"/>
          </p:cNvCxnSpPr>
          <p:nvPr/>
        </p:nvCxnSpPr>
        <p:spPr>
          <a:xfrm>
            <a:off x="7111595" y="5427194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円/楕円 142">
            <a:extLst>
              <a:ext uri="{FF2B5EF4-FFF2-40B4-BE49-F238E27FC236}">
                <a16:creationId xmlns:a16="http://schemas.microsoft.com/office/drawing/2014/main" id="{E70D1513-C42C-D32F-76E8-11C202CD1FBD}"/>
              </a:ext>
            </a:extLst>
          </p:cNvPr>
          <p:cNvSpPr/>
          <p:nvPr/>
        </p:nvSpPr>
        <p:spPr>
          <a:xfrm>
            <a:off x="243075" y="2887960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4" name="テキスト ボックス 143">
            <a:extLst>
              <a:ext uri="{FF2B5EF4-FFF2-40B4-BE49-F238E27FC236}">
                <a16:creationId xmlns:a16="http://schemas.microsoft.com/office/drawing/2014/main" id="{7CBB87B1-1997-AD1F-3F8F-63844CA7326B}"/>
              </a:ext>
            </a:extLst>
          </p:cNvPr>
          <p:cNvSpPr txBox="1"/>
          <p:nvPr/>
        </p:nvSpPr>
        <p:spPr>
          <a:xfrm>
            <a:off x="403044" y="2864064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89F552C5-E9E3-E772-06B7-11A15DD9BC8F}"/>
              </a:ext>
            </a:extLst>
          </p:cNvPr>
          <p:cNvSpPr/>
          <p:nvPr/>
        </p:nvSpPr>
        <p:spPr>
          <a:xfrm>
            <a:off x="239860" y="316901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テキスト ボックス 145">
            <a:extLst>
              <a:ext uri="{FF2B5EF4-FFF2-40B4-BE49-F238E27FC236}">
                <a16:creationId xmlns:a16="http://schemas.microsoft.com/office/drawing/2014/main" id="{3536CCDB-FD05-53D5-15EF-EEE92BA781E0}"/>
              </a:ext>
            </a:extLst>
          </p:cNvPr>
          <p:cNvSpPr txBox="1"/>
          <p:nvPr/>
        </p:nvSpPr>
        <p:spPr>
          <a:xfrm>
            <a:off x="744252" y="3145114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sp>
        <p:nvSpPr>
          <p:cNvPr id="147" name="テキスト ボックス 146">
            <a:extLst>
              <a:ext uri="{FF2B5EF4-FFF2-40B4-BE49-F238E27FC236}">
                <a16:creationId xmlns:a16="http://schemas.microsoft.com/office/drawing/2014/main" id="{947E49C5-5904-146B-B6CA-77CE23009718}"/>
              </a:ext>
            </a:extLst>
          </p:cNvPr>
          <p:cNvSpPr txBox="1"/>
          <p:nvPr/>
        </p:nvSpPr>
        <p:spPr>
          <a:xfrm>
            <a:off x="82144" y="3481161"/>
            <a:ext cx="1648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</p:spTree>
    <p:extLst>
      <p:ext uri="{BB962C8B-B14F-4D97-AF65-F5344CB8AC3E}">
        <p14:creationId xmlns:p14="http://schemas.microsoft.com/office/powerpoint/2010/main" val="418477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671A9-9140-BC61-8FE0-C9F735511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D1088F-6712-10D9-D4B3-64DB271BE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kumimoji="1" lang="ja-JP" altLang="en-US" sz="3600"/>
              <a:t>背景（</a:t>
            </a:r>
            <a:r>
              <a:rPr kumimoji="1" lang="en-US" altLang="ja-JP" sz="3600" dirty="0"/>
              <a:t>3</a:t>
            </a:r>
            <a:r>
              <a:rPr kumimoji="1" lang="ja-JP" altLang="en-US" sz="3600"/>
              <a:t>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58CD7E-D579-6162-C3F7-79BD53BBD0DB}"/>
              </a:ext>
            </a:extLst>
          </p:cNvPr>
          <p:cNvSpPr txBox="1"/>
          <p:nvPr/>
        </p:nvSpPr>
        <p:spPr>
          <a:xfrm>
            <a:off x="-1" y="577517"/>
            <a:ext cx="121920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◾️技術的課題</a:t>
            </a:r>
            <a:endParaRPr lang="en-US" altLang="ja-JP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「地域」、「有体物」等にかかる記述の特定（ターム抽出）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特定された記述の整理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同一性判定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/>
              <a:t>クラス付与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b="1"/>
              <a:t>◾️「地域名称」（地名）関係の課題</a:t>
            </a:r>
            <a:endParaRPr lang="en-US" altLang="ja-JP" b="1" dirty="0"/>
          </a:p>
          <a:p>
            <a:r>
              <a:rPr lang="ja-JP" altLang="en-US" b="1"/>
              <a:t>▪️名称　←　今日の話題</a:t>
            </a:r>
            <a:endParaRPr lang="en-US" altLang="ja-JP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複数の同一の地名（ただし地理的な場所が異なる）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複合名詞の一部としての地名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そもそも地名なのか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b="1"/>
              <a:t>▪️関係性</a:t>
            </a:r>
            <a:endParaRPr lang="en-US" altLang="ja-JP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名称としての関係性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地理的な関係性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83124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455</Words>
  <Application>Microsoft Macintosh PowerPoint</Application>
  <PresentationFormat>ワイド画面</PresentationFormat>
  <Paragraphs>68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背景（1）</vt:lpstr>
      <vt:lpstr>背景（2）</vt:lpstr>
      <vt:lpstr>背景（3）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38</cp:revision>
  <dcterms:created xsi:type="dcterms:W3CDTF">2026-03-04T23:37:53Z</dcterms:created>
  <dcterms:modified xsi:type="dcterms:W3CDTF">2026-04-20T05:49:35Z</dcterms:modified>
</cp:coreProperties>
</file>