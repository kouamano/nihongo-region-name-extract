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6" r:id="rId3"/>
    <p:sldId id="303" r:id="rId4"/>
    <p:sldId id="304" r:id="rId5"/>
    <p:sldId id="306" r:id="rId6"/>
    <p:sldId id="313" r:id="rId7"/>
    <p:sldId id="305" r:id="rId8"/>
    <p:sldId id="307" r:id="rId9"/>
    <p:sldId id="309" r:id="rId10"/>
    <p:sldId id="308" r:id="rId11"/>
    <p:sldId id="310" r:id="rId12"/>
    <p:sldId id="312"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091"/>
    <p:restoredTop sz="94638"/>
  </p:normalViewPr>
  <p:slideViewPr>
    <p:cSldViewPr snapToGrid="0">
      <p:cViewPr varScale="1">
        <p:scale>
          <a:sx n="123" d="100"/>
          <a:sy n="123" d="100"/>
        </p:scale>
        <p:origin x="264" y="1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ir.library.osaka-u.ac.jp/repo/ouka/all/93281/IPSJ-JNL_63_2_310.pdf" TargetMode="External"/><Relationship Id="rId2" Type="http://schemas.openxmlformats.org/officeDocument/2006/relationships/hyperlink" Target="https://www.anlp.jp/proceedings/annual_meeting/2024/pdf_dir/C8-5.pdf" TargetMode="External"/><Relationship Id="rId1" Type="http://schemas.openxmlformats.org/officeDocument/2006/relationships/slideLayout" Target="../slideLayouts/slideLayout2.xml"/><Relationship Id="rId4" Type="http://schemas.openxmlformats.org/officeDocument/2006/relationships/hyperlink" Target="https://aclanthology.org/C14-1147.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a:p>
          <a:p>
            <a:endParaRPr lang="en-US" altLang="ja-JP" b="1"/>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a:p>
          <a:p>
            <a:pPr marL="742950" lvl="1" indent="-285750">
              <a:buFont typeface="Arial" panose="020B0604020202020204" pitchFamily="34" charset="0"/>
              <a:buChar char="•"/>
            </a:pPr>
            <a:r>
              <a:rPr lang="ja-JP" altLang="en-US"/>
              <a:t>例</a:t>
            </a:r>
            <a:r>
              <a:rPr lang="en-US" altLang="ja-JP"/>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a:t>NER</a:t>
            </a:r>
            <a:r>
              <a:rPr lang="ja-JP" altLang="en-US"/>
              <a:t>にはないさらに上位の概念の付与）</a:t>
            </a:r>
            <a:endParaRPr lang="en-US" altLang="ja-JP" dirty="0"/>
          </a:p>
          <a:p>
            <a:endParaRPr lang="en-US" altLang="ja-JP" dirty="0"/>
          </a:p>
          <a:p>
            <a:r>
              <a:rPr lang="ja-JP" altLang="en-US" b="1"/>
              <a:t>◾️特に地名にかかる課題として</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pPr marL="285750" indent="-285750">
              <a:buFont typeface="Arial" panose="020B0604020202020204" pitchFamily="34" charset="0"/>
              <a:buChar char="•"/>
            </a:pPr>
            <a:r>
              <a:rPr lang="ja-JP" altLang="en-US"/>
              <a:t>複合名詞の一部としての地名をどのように判定するか</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(https://www.tandfonline.com/doi/full/10.1080/13658816.2024.2405182)</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2"/>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3"/>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4"/>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577517"/>
            <a:ext cx="12192000" cy="1754326"/>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870751" cy="369332"/>
          </a:xfrm>
          <a:prstGeom prst="rect">
            <a:avLst/>
          </a:prstGeom>
          <a:noFill/>
        </p:spPr>
        <p:txBody>
          <a:bodyPr wrap="none" rtlCol="0">
            <a:spAutoFit/>
          </a:bodyPr>
          <a:lstStyle/>
          <a:p>
            <a:r>
              <a:rPr kumimoji="1" lang="en-US" altLang="ja-JP"/>
              <a:t>n=200</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名による判定結果を選抜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78950"/>
            <a:ext cx="998991" cy="369332"/>
          </a:xfrm>
          <a:prstGeom prst="rect">
            <a:avLst/>
          </a:prstGeom>
          <a:noFill/>
        </p:spPr>
        <p:txBody>
          <a:bodyPr wrap="none" rtlCol="0">
            <a:spAutoFit/>
          </a:bodyPr>
          <a:lstStyle/>
          <a:p>
            <a:r>
              <a:rPr kumimoji="1" lang="en-US" altLang="ja-JP"/>
              <a:t>n=1200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11498"/>
            <a:ext cx="870751" cy="369332"/>
          </a:xfrm>
          <a:prstGeom prst="rect">
            <a:avLst/>
          </a:prstGeom>
          <a:noFill/>
        </p:spPr>
        <p:txBody>
          <a:bodyPr wrap="none" rtlCol="0">
            <a:spAutoFit/>
          </a:bodyPr>
          <a:lstStyle/>
          <a:p>
            <a:r>
              <a:rPr kumimoji="1" lang="en-US" altLang="ja-JP"/>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2428870" cy="369332"/>
          </a:xfrm>
          <a:prstGeom prst="rect">
            <a:avLst/>
          </a:prstGeom>
          <a:noFill/>
        </p:spPr>
        <p:txBody>
          <a:bodyPr wrap="none" rtlCol="0">
            <a:spAutoFit/>
          </a:bodyPr>
          <a:lstStyle/>
          <a:p>
            <a:r>
              <a:rPr lang="ja-JP" altLang="en-US"/>
              <a:t>（</a:t>
            </a:r>
            <a:r>
              <a:rPr lang="en-US" altLang="ja-JP"/>
              <a:t>99</a:t>
            </a:r>
            <a:r>
              <a:rPr lang="ja-JP" altLang="en-US"/>
              <a:t>報告書</a:t>
            </a:r>
            <a:r>
              <a:rPr lang="en-US" altLang="ja-JP"/>
              <a:t> x 5</a:t>
            </a:r>
            <a:r>
              <a:rPr lang="ja-JP" altLang="en-US"/>
              <a:t>判定）</a:t>
            </a:r>
            <a:endParaRPr kumimoji="1" lang="en-US" altLang="ja-JP"/>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405687" y="4050957"/>
            <a:ext cx="1619354" cy="276999"/>
          </a:xfrm>
          <a:prstGeom prst="rect">
            <a:avLst/>
          </a:prstGeom>
          <a:noFill/>
        </p:spPr>
        <p:txBody>
          <a:bodyPr wrap="none" rtlCol="0">
            <a:spAutoFit/>
          </a:bodyPr>
          <a:lstStyle/>
          <a:p>
            <a:r>
              <a:rPr kumimoji="1" lang="en-US" altLang="ja-JP" sz="1200"/>
              <a:t>3 AI</a:t>
            </a:r>
            <a:r>
              <a:rPr kumimoji="1" lang="ja-JP" altLang="en-US" sz="1200"/>
              <a:t>と</a:t>
            </a:r>
            <a:r>
              <a:rPr kumimoji="1" lang="en-US" altLang="ja-JP" sz="120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a:t>1</a:t>
            </a:r>
            <a:r>
              <a:rPr kumimoji="1" lang="en-US" altLang="ja-JP" sz="120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2350976" y="5626353"/>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8016240" y="1338244"/>
            <a:ext cx="2492990" cy="1754326"/>
          </a:xfrm>
          <a:prstGeom prst="rect">
            <a:avLst/>
          </a:prstGeom>
          <a:noFill/>
          <a:ln>
            <a:solidFill>
              <a:schemeClr val="dk1"/>
            </a:solidFill>
          </a:ln>
        </p:spPr>
        <p:txBody>
          <a:bodyPr wrap="none" rtlCol="0">
            <a:spAutoFit/>
          </a:bodyPr>
          <a:lstStyle/>
          <a:p>
            <a:r>
              <a:rPr kumimoji="1" lang="ja-JP" altLang="en-US"/>
              <a:t>修正の程度の差</a:t>
            </a:r>
            <a:endParaRPr kumimoji="1" lang="en-US" altLang="ja-JP"/>
          </a:p>
          <a:p>
            <a:r>
              <a:rPr lang="ja-JP" altLang="en-US"/>
              <a:t>・判定者による</a:t>
            </a:r>
            <a:endParaRPr lang="en-US" altLang="ja-JP"/>
          </a:p>
          <a:p>
            <a:r>
              <a:rPr lang="ja-JP" altLang="en-US"/>
              <a:t>　　・距離行列</a:t>
            </a:r>
            <a:endParaRPr lang="en-US" altLang="ja-JP"/>
          </a:p>
          <a:p>
            <a:r>
              <a:rPr lang="ja-JP" altLang="en-US"/>
              <a:t>　　・クラスタリング</a:t>
            </a:r>
            <a:endParaRPr lang="en-US" altLang="ja-JP"/>
          </a:p>
          <a:p>
            <a:r>
              <a:rPr kumimoji="1" lang="ja-JP" altLang="en-US"/>
              <a:t>・大学ごと</a:t>
            </a:r>
            <a:endParaRPr kumimoji="1" lang="en-US" altLang="ja-JP"/>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8016240" y="4491713"/>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a:p>
          <a:p>
            <a:r>
              <a:rPr kumimoji="1" lang="ja-JP" altLang="en-US"/>
              <a:t>・地名の例</a:t>
            </a:r>
            <a:endParaRPr kumimoji="1" lang="en-US" altLang="ja-JP"/>
          </a:p>
          <a:p>
            <a:r>
              <a:rPr lang="ja-JP" altLang="en-US"/>
              <a:t>・大学ごとの嗜好</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stCxn id="13" idx="3"/>
            <a:endCxn id="46" idx="1"/>
          </p:cNvCxnSpPr>
          <p:nvPr/>
        </p:nvCxnSpPr>
        <p:spPr>
          <a:xfrm flipV="1">
            <a:off x="4726307" y="2215407"/>
            <a:ext cx="3289933" cy="3072872"/>
          </a:xfrm>
          <a:prstGeom prst="bentConnector3">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953378"/>
            <a:ext cx="4400013" cy="1320003"/>
          </a:xfrm>
          <a:prstGeom prst="bentConnector3">
            <a:avLst>
              <a:gd name="adj1" fmla="val 80942"/>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0" y="1720840"/>
            <a:ext cx="12192000" cy="3416320"/>
          </a:xfrm>
          <a:prstGeom prst="rect">
            <a:avLst/>
          </a:prstGeom>
          <a:noFill/>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128588"/>
            <a:ext cx="12191999" cy="3693319"/>
          </a:xfrm>
          <a:prstGeom prst="rect">
            <a:avLst/>
          </a:prstGeom>
          <a:noFill/>
        </p:spPr>
        <p:txBody>
          <a:bodyPr wrap="square" rtlCol="0">
            <a:spAutoFit/>
          </a:bodyPr>
          <a:lstStyle/>
          <a:p>
            <a:r>
              <a:rPr lang="en-US" altLang="ja-JP"/>
              <a:t>[</a:t>
            </a:r>
            <a:r>
              <a:rPr lang="en-US" altLang="ja-JP">
                <a:highlight>
                  <a:srgbClr val="808080"/>
                </a:highlight>
              </a:rPr>
              <a:t>["</a:t>
            </a:r>
            <a:r>
              <a:rPr lang="ja-JP" altLang="en-US">
                <a:highlight>
                  <a:srgbClr val="808080"/>
                </a:highlight>
              </a:rPr>
              <a:t>成</a:t>
            </a:r>
            <a:r>
              <a:rPr lang="en-US" altLang="ja-JP">
                <a:highlight>
                  <a:srgbClr val="808080"/>
                </a:highlight>
              </a:rPr>
              <a:t>","</a:t>
            </a:r>
            <a:r>
              <a:rPr lang="ja-JP" altLang="en-US">
                <a:highlight>
                  <a:srgbClr val="808080"/>
                </a:highlight>
              </a:rPr>
              <a:t>成</a:t>
            </a:r>
            <a:r>
              <a:rPr lang="en-US" altLang="ja-JP">
                <a:highlight>
                  <a:srgbClr val="808080"/>
                </a:highlight>
              </a:rPr>
              <a:t>"]</a:t>
            </a:r>
            <a:r>
              <a:rPr lang="en-US" altLang="ja-JP"/>
              <a:t>,</a:t>
            </a:r>
            <a:r>
              <a:rPr lang="en-US" altLang="ja-JP" u="sng"/>
              <a:t>["</a:t>
            </a:r>
            <a:r>
              <a:rPr lang="ja-JP" altLang="en-US" u="sng"/>
              <a:t>成</a:t>
            </a:r>
            <a:r>
              <a:rPr lang="en-US" altLang="ja-JP" u="sng"/>
              <a:t>","</a:t>
            </a:r>
            <a:r>
              <a:rPr lang="ja-JP" altLang="en-US" u="sng"/>
              <a:t>成</a:t>
            </a:r>
            <a:r>
              <a:rPr lang="en-US" altLang="ja-JP" u="sng"/>
              <a:t>"]</a:t>
            </a:r>
            <a:r>
              <a:rPr lang="en-US" altLang="ja-JP"/>
              <a:t>,</a:t>
            </a:r>
            <a:r>
              <a:rPr lang="en-US" altLang="ja-JP">
                <a:highlight>
                  <a:srgbClr val="808080"/>
                </a:highlight>
              </a:rPr>
              <a:t>"</a:t>
            </a:r>
            <a:r>
              <a:rPr lang="ja-JP" altLang="en-US">
                <a:highlight>
                  <a:srgbClr val="808080"/>
                </a:highlight>
              </a:rPr>
              <a:t>情報通信工学 </a:t>
            </a:r>
            <a:r>
              <a:rPr lang="en-US" altLang="ja-JP">
                <a:highlight>
                  <a:srgbClr val="808080"/>
                </a:highlight>
              </a:rPr>
              <a:t>/ </a:t>
            </a:r>
            <a:r>
              <a:rPr lang="ja-JP" altLang="en-US">
                <a:highlight>
                  <a:srgbClr val="808080"/>
                </a:highlight>
              </a:rPr>
              <a:t>電気電子工学 </a:t>
            </a:r>
            <a:r>
              <a:rPr lang="en-US" altLang="ja-JP">
                <a:highlight>
                  <a:srgbClr val="808080"/>
                </a:highlight>
              </a:rPr>
              <a:t>/ </a:t>
            </a:r>
            <a:r>
              <a:rPr lang="ja-JP" altLang="en-US">
                <a:highlight>
                  <a:srgbClr val="808080"/>
                </a:highlight>
              </a:rPr>
              <a:t>工学</a:t>
            </a:r>
            <a:r>
              <a:rPr lang="en-US" altLang="ja-JP">
                <a:highlight>
                  <a:srgbClr val="808080"/>
                </a:highlight>
              </a:rPr>
              <a:t>"</a:t>
            </a:r>
            <a:r>
              <a:rPr lang="en-US" altLang="ja-JP"/>
              <a:t>,["</a:t>
            </a:r>
            <a:r>
              <a:rPr lang="ja-JP" altLang="en-US"/>
              <a:t>高品質極薄</a:t>
            </a:r>
            <a:r>
              <a:rPr lang="en" altLang="ja-JP"/>
              <a:t>Si</a:t>
            </a:r>
            <a:r>
              <a:rPr lang="ja-JP" altLang="en-US"/>
              <a:t>系絶縁膜の低温形成と機能評価に関する研究</a:t>
            </a:r>
            <a:r>
              <a:rPr lang="en-US" altLang="ja-JP"/>
              <a:t>","09650363"," ","</a:t>
            </a:r>
            <a:r>
              <a:rPr lang="ja-JP" altLang="en-US"/>
              <a:t>本研究では、高活性なプラズマの生成が容易に実現できる</a:t>
            </a:r>
            <a:r>
              <a:rPr lang="en" altLang="ja-JP"/>
              <a:t>ECR(Electron Cyclotron Resonance)</a:t>
            </a:r>
            <a:r>
              <a:rPr lang="ja-JP" altLang="en-US"/>
              <a:t>マイクロ波プラズマと</a:t>
            </a:r>
            <a:r>
              <a:rPr lang="en" altLang="ja-JP"/>
              <a:t>Si</a:t>
            </a:r>
            <a:r>
              <a:rPr lang="ja-JP" altLang="en-US"/>
              <a:t>ターゲットからのスパッタリングを組み合わせた</a:t>
            </a:r>
            <a:r>
              <a:rPr lang="en" altLang="ja-JP"/>
              <a:t>ECR</a:t>
            </a:r>
            <a:r>
              <a:rPr lang="ja-JP" altLang="en-US"/>
              <a:t>スパッタ法を用いて、</a:t>
            </a:r>
            <a:r>
              <a:rPr lang="en" altLang="ja-JP"/>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a:t>(1) </a:t>
            </a:r>
            <a:r>
              <a:rPr lang="ja-JP" altLang="en-US"/>
              <a:t>プラズマ条件を最適化</a:t>
            </a:r>
          </a:p>
          <a:p>
            <a:r>
              <a:rPr lang="ja-JP" altLang="en-US"/>
              <a:t>することにより、</a:t>
            </a:r>
            <a:r>
              <a:rPr lang="en-US" altLang="ja-JP"/>
              <a:t>130℃</a:t>
            </a:r>
            <a:r>
              <a:rPr lang="ja-JP" altLang="en-US"/>
              <a:t>の低温で成膜速度</a:t>
            </a:r>
            <a:r>
              <a:rPr lang="en-US" altLang="ja-JP"/>
              <a:t>23</a:t>
            </a:r>
            <a:r>
              <a:rPr lang="en" altLang="ja-JP"/>
              <a:t>nm/min</a:t>
            </a:r>
            <a:r>
              <a:rPr lang="ja-JP" altLang="en"/>
              <a:t>、</a:t>
            </a:r>
            <a:r>
              <a:rPr lang="ja-JP" altLang="en-US"/>
              <a:t>絶縁破壊電界</a:t>
            </a:r>
            <a:r>
              <a:rPr lang="en-US" altLang="ja-JP"/>
              <a:t>10</a:t>
            </a:r>
            <a:r>
              <a:rPr lang="en" altLang="ja-JP"/>
              <a:t>MV/cm</a:t>
            </a:r>
            <a:r>
              <a:rPr lang="ja-JP" altLang="en-US"/>
              <a:t>を有する</a:t>
            </a:r>
            <a:r>
              <a:rPr lang="en" altLang="ja-JP"/>
              <a:t>Si</a:t>
            </a:r>
            <a:r>
              <a:rPr lang="ja-JP" altLang="en-US"/>
              <a:t>酸化</a:t>
            </a:r>
          </a:p>
          <a:p>
            <a:r>
              <a:rPr lang="ja-JP" altLang="en-US"/>
              <a:t>膜を形成する技術を確立した。 </a:t>
            </a:r>
            <a:r>
              <a:rPr lang="en-US" altLang="ja-JP"/>
              <a:t>(2) </a:t>
            </a:r>
            <a:r>
              <a:rPr lang="en" altLang="ja-JP"/>
              <a:t>Si</a:t>
            </a:r>
            <a:r>
              <a:rPr lang="ja-JP" altLang="en-US"/>
              <a:t>酸化膜堆積前にプラズマ酸化処理を行い、それに</a:t>
            </a:r>
          </a:p>
          <a:p>
            <a:r>
              <a:rPr lang="ja-JP" altLang="en-US"/>
              <a:t>続く</a:t>
            </a:r>
            <a:r>
              <a:rPr lang="en-US" altLang="ja-JP"/>
              <a:t>130℃</a:t>
            </a:r>
            <a:r>
              <a:rPr lang="ja-JP" altLang="en-US"/>
              <a:t>での低温堆積と</a:t>
            </a:r>
            <a:r>
              <a:rPr lang="en-US" altLang="ja-JP"/>
              <a:t>450℃</a:t>
            </a:r>
            <a:r>
              <a:rPr lang="ja-JP" altLang="en-US"/>
              <a:t>でのアニールにより、</a:t>
            </a:r>
            <a:r>
              <a:rPr lang="en-US" altLang="ja-JP"/>
              <a:t>9</a:t>
            </a:r>
            <a:r>
              <a:rPr lang="en" altLang="ja-JP"/>
              <a:t>nm</a:t>
            </a:r>
            <a:r>
              <a:rPr lang="ja-JP" altLang="en-US"/>
              <a:t>の極薄</a:t>
            </a:r>
            <a:r>
              <a:rPr lang="en" altLang="ja-JP"/>
              <a:t>Si</a:t>
            </a:r>
            <a:r>
              <a:rPr lang="ja-JP" altLang="en-US"/>
              <a:t>酸化膜の低温形成プロセ</a:t>
            </a:r>
          </a:p>
          <a:p>
            <a:r>
              <a:rPr lang="ja-JP" altLang="en-US"/>
              <a:t>スを確立した。この</a:t>
            </a:r>
            <a:r>
              <a:rPr lang="en" altLang="ja-JP"/>
              <a:t>Si</a:t>
            </a:r>
            <a:r>
              <a:rPr lang="ja-JP" altLang="en-US"/>
              <a:t>酸化膜は、絶縁破壊電界</a:t>
            </a:r>
            <a:r>
              <a:rPr lang="en-US" altLang="ja-JP"/>
              <a:t>9</a:t>
            </a:r>
            <a:r>
              <a:rPr lang="en" altLang="ja-JP"/>
              <a:t>MV/cm</a:t>
            </a:r>
            <a:r>
              <a:rPr lang="ja-JP" altLang="en"/>
              <a:t>、</a:t>
            </a:r>
            <a:r>
              <a:rPr lang="ja-JP" altLang="en-US"/>
              <a:t>界面準位密度</a:t>
            </a:r>
            <a:r>
              <a:rPr lang="en-US" altLang="ja-JP"/>
              <a:t>1</a:t>
            </a:r>
            <a:r>
              <a:rPr lang="en" altLang="ja-JP"/>
              <a:t>x10^&lt;11&gt;cm^&lt;-2&gt;eV^&lt;-1&gt;</a:t>
            </a:r>
            <a:r>
              <a:rPr lang="ja-JP" altLang="en-US"/>
              <a:t>以下、固定電荷密度</a:t>
            </a:r>
            <a:r>
              <a:rPr lang="en-US" altLang="ja-JP"/>
              <a:t>1</a:t>
            </a:r>
            <a:r>
              <a:rPr lang="en" altLang="ja-JP"/>
              <a:t>x10^&lt;11&gt;cm^&lt;-2&gt;</a:t>
            </a:r>
            <a:r>
              <a:rPr lang="ja-JP" altLang="en-US"/>
              <a:t>以下の機能を有する。 </a:t>
            </a:r>
            <a:r>
              <a:rPr lang="en-US" altLang="ja-JP"/>
              <a:t>(3) </a:t>
            </a:r>
            <a:r>
              <a:rPr lang="ja-JP" altLang="en-US"/>
              <a:t>酸素と窒素の混合プラズマを用いてプラズマ条件を最適化することにより、</a:t>
            </a:r>
            <a:r>
              <a:rPr lang="en-US" altLang="ja-JP"/>
              <a:t>130℃</a:t>
            </a:r>
            <a:r>
              <a:rPr lang="ja-JP" altLang="en-US"/>
              <a:t>の低温で、絶縁破壊電界</a:t>
            </a:r>
            <a:r>
              <a:rPr lang="en-US" altLang="ja-JP"/>
              <a:t>13</a:t>
            </a:r>
            <a:r>
              <a:rPr lang="en" altLang="ja-JP"/>
              <a:t>MV/cm</a:t>
            </a:r>
            <a:r>
              <a:rPr lang="ja-JP" altLang="en-US"/>
              <a:t>を有する</a:t>
            </a:r>
            <a:r>
              <a:rPr lang="en" altLang="ja-JP"/>
              <a:t>Si</a:t>
            </a:r>
            <a:r>
              <a:rPr lang="ja-JP" altLang="en-US"/>
              <a:t>酸窒化膜が形成できることを明らかにした。 </a:t>
            </a:r>
            <a:r>
              <a:rPr lang="en-US" altLang="ja-JP"/>
              <a:t>(4) </a:t>
            </a:r>
            <a:r>
              <a:rPr lang="ja-JP" altLang="en-US"/>
              <a:t>緻密な</a:t>
            </a:r>
            <a:r>
              <a:rPr lang="en" altLang="ja-JP"/>
              <a:t>SiN</a:t>
            </a:r>
            <a:r>
              <a:rPr lang="ja-JP" altLang="en-US"/>
              <a:t>膜が</a:t>
            </a:r>
            <a:r>
              <a:rPr lang="en" altLang="ja-JP"/>
              <a:t>ECR</a:t>
            </a:r>
            <a:r>
              <a:rPr lang="ja-JP" altLang="en-US"/>
              <a:t>スパッター法を用いて室温で堆積された。この窒化膜は、屈折率、赤外吸収、化学エッチングレイト等の特性は高温</a:t>
            </a:r>
            <a:r>
              <a:rPr lang="en" altLang="ja-JP"/>
              <a:t>CVD</a:t>
            </a:r>
            <a:r>
              <a:rPr lang="ja-JP" altLang="en-US"/>
              <a:t>で成膜したものと同等であることが明らかとなった。</a:t>
            </a:r>
            <a:r>
              <a:rPr lang="en-US" altLang="ja-JP"/>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43501" cy="369332"/>
          </a:xfrm>
          <a:prstGeom prst="rect">
            <a:avLst/>
          </a:prstGeom>
          <a:noFill/>
        </p:spPr>
        <p:txBody>
          <a:bodyPr wrap="none" rtlCol="0">
            <a:spAutoFit/>
          </a:bodyPr>
          <a:lstStyle/>
          <a:p>
            <a:r>
              <a:rPr kumimoji="1" lang="en-US" altLang="ja-JP" b="1"/>
              <a:t>Input:</a:t>
            </a:r>
            <a:endParaRPr kumimoji="1" lang="ja-JP" altLang="en-US" b="1"/>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b="1"/>
              <a:t>Out</a:t>
            </a:r>
            <a:r>
              <a:rPr kumimoji="1" lang="en-US" altLang="ja-JP" b="1"/>
              <a:t>put</a:t>
            </a:r>
            <a:r>
              <a:rPr kumimoji="1" lang="ja-JP" altLang="en-US" b="1"/>
              <a:t>（想定する形式）</a:t>
            </a:r>
            <a:r>
              <a:rPr kumimoji="1" lang="en-US" altLang="ja-JP" b="1"/>
              <a:t>:</a:t>
            </a:r>
            <a:endParaRPr kumimoji="1" lang="ja-JP" altLang="en-US" b="1"/>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447832" cy="307777"/>
          </a:xfrm>
          <a:prstGeom prst="rect">
            <a:avLst/>
          </a:prstGeom>
          <a:noFill/>
        </p:spPr>
        <p:txBody>
          <a:bodyPr wrap="none" rtlCol="0">
            <a:spAutoFit/>
          </a:bodyPr>
          <a:lstStyle/>
          <a:p>
            <a:r>
              <a:rPr kumimoji="1" lang="en-US" altLang="ja-JP" sz="1400"/>
              <a:t>NER</a:t>
            </a:r>
            <a:r>
              <a:rPr kumimoji="1" lang="ja-JP" altLang="en-US" sz="1400"/>
              <a:t>による抽出</a:t>
            </a:r>
          </a:p>
        </p:txBody>
      </p:sp>
      <p:cxnSp>
        <p:nvCxnSpPr>
          <p:cNvPr id="12" name="カギ線コネクタ 11">
            <a:extLst>
              <a:ext uri="{FF2B5EF4-FFF2-40B4-BE49-F238E27FC236}">
                <a16:creationId xmlns:a16="http://schemas.microsoft.com/office/drawing/2014/main" id="{4CC0870C-CAFC-BCD1-A478-9144D0E96817}"/>
              </a:ext>
            </a:extLst>
          </p:cNvPr>
          <p:cNvCxnSpPr>
            <a:stCxn id="10" idx="1"/>
          </p:cNvCxnSpPr>
          <p:nvPr/>
        </p:nvCxnSpPr>
        <p:spPr>
          <a:xfrm rot="10800000" flipV="1">
            <a:off x="1856114" y="974700"/>
            <a:ext cx="804708" cy="153888"/>
          </a:xfrm>
          <a:prstGeom prst="bentConnector3">
            <a:avLst>
              <a:gd name="adj1" fmla="val 10016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マテリアル・方法（使用した</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a:t>AI</a:t>
            </a:r>
          </a:p>
          <a:p>
            <a:pPr marL="285750" indent="-285750">
              <a:buFont typeface="Arial" panose="020B0604020202020204" pitchFamily="34" charset="0"/>
              <a:buChar char="•"/>
            </a:pPr>
            <a:r>
              <a:rPr lang="en-US" altLang="ja-JP"/>
              <a:t>Gemma3 (4b)</a:t>
            </a:r>
          </a:p>
          <a:p>
            <a:pPr marL="285750" indent="-285750">
              <a:buFont typeface="Arial" panose="020B0604020202020204" pitchFamily="34" charset="0"/>
              <a:buChar char="•"/>
            </a:pPr>
            <a:r>
              <a:rPr kumimoji="1" lang="en-US" altLang="ja-JP"/>
              <a:t>Llama3 (8b)</a:t>
            </a:r>
          </a:p>
          <a:p>
            <a:pPr marL="285750" indent="-285750">
              <a:buFont typeface="Arial" panose="020B0604020202020204" pitchFamily="34" charset="0"/>
              <a:buChar char="•"/>
            </a:pPr>
            <a:r>
              <a:rPr lang="en-US" altLang="ja-JP"/>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2421076"/>
            <a:ext cx="832279" cy="646331"/>
          </a:xfrm>
          <a:prstGeom prst="rect">
            <a:avLst/>
          </a:prstGeom>
          <a:noFill/>
        </p:spPr>
        <p:txBody>
          <a:bodyPr wrap="none" rtlCol="0">
            <a:spAutoFit/>
          </a:bodyPr>
          <a:lstStyle/>
          <a:p>
            <a:r>
              <a:rPr kumimoji="1" lang="ja-JP" altLang="en-US"/>
              <a:t>人</a:t>
            </a:r>
            <a:endParaRPr kumimoji="1" lang="en-US" altLang="ja-JP"/>
          </a:p>
          <a:p>
            <a:pPr marL="285750" indent="-285750">
              <a:buFont typeface="Arial" panose="020B0604020202020204" pitchFamily="34" charset="0"/>
              <a:buChar char="•"/>
            </a:pPr>
            <a:r>
              <a:rPr lang="en-US" altLang="ja-JP"/>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a:t>Ollama</a:t>
            </a:r>
            <a:r>
              <a:rPr kumimoji="1" lang="ja-JP" altLang="en-US"/>
              <a:t>）による</a:t>
            </a:r>
            <a:r>
              <a:rPr kumimoji="1" lang="en-US" altLang="ja-JP"/>
              <a:t>1</a:t>
            </a:r>
            <a:r>
              <a:rPr kumimoji="1" lang="ja-JP" altLang="en-US"/>
              <a:t>ドキュメント</a:t>
            </a:r>
            <a:r>
              <a:rPr kumimoji="1" lang="en-US" altLang="ja-JP"/>
              <a:t>/1</a:t>
            </a:r>
            <a:r>
              <a:rPr kumimoji="1" lang="ja-JP" altLang="en-US"/>
              <a:t>クエリー</a:t>
            </a:r>
            <a:r>
              <a:rPr kumimoji="1" lang="en-US" altLang="ja-JP"/>
              <a:t>/1</a:t>
            </a:r>
            <a:r>
              <a:rPr kumimoji="1" lang="ja-JP" altLang="en-US"/>
              <a:t>回のみ</a:t>
            </a:r>
            <a:endParaRPr kumimoji="1" lang="en-US" altLang="ja-JP"/>
          </a:p>
          <a:p>
            <a:pPr marL="285750" indent="-285750">
              <a:buFont typeface="Arial" panose="020B0604020202020204" pitchFamily="34" charset="0"/>
              <a:buChar char="•"/>
            </a:pPr>
            <a:r>
              <a:rPr lang="ja-JP" altLang="en-US"/>
              <a:t>総計</a:t>
            </a:r>
            <a:r>
              <a:rPr lang="en-US" altLang="ja-JP"/>
              <a:t>600</a:t>
            </a:r>
            <a:r>
              <a:rPr lang="ja-JP" altLang="en-US"/>
              <a:t>クエリー</a:t>
            </a:r>
            <a:endParaRPr kumimoji="1" lang="ja-JP" altLang="en-US"/>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2605742"/>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a:p>
          <a:p>
            <a:pPr marL="285750" indent="-285750">
              <a:buFont typeface="Arial" panose="020B0604020202020204" pitchFamily="34" charset="0"/>
              <a:buChar char="•"/>
            </a:pPr>
            <a:r>
              <a:rPr lang="ja-JP" altLang="en-US"/>
              <a:t>再提出化</a:t>
            </a:r>
            <a:endParaRPr lang="en-US" altLang="ja-JP"/>
          </a:p>
          <a:p>
            <a:pPr marL="285750" indent="-285750">
              <a:buFont typeface="Arial" panose="020B0604020202020204" pitchFamily="34" charset="0"/>
              <a:buChar char="•"/>
            </a:pPr>
            <a:r>
              <a:rPr kumimoji="1" lang="ja-JP" altLang="en-US"/>
              <a:t>合議を妨げない（質問にも答える）</a:t>
            </a:r>
          </a:p>
        </p:txBody>
      </p:sp>
      <p:cxnSp>
        <p:nvCxnSpPr>
          <p:cNvPr id="9" name="直線コネクタ 8">
            <a:extLst>
              <a:ext uri="{FF2B5EF4-FFF2-40B4-BE49-F238E27FC236}">
                <a16:creationId xmlns:a16="http://schemas.microsoft.com/office/drawing/2014/main" id="{F970DDBE-3199-7B47-68A9-2540185EDC56}"/>
              </a:ext>
            </a:extLst>
          </p:cNvPr>
          <p:cNvCxnSpPr/>
          <p:nvPr/>
        </p:nvCxnSpPr>
        <p:spPr>
          <a:xfrm>
            <a:off x="301336" y="2119745"/>
            <a:ext cx="11523519"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endParaRPr kumimoji="1" lang="ja-JP" altLang="en-US" sz="3600"/>
          </a:p>
        </p:txBody>
      </p:sp>
    </p:spTree>
    <p:extLst>
      <p:ext uri="{BB962C8B-B14F-4D97-AF65-F5344CB8AC3E}">
        <p14:creationId xmlns:p14="http://schemas.microsoft.com/office/powerpoint/2010/main" val="263079619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620</TotalTime>
  <Words>1840</Words>
  <Application>Microsoft Macintosh PowerPoint</Application>
  <PresentationFormat>ワイド画面</PresentationFormat>
  <Paragraphs>174</Paragraphs>
  <Slides>12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12</vt:i4>
      </vt:variant>
    </vt:vector>
  </HeadingPairs>
  <TitlesOfParts>
    <vt:vector size="18"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マテリアル・方法（プロンプト）</vt:lpstr>
      <vt:lpstr>マテリアル・方法（JSON形式の例）</vt:lpstr>
      <vt:lpstr>マテリアル・方法（使用したAI・人への依頼条件等）</vt:lpstr>
      <vt:lpstr>結果</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87</cp:revision>
  <dcterms:created xsi:type="dcterms:W3CDTF">2026-03-04T23:37:53Z</dcterms:created>
  <dcterms:modified xsi:type="dcterms:W3CDTF">2026-04-27T05:46:52Z</dcterms:modified>
</cp:coreProperties>
</file>