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96" r:id="rId3"/>
    <p:sldId id="303" r:id="rId4"/>
    <p:sldId id="304" r:id="rId5"/>
    <p:sldId id="306" r:id="rId6"/>
    <p:sldId id="313" r:id="rId7"/>
    <p:sldId id="305" r:id="rId8"/>
    <p:sldId id="307" r:id="rId9"/>
    <p:sldId id="318" r:id="rId10"/>
    <p:sldId id="309" r:id="rId11"/>
    <p:sldId id="310" r:id="rId12"/>
    <p:sldId id="308" r:id="rId13"/>
    <p:sldId id="312" r:id="rId14"/>
    <p:sldId id="317" r:id="rId15"/>
    <p:sldId id="314" r:id="rId16"/>
    <p:sldId id="315" r:id="rId17"/>
    <p:sldId id="316" r:id="rId18"/>
    <p:sldId id="319" r:id="rId1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154"/>
    <p:restoredTop sz="94638"/>
  </p:normalViewPr>
  <p:slideViewPr>
    <p:cSldViewPr snapToGrid="0">
      <p:cViewPr varScale="1">
        <p:scale>
          <a:sx n="156" d="100"/>
          <a:sy n="156" d="100"/>
        </p:scale>
        <p:origin x="184" y="5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2026/5/1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14</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 Id="rId4" Type="http://schemas.openxmlformats.org/officeDocument/2006/relationships/hyperlink" Target="https://dl.acm.org/doi/abs/10.1002/asi.2149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1990871" y="3850097"/>
            <a:ext cx="8210254"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1200329"/>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a:p>
          <a:p>
            <a:pPr algn="ctr"/>
            <a:r>
              <a:rPr lang="en-US" altLang="ja-JP" sz="2400" baseline="30000" dirty="0"/>
              <a:t>*</a:t>
            </a:r>
            <a:r>
              <a:rPr lang="en-US" altLang="ja-JP" sz="2400" dirty="0"/>
              <a:t> </a:t>
            </a:r>
            <a:r>
              <a:rPr lang="ja-JP" altLang="en-US" sz="2400" dirty="0"/>
              <a:t>連絡先著者</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
        <p:nvSpPr>
          <p:cNvPr id="7" name="テキスト ボックス 6">
            <a:extLst>
              <a:ext uri="{FF2B5EF4-FFF2-40B4-BE49-F238E27FC236}">
                <a16:creationId xmlns:a16="http://schemas.microsoft.com/office/drawing/2014/main" id="{915C563C-151C-A16C-32B7-9AB353C5D587}"/>
              </a:ext>
            </a:extLst>
          </p:cNvPr>
          <p:cNvSpPr txBox="1"/>
          <p:nvPr/>
        </p:nvSpPr>
        <p:spPr>
          <a:xfrm>
            <a:off x="5349640" y="6236043"/>
            <a:ext cx="1492716" cy="369332"/>
          </a:xfrm>
          <a:prstGeom prst="rect">
            <a:avLst/>
          </a:prstGeom>
          <a:noFill/>
        </p:spPr>
        <p:txBody>
          <a:bodyPr wrap="none" rtlCol="0">
            <a:spAutoFit/>
          </a:bodyPr>
          <a:lstStyle/>
          <a:p>
            <a:r>
              <a:rPr lang="en-US" altLang="ja-JP" baseline="30000" dirty="0"/>
              <a:t>†</a:t>
            </a:r>
            <a:r>
              <a:rPr lang="ja-JP" altLang="en-US" dirty="0"/>
              <a:t>代理発表者</a:t>
            </a:r>
            <a:endParaRPr lang="en-US" altLang="ja-JP" baseline="30000" dirty="0"/>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801314"/>
          </a:xfrm>
          <a:prstGeom prst="rect">
            <a:avLst/>
          </a:prstGeom>
          <a:noFill/>
        </p:spPr>
        <p:txBody>
          <a:bodyPr wrap="square" rtlCol="0">
            <a:spAutoFit/>
          </a:bodyPr>
          <a:lstStyle/>
          <a:p>
            <a:r>
              <a:rPr lang="ja-JP" altLang="en-US"/>
              <a:t>文書（特に日本語）からの固有表現の抽出・判定に関して、</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「地名」、「人名」、「固有現象名」等にかかる記述の解析（形態素の特徴量が正しいか・十分か）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地名を人名や組織名と特定する可能性</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下のようなより上位の判定に十分な情報を提供しているか</a:t>
            </a:r>
            <a:endParaRPr lang="en-US" altLang="ja-JP" dirty="0"/>
          </a:p>
          <a:p>
            <a:pPr marL="285750" indent="-285750">
              <a:buFont typeface="Arial" panose="020B0604020202020204" pitchFamily="34" charset="0"/>
              <a:buChar char="•"/>
            </a:pPr>
            <a:r>
              <a:rPr lang="ja-JP" altLang="en-US"/>
              <a:t>特定したい記述にレベル（複合語等）がある</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◾️同一表現の曖昧性（特に地名）</a:t>
            </a:r>
            <a:endParaRPr lang="en-US" altLang="ja-JP"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r>
              <a:rPr lang="ja-JP" altLang="en-US" b="1"/>
              <a:t>▪️名称の関係性を用いた解決</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a:p>
            <a:r>
              <a:rPr lang="en-US" altLang="ja-JP" dirty="0"/>
              <a:t>※</a:t>
            </a:r>
            <a:r>
              <a:rPr lang="ja-JP" altLang="en-US"/>
              <a:t>人名の同姓同名問題は言わずもがな</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3139321"/>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solidFill>
                <a:srgbClr val="333333"/>
              </a:solidFill>
              <a:latin typeface="Hiragino Kaku Gothic ProN"/>
            </a:endParaRPr>
          </a:p>
          <a:p>
            <a:pPr marL="285750" indent="-285750">
              <a:buFont typeface="Arial" panose="020B0604020202020204" pitchFamily="34" charset="0"/>
              <a:buChar char="•"/>
            </a:pPr>
            <a:r>
              <a:rPr lang="en" altLang="ja-JP" dirty="0"/>
              <a:t>A Method for Eliminating Articles by Homonymous Authors from the Large Number of Articles Retrieved by Author Search. 2011. (</a:t>
            </a:r>
            <a:r>
              <a:rPr lang="en" altLang="ja-JP" dirty="0">
                <a:hlinkClick r:id="rId4"/>
              </a:rPr>
              <a:t>https://dl.acm.org/doi/abs/10.1002/asi.21491</a:t>
            </a:r>
            <a:r>
              <a:rPr lang="en" altLang="ja-JP" dirty="0"/>
              <a:t>)</a:t>
            </a:r>
          </a:p>
          <a:p>
            <a:pPr marL="742950" lvl="1" indent="-285750">
              <a:buFont typeface="Arial" panose="020B0604020202020204" pitchFamily="34" charset="0"/>
              <a:buChar char="•"/>
            </a:pPr>
            <a:r>
              <a:rPr lang="ja-JP" altLang="en-US"/>
              <a:t>地名ではなく人名の同姓同イニシアル問題にアプローチ</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860854" y="4682462"/>
            <a:ext cx="10470292" cy="1754326"/>
          </a:xfrm>
          <a:prstGeom prst="rect">
            <a:avLst/>
          </a:prstGeom>
          <a:noFill/>
          <a:ln w="12700">
            <a:solidFill>
              <a:schemeClr val="tx1"/>
            </a:solidFill>
          </a:ln>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dirty="0"/>
              <a:t>研究</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曖昧性解決においても地理情報と結びつけて行うものが多い</a:t>
            </a:r>
            <a:endParaRPr kumimoji="1" lang="en-US" altLang="ja-JP" dirty="0"/>
          </a:p>
          <a:p>
            <a:pPr marL="285750" indent="-285750">
              <a:buFont typeface="Wingdings" pitchFamily="2" charset="2"/>
              <a:buChar char="Ø"/>
            </a:pPr>
            <a:r>
              <a:rPr lang="ja-JP" altLang="en-US"/>
              <a:t>地理情報を利用しない曖昧性解決においては、近年には独自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日本語における事例はほぼ見られないが、古くは辞書ベース・ルールベース</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308324"/>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a:p>
            <a:pPr marL="285750" indent="-285750">
              <a:buFont typeface="Arial" panose="020B0604020202020204" pitchFamily="34" charset="0"/>
              <a:buChar char="•"/>
            </a:pPr>
            <a:r>
              <a:rPr lang="ja-JP" altLang="en-US"/>
              <a:t>曖昧性解決にまで踏み込んでいない</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研究課題名・本文からの地名抽出結果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212465" cy="369332"/>
          </a:xfrm>
          <a:prstGeom prst="rect">
            <a:avLst/>
          </a:prstGeom>
          <a:noFill/>
        </p:spPr>
        <p:txBody>
          <a:bodyPr wrap="none" rtlCol="0">
            <a:spAutoFit/>
          </a:bodyPr>
          <a:lstStyle/>
          <a:p>
            <a:r>
              <a:rPr kumimoji="1" lang="en-US" altLang="ja-JP" dirty="0"/>
              <a:t>n=1200 -&gt;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78450"/>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25398"/>
            <a:ext cx="1146468" cy="323165"/>
          </a:xfrm>
          <a:prstGeom prst="rect">
            <a:avLst/>
          </a:prstGeom>
          <a:noFill/>
        </p:spPr>
        <p:txBody>
          <a:bodyPr wrap="none" rtlCol="0">
            <a:spAutoFit/>
          </a:bodyPr>
          <a:lstStyle/>
          <a:p>
            <a:r>
              <a:rPr lang="ja-JP" altLang="en-US" sz="1500" b="1"/>
              <a:t>プロンプト</a:t>
            </a:r>
            <a:endParaRPr kumimoji="1" lang="ja-JP" altLang="en-US" sz="1500" b="1"/>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1EA99-60AA-5390-0D3D-56D4CEB0011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36E73C-C135-9AF7-6D96-1B6566C22C5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NER</a:t>
            </a:r>
            <a:r>
              <a:rPr kumimoji="1" lang="ja-JP" altLang="en-US" sz="3600"/>
              <a:t>）</a:t>
            </a:r>
          </a:p>
        </p:txBody>
      </p:sp>
      <p:sp>
        <p:nvSpPr>
          <p:cNvPr id="4" name="テキスト ボックス 3">
            <a:extLst>
              <a:ext uri="{FF2B5EF4-FFF2-40B4-BE49-F238E27FC236}">
                <a16:creationId xmlns:a16="http://schemas.microsoft.com/office/drawing/2014/main" id="{5C02DBFA-43A0-570F-85FB-DE2048B43B02}"/>
              </a:ext>
            </a:extLst>
          </p:cNvPr>
          <p:cNvSpPr txBox="1"/>
          <p:nvPr/>
        </p:nvSpPr>
        <p:spPr>
          <a:xfrm>
            <a:off x="0" y="643420"/>
            <a:ext cx="6705682" cy="2308324"/>
          </a:xfrm>
          <a:prstGeom prst="rect">
            <a:avLst/>
          </a:prstGeom>
          <a:noFill/>
        </p:spPr>
        <p:txBody>
          <a:bodyPr wrap="none" rtlCol="0">
            <a:spAutoFit/>
          </a:bodyPr>
          <a:lstStyle/>
          <a:p>
            <a:pPr marL="285750" indent="-285750">
              <a:buFont typeface="Arial" panose="020B0604020202020204" pitchFamily="34" charset="0"/>
              <a:buChar char="•"/>
            </a:pPr>
            <a:r>
              <a:rPr lang="en-US" altLang="ja-JP"/>
              <a:t>mecab</a:t>
            </a:r>
            <a:r>
              <a:rPr lang="ja-JP" altLang="en-US"/>
              <a:t>による形態素解析</a:t>
            </a:r>
            <a:endParaRPr lang="en-US" altLang="ja-JP"/>
          </a:p>
          <a:p>
            <a:pPr marL="742950" lvl="1" indent="-285750">
              <a:buFont typeface="Arial" panose="020B0604020202020204" pitchFamily="34" charset="0"/>
              <a:buChar char="•"/>
            </a:pPr>
            <a:r>
              <a:rPr kumimoji="1" lang="en-US" altLang="ja-JP"/>
              <a:t>'</a:t>
            </a:r>
            <a:r>
              <a:rPr kumimoji="1" lang="ja-JP" altLang="en-US"/>
              <a:t>固有名詞</a:t>
            </a:r>
            <a:r>
              <a:rPr kumimoji="1" lang="en-US" altLang="ja-JP"/>
              <a:t>'</a:t>
            </a:r>
            <a:r>
              <a:rPr kumimoji="1" lang="ja-JP" altLang="en-US"/>
              <a:t>、</a:t>
            </a:r>
            <a:r>
              <a:rPr kumimoji="1" lang="en-US" altLang="ja-JP"/>
              <a:t>'</a:t>
            </a:r>
            <a:r>
              <a:rPr kumimoji="1" lang="ja-JP" altLang="en-US"/>
              <a:t>地域</a:t>
            </a:r>
            <a:r>
              <a:rPr kumimoji="1" lang="en-US" altLang="ja-JP"/>
              <a:t>'</a:t>
            </a:r>
            <a:r>
              <a:rPr kumimoji="1" lang="ja-JP" altLang="en-US"/>
              <a:t>のラベルのあるものを抽出</a:t>
            </a:r>
            <a:endParaRPr kumimoji="1" lang="en-US" altLang="ja-JP"/>
          </a:p>
          <a:p>
            <a:pPr marL="742950" lvl="1" indent="-285750">
              <a:buFont typeface="Arial" panose="020B0604020202020204" pitchFamily="34" charset="0"/>
              <a:buChar char="•"/>
            </a:pPr>
            <a:r>
              <a:rPr lang="ja-JP" altLang="en-US"/>
              <a:t>品詞の属性情報を削除し表現部分のみを抽出、リスト化</a:t>
            </a:r>
            <a:endParaRPr lang="en-US" altLang="ja-JP"/>
          </a:p>
          <a:p>
            <a:pPr marL="742950" lvl="1" indent="-285750">
              <a:buFont typeface="Arial" panose="020B0604020202020204" pitchFamily="34" charset="0"/>
              <a:buChar char="•"/>
            </a:pPr>
            <a:r>
              <a:rPr kumimoji="1" lang="ja-JP" altLang="en-US"/>
              <a:t>以上を報告書ごとに行う</a:t>
            </a:r>
            <a:endParaRPr kumimoji="1" lang="en-US" altLang="ja-JP"/>
          </a:p>
          <a:p>
            <a:pPr marL="285750" indent="-285750">
              <a:buFont typeface="Arial" panose="020B0604020202020204" pitchFamily="34" charset="0"/>
              <a:buChar char="•"/>
            </a:pPr>
            <a:r>
              <a:rPr kumimoji="1" lang="ja-JP" altLang="en-US"/>
              <a:t>作業用ファイルの作成</a:t>
            </a:r>
            <a:endParaRPr kumimoji="1" lang="en-US" altLang="ja-JP"/>
          </a:p>
          <a:p>
            <a:pPr marL="742950" lvl="1" indent="-285750">
              <a:buFont typeface="Arial" panose="020B0604020202020204" pitchFamily="34" charset="0"/>
              <a:buChar char="•"/>
            </a:pPr>
            <a:r>
              <a:rPr kumimoji="1" lang="ja-JP" altLang="en-US"/>
              <a:t>報告書のタイトル、本文を抽出</a:t>
            </a:r>
            <a:endParaRPr kumimoji="1" lang="en-US" altLang="ja-JP"/>
          </a:p>
          <a:p>
            <a:pPr marL="742950" lvl="1" indent="-285750">
              <a:buFont typeface="Arial" panose="020B0604020202020204" pitchFamily="34" charset="0"/>
              <a:buChar char="•"/>
            </a:pPr>
            <a:r>
              <a:rPr lang="en-US" altLang="ja-JP"/>
              <a:t>NER</a:t>
            </a:r>
            <a:r>
              <a:rPr lang="ja-JP" altLang="en-US"/>
              <a:t>結果のリストと結合</a:t>
            </a:r>
            <a:endParaRPr lang="en-US" altLang="ja-JP"/>
          </a:p>
          <a:p>
            <a:pPr marL="742950" lvl="1" indent="-285750">
              <a:buFont typeface="Arial" panose="020B0604020202020204" pitchFamily="34" charset="0"/>
              <a:buChar char="•"/>
            </a:pPr>
            <a:r>
              <a:rPr lang="ja-JP" altLang="en-US"/>
              <a:t>以上を報告書ごとに行う</a:t>
            </a:r>
            <a:endParaRPr lang="en-US" altLang="ja-JP"/>
          </a:p>
        </p:txBody>
      </p:sp>
    </p:spTree>
    <p:extLst>
      <p:ext uri="{BB962C8B-B14F-4D97-AF65-F5344CB8AC3E}">
        <p14:creationId xmlns:p14="http://schemas.microsoft.com/office/powerpoint/2010/main" val="3715758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マテリアル・方法（判定依頼</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
        <p:nvSpPr>
          <p:cNvPr id="4" name="テキスト ボックス 3">
            <a:extLst>
              <a:ext uri="{FF2B5EF4-FFF2-40B4-BE49-F238E27FC236}">
                <a16:creationId xmlns:a16="http://schemas.microsoft.com/office/drawing/2014/main" id="{9BBA087E-E339-5F99-5921-0C21B70F6076}"/>
              </a:ext>
            </a:extLst>
          </p:cNvPr>
          <p:cNvSpPr txBox="1"/>
          <p:nvPr/>
        </p:nvSpPr>
        <p:spPr>
          <a:xfrm>
            <a:off x="377952" y="6095817"/>
            <a:ext cx="8032968" cy="369332"/>
          </a:xfrm>
          <a:prstGeom prst="rect">
            <a:avLst/>
          </a:prstGeom>
          <a:noFill/>
        </p:spPr>
        <p:txBody>
          <a:bodyPr wrap="none" rtlCol="0">
            <a:spAutoFit/>
          </a:bodyPr>
          <a:lstStyle/>
          <a:p>
            <a:r>
              <a:rPr kumimoji="1" lang="en-US" altLang="ja-JP"/>
              <a:t>※</a:t>
            </a:r>
            <a:r>
              <a:rPr lang="ja-JP" altLang="en-US"/>
              <a:t>プロンプトを調整しながら試行し、ある程度安定した結果が得られたもの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4069130"/>
            <a:ext cx="832279" cy="646331"/>
          </a:xfrm>
          <a:prstGeom prst="rect">
            <a:avLst/>
          </a:prstGeom>
          <a:noFill/>
        </p:spPr>
        <p:txBody>
          <a:bodyPr wrap="none" rtlCol="0">
            <a:spAutoFit/>
          </a:bodyPr>
          <a:lstStyle/>
          <a:p>
            <a:r>
              <a:rPr kumimoji="1" lang="ja-JP" altLang="en-US"/>
              <a:t>人</a:t>
            </a:r>
            <a:r>
              <a:rPr kumimoji="1" lang="en-US" altLang="ja-JP"/>
              <a:t>:</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dirty="0"/>
              <a:t>Ollama</a:t>
            </a:r>
            <a:r>
              <a:rPr kumimoji="1" lang="ja-JP" altLang="en-US"/>
              <a:t>）による</a:t>
            </a:r>
            <a:r>
              <a:rPr kumimoji="1" lang="en-US" altLang="ja-JP" dirty="0"/>
              <a:t>1</a:t>
            </a:r>
            <a:r>
              <a:rPr kumimoji="1" lang="ja-JP" altLang="en-US"/>
              <a:t>ドキュメント</a:t>
            </a:r>
            <a:r>
              <a:rPr kumimoji="1" lang="en-US" altLang="ja-JP" dirty="0"/>
              <a:t>/1</a:t>
            </a:r>
            <a:r>
              <a:rPr kumimoji="1" lang="ja-JP" altLang="en-US"/>
              <a:t>クエリー</a:t>
            </a:r>
            <a:r>
              <a:rPr kumimoji="1" lang="en-US" altLang="ja-JP" dirty="0"/>
              <a:t>/1</a:t>
            </a:r>
            <a:r>
              <a:rPr kumimoji="1" lang="ja-JP" altLang="en-US"/>
              <a:t>回のみ</a:t>
            </a:r>
            <a:endParaRPr kumimoji="1" lang="en-US" altLang="ja-JP" dirty="0"/>
          </a:p>
          <a:p>
            <a:pPr marL="285750" indent="-285750">
              <a:buFont typeface="Arial" panose="020B0604020202020204" pitchFamily="34" charset="0"/>
              <a:buChar char="•"/>
            </a:pPr>
            <a:r>
              <a:rPr lang="ja-JP" altLang="en-US"/>
              <a:t>総計</a:t>
            </a:r>
            <a:r>
              <a:rPr lang="en-US" altLang="ja-JP" dirty="0"/>
              <a:t>600</a:t>
            </a:r>
            <a:r>
              <a:rPr lang="ja-JP" altLang="en-US"/>
              <a:t>クエリー</a:t>
            </a:r>
            <a:endParaRPr lang="en-US" altLang="ja-JP" dirty="0"/>
          </a:p>
          <a:p>
            <a:r>
              <a:rPr kumimoji="1" lang="ja-JP" altLang="en-US"/>
              <a:t>　</a:t>
            </a:r>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4327937"/>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dirty="0"/>
          </a:p>
          <a:p>
            <a:pPr marL="285750" indent="-285750">
              <a:buFont typeface="Arial" panose="020B0604020202020204" pitchFamily="34" charset="0"/>
              <a:buChar char="•"/>
            </a:pPr>
            <a:r>
              <a:rPr lang="ja-JP" altLang="en-US"/>
              <a:t>再提出可</a:t>
            </a:r>
            <a:endParaRPr lang="en-US" altLang="ja-JP" dirty="0"/>
          </a:p>
          <a:p>
            <a:pPr marL="285750" indent="-285750">
              <a:buFont typeface="Arial" panose="020B0604020202020204" pitchFamily="34" charset="0"/>
              <a:buChar char="•"/>
            </a:pPr>
            <a:r>
              <a:rPr kumimoji="1" lang="ja-JP" altLang="en-US"/>
              <a:t>合議を妨げない（質問にも答える）</a:t>
            </a:r>
          </a:p>
        </p:txBody>
      </p:sp>
      <p:pic>
        <p:nvPicPr>
          <p:cNvPr id="8" name="図 7" descr="テキスト&#10;&#10;AI 生成コンテンツは誤りを含む可能性があります。">
            <a:extLst>
              <a:ext uri="{FF2B5EF4-FFF2-40B4-BE49-F238E27FC236}">
                <a16:creationId xmlns:a16="http://schemas.microsoft.com/office/drawing/2014/main" id="{557D3E7F-AFDC-3BC4-E600-EF963425D269}"/>
              </a:ext>
            </a:extLst>
          </p:cNvPr>
          <p:cNvPicPr>
            <a:picLocks noChangeAspect="1"/>
          </p:cNvPicPr>
          <p:nvPr/>
        </p:nvPicPr>
        <p:blipFill>
          <a:blip r:embed="rId2"/>
          <a:stretch>
            <a:fillRect/>
          </a:stretch>
        </p:blipFill>
        <p:spPr>
          <a:xfrm>
            <a:off x="4471284" y="1713759"/>
            <a:ext cx="6465052" cy="1518535"/>
          </a:xfrm>
          <a:prstGeom prst="rect">
            <a:avLst/>
          </a:prstGeom>
        </p:spPr>
      </p:pic>
    </p:spTree>
    <p:extLst>
      <p:ext uri="{BB962C8B-B14F-4D97-AF65-F5344CB8AC3E}">
        <p14:creationId xmlns:p14="http://schemas.microsoft.com/office/powerpoint/2010/main" val="313544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03425" cy="369332"/>
          </a:xfrm>
          <a:prstGeom prst="rect">
            <a:avLst/>
          </a:prstGeom>
          <a:noFill/>
        </p:spPr>
        <p:txBody>
          <a:bodyPr wrap="none" rtlCol="0">
            <a:spAutoFit/>
          </a:bodyPr>
          <a:lstStyle/>
          <a:p>
            <a:r>
              <a:rPr kumimoji="1" lang="en-US" altLang="ja-JP"/>
              <a:t>Input:</a:t>
            </a:r>
            <a:endParaRPr kumimoji="1" lang="ja-JP" altLang="en-US"/>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a:t>Out</a:t>
            </a:r>
            <a:r>
              <a:rPr kumimoji="1" lang="en-US" altLang="ja-JP"/>
              <a:t>put</a:t>
            </a:r>
            <a:r>
              <a:rPr kumimoji="1" lang="ja-JP" altLang="en-US"/>
              <a:t>（想定する形式）</a:t>
            </a:r>
            <a:r>
              <a:rPr kumimoji="1" lang="en-US" altLang="ja-JP"/>
              <a:t>:</a:t>
            </a:r>
            <a:endParaRPr kumimoji="1" lang="ja-JP" altLang="en-US"/>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723823" cy="369332"/>
          </a:xfrm>
          <a:prstGeom prst="rect">
            <a:avLst/>
          </a:prstGeom>
          <a:noFill/>
        </p:spPr>
        <p:txBody>
          <a:bodyPr wrap="none" rtlCol="0">
            <a:spAutoFit/>
          </a:bodyPr>
          <a:lstStyle/>
          <a:p>
            <a:r>
              <a:rPr kumimoji="1" lang="ja-JP" altLang="en-US"/>
              <a:t>正しい出力形式とした例</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445722" cy="369332"/>
          </a:xfrm>
          <a:prstGeom prst="rect">
            <a:avLst/>
          </a:prstGeom>
          <a:noFill/>
        </p:spPr>
        <p:txBody>
          <a:bodyPr wrap="none" rtlCol="0">
            <a:spAutoFit/>
          </a:bodyPr>
          <a:lstStyle/>
          <a:p>
            <a:r>
              <a:rPr lang="en-US" altLang="ja-JP" dirty="0"/>
              <a:t>2</a:t>
            </a:r>
            <a:r>
              <a:rPr kumimoji="1" lang="en-US" altLang="ja-JP" dirty="0"/>
              <a:t> AIs</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2090854"/>
            <a:ext cx="8427630"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202019" y="108517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202019" y="158900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296124" y="1304815"/>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9000450" y="2814129"/>
            <a:ext cx="2852063"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抽出できるもの</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25208" y="1573615"/>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78000" y="1085173"/>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307805" y="1742892"/>
            <a:ext cx="6917403" cy="0"/>
          </a:xfrm>
          <a:prstGeom prst="straightConnector1">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2954655" cy="369332"/>
          </a:xfrm>
          <a:prstGeom prst="rect">
            <a:avLst/>
          </a:prstGeom>
          <a:noFill/>
        </p:spPr>
        <p:txBody>
          <a:bodyPr wrap="none" rtlCol="0">
            <a:spAutoFit/>
          </a:bodyPr>
          <a:lstStyle/>
          <a:p>
            <a:r>
              <a:rPr kumimoji="1" lang="ja-JP" altLang="en-US"/>
              <a:t>距離行列（ハミング距離）</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dirty="0">
                <a:sym typeface="Wingdings" pitchFamily="2" charset="2"/>
              </a:rPr>
              <a:t>に対する</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決定された地名</a:t>
            </a:r>
            <a:r>
              <a:rPr lang="en-US" altLang="ja-JP" sz="3600" dirty="0">
                <a:sym typeface="Wingdings" pitchFamily="2" charset="2"/>
              </a:rPr>
              <a:t>)</a:t>
            </a:r>
            <a:endParaRPr kumimoji="1" lang="ja-JP" altLang="en-US" sz="3600"/>
          </a:p>
        </p:txBody>
      </p:sp>
      <p:pic>
        <p:nvPicPr>
          <p:cNvPr id="4" name="図 3">
            <a:extLst>
              <a:ext uri="{FF2B5EF4-FFF2-40B4-BE49-F238E27FC236}">
                <a16:creationId xmlns:a16="http://schemas.microsoft.com/office/drawing/2014/main" id="{3F13B2AF-A565-AEE8-9550-E535F476209B}"/>
              </a:ext>
            </a:extLst>
          </p:cNvPr>
          <p:cNvPicPr>
            <a:picLocks noChangeAspect="1"/>
          </p:cNvPicPr>
          <p:nvPr/>
        </p:nvPicPr>
        <p:blipFill>
          <a:blip r:embed="rId2"/>
          <a:stretch>
            <a:fillRect/>
          </a:stretch>
        </p:blipFill>
        <p:spPr>
          <a:xfrm>
            <a:off x="1485628" y="1095419"/>
            <a:ext cx="3951064" cy="5185064"/>
          </a:xfrm>
          <a:prstGeom prst="rect">
            <a:avLst/>
          </a:prstGeom>
        </p:spPr>
      </p:pic>
      <p:sp>
        <p:nvSpPr>
          <p:cNvPr id="5" name="テキスト ボックス 4">
            <a:extLst>
              <a:ext uri="{FF2B5EF4-FFF2-40B4-BE49-F238E27FC236}">
                <a16:creationId xmlns:a16="http://schemas.microsoft.com/office/drawing/2014/main" id="{FA73A07A-9A65-F2F6-82DC-5E13314311AB}"/>
              </a:ext>
            </a:extLst>
          </p:cNvPr>
          <p:cNvSpPr txBox="1"/>
          <p:nvPr/>
        </p:nvSpPr>
        <p:spPr>
          <a:xfrm>
            <a:off x="1155214" y="566389"/>
            <a:ext cx="2723823" cy="369332"/>
          </a:xfrm>
          <a:prstGeom prst="rect">
            <a:avLst/>
          </a:prstGeom>
          <a:noFill/>
        </p:spPr>
        <p:txBody>
          <a:bodyPr wrap="none" rtlCol="0">
            <a:spAutoFit/>
          </a:bodyPr>
          <a:lstStyle/>
          <a:p>
            <a:r>
              <a:rPr kumimoji="1" lang="ja-JP" altLang="en-US"/>
              <a:t>大学ごとの地名の出現数</a:t>
            </a:r>
          </a:p>
        </p:txBody>
      </p:sp>
      <p:sp>
        <p:nvSpPr>
          <p:cNvPr id="6" name="テキスト ボックス 5">
            <a:extLst>
              <a:ext uri="{FF2B5EF4-FFF2-40B4-BE49-F238E27FC236}">
                <a16:creationId xmlns:a16="http://schemas.microsoft.com/office/drawing/2014/main" id="{39B58FBD-9DC2-8D17-676E-4A87A49211D1}"/>
              </a:ext>
            </a:extLst>
          </p:cNvPr>
          <p:cNvSpPr txBox="1"/>
          <p:nvPr/>
        </p:nvSpPr>
        <p:spPr>
          <a:xfrm>
            <a:off x="6731882" y="2414481"/>
            <a:ext cx="3203121" cy="369332"/>
          </a:xfrm>
          <a:prstGeom prst="rect">
            <a:avLst/>
          </a:prstGeom>
          <a:noFill/>
        </p:spPr>
        <p:txBody>
          <a:bodyPr wrap="none" rtlCol="0">
            <a:spAutoFit/>
          </a:bodyPr>
          <a:lstStyle/>
          <a:p>
            <a:r>
              <a:rPr lang="ja-JP" altLang="en-US"/>
              <a:t>決定</a:t>
            </a:r>
            <a:r>
              <a:rPr kumimoji="1" lang="ja-JP" altLang="en-US"/>
              <a:t>した地名による</a:t>
            </a:r>
            <a:r>
              <a:rPr kumimoji="1" lang="en-US" altLang="ja-JP"/>
              <a:t>Dice</a:t>
            </a:r>
            <a:r>
              <a:rPr kumimoji="1" lang="ja-JP" altLang="en-US"/>
              <a:t>係数</a:t>
            </a:r>
          </a:p>
        </p:txBody>
      </p:sp>
      <p:pic>
        <p:nvPicPr>
          <p:cNvPr id="8" name="図 7">
            <a:extLst>
              <a:ext uri="{FF2B5EF4-FFF2-40B4-BE49-F238E27FC236}">
                <a16:creationId xmlns:a16="http://schemas.microsoft.com/office/drawing/2014/main" id="{B96BBF83-052A-C45E-E03C-22D1BD14F97C}"/>
              </a:ext>
            </a:extLst>
          </p:cNvPr>
          <p:cNvPicPr>
            <a:picLocks noChangeAspect="1"/>
          </p:cNvPicPr>
          <p:nvPr/>
        </p:nvPicPr>
        <p:blipFill>
          <a:blip r:embed="rId3"/>
          <a:stretch>
            <a:fillRect/>
          </a:stretch>
        </p:blipFill>
        <p:spPr>
          <a:xfrm>
            <a:off x="7003278" y="2783604"/>
            <a:ext cx="2573294" cy="1218570"/>
          </a:xfrm>
          <a:prstGeom prst="rect">
            <a:avLst/>
          </a:prstGeom>
        </p:spPr>
      </p:pic>
      <p:cxnSp>
        <p:nvCxnSpPr>
          <p:cNvPr id="10" name="直線コネクタ 9">
            <a:extLst>
              <a:ext uri="{FF2B5EF4-FFF2-40B4-BE49-F238E27FC236}">
                <a16:creationId xmlns:a16="http://schemas.microsoft.com/office/drawing/2014/main" id="{C214B49A-A5EA-8290-E05D-632FF0D4B0C8}"/>
              </a:ext>
            </a:extLst>
          </p:cNvPr>
          <p:cNvCxnSpPr>
            <a:cxnSpLocks/>
          </p:cNvCxnSpPr>
          <p:nvPr/>
        </p:nvCxnSpPr>
        <p:spPr>
          <a:xfrm>
            <a:off x="1442454" y="1244942"/>
            <a:ext cx="3980312"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279BA018-0592-0313-E129-D62615BE6E0B}"/>
              </a:ext>
            </a:extLst>
          </p:cNvPr>
          <p:cNvSpPr txBox="1"/>
          <p:nvPr/>
        </p:nvSpPr>
        <p:spPr>
          <a:xfrm>
            <a:off x="7003278" y="4887311"/>
            <a:ext cx="3495550" cy="1384995"/>
          </a:xfrm>
          <a:prstGeom prst="rect">
            <a:avLst/>
          </a:prstGeom>
          <a:noFill/>
          <a:ln w="12700">
            <a:solidFill>
              <a:schemeClr val="tx1"/>
            </a:solidFill>
          </a:ln>
        </p:spPr>
        <p:txBody>
          <a:bodyPr wrap="square" rtlCol="0">
            <a:spAutoFit/>
          </a:bodyPr>
          <a:lstStyle/>
          <a:p>
            <a:r>
              <a:rPr lang="ja-JP" altLang="en-US" sz="1400"/>
              <a:t>中</a:t>
            </a:r>
            <a:r>
              <a:rPr lang="en-US" altLang="ja-JP" sz="1400"/>
              <a:t>, </a:t>
            </a:r>
            <a:r>
              <a:rPr lang="ja-JP" altLang="en-US" sz="1400"/>
              <a:t>亘</a:t>
            </a:r>
            <a:r>
              <a:rPr lang="en-US" altLang="ja-JP" sz="1400"/>
              <a:t>, </a:t>
            </a:r>
            <a:r>
              <a:rPr lang="ja-JP" altLang="en-US" sz="1400"/>
              <a:t>亜</a:t>
            </a:r>
            <a:r>
              <a:rPr lang="en-US" altLang="ja-JP" sz="1400"/>
              <a:t>, </a:t>
            </a:r>
            <a:r>
              <a:rPr lang="ja-JP" altLang="en-US" sz="1400"/>
              <a:t>加</a:t>
            </a:r>
            <a:r>
              <a:rPr lang="en-US" altLang="ja-JP" sz="1400"/>
              <a:t>, </a:t>
            </a:r>
            <a:r>
              <a:rPr lang="ja-JP" altLang="en-US" sz="1400"/>
              <a:t>周</a:t>
            </a:r>
            <a:r>
              <a:rPr lang="en-US" altLang="ja-JP" sz="1400"/>
              <a:t>, </a:t>
            </a:r>
            <a:r>
              <a:rPr lang="ja-JP" altLang="en-US" sz="1400"/>
              <a:t>境</a:t>
            </a:r>
            <a:r>
              <a:rPr lang="en-US" altLang="ja-JP" sz="1400"/>
              <a:t>, </a:t>
            </a:r>
            <a:r>
              <a:rPr lang="ja-JP" altLang="en-US" sz="1400"/>
              <a:t>成</a:t>
            </a:r>
            <a:r>
              <a:rPr lang="en-US" altLang="ja-JP" sz="1400"/>
              <a:t>, </a:t>
            </a:r>
            <a:r>
              <a:rPr lang="ja-JP" altLang="en-US" sz="1400"/>
              <a:t>日</a:t>
            </a:r>
            <a:r>
              <a:rPr lang="en-US" altLang="ja-JP" sz="1400"/>
              <a:t>, </a:t>
            </a:r>
            <a:r>
              <a:rPr lang="ja-JP" altLang="en-US" sz="1400"/>
              <a:t>曽</a:t>
            </a:r>
            <a:r>
              <a:rPr lang="en-US" altLang="ja-JP" sz="1400"/>
              <a:t>, </a:t>
            </a:r>
            <a:r>
              <a:rPr lang="ja-JP" altLang="en-US" sz="1400"/>
              <a:t>栄</a:t>
            </a:r>
            <a:r>
              <a:rPr lang="en-US" altLang="ja-JP" sz="1400"/>
              <a:t>, </a:t>
            </a:r>
            <a:r>
              <a:rPr lang="ja-JP" altLang="en-US" sz="1400"/>
              <a:t>求</a:t>
            </a:r>
            <a:r>
              <a:rPr lang="en-US" altLang="ja-JP" sz="1400"/>
              <a:t>, </a:t>
            </a:r>
            <a:r>
              <a:rPr lang="ja-JP" altLang="en-US" sz="1400"/>
              <a:t>泰</a:t>
            </a:r>
            <a:r>
              <a:rPr lang="en-US" altLang="ja-JP" sz="1400"/>
              <a:t>, </a:t>
            </a:r>
            <a:r>
              <a:rPr lang="ja-JP" altLang="en-US" sz="1400"/>
              <a:t>清</a:t>
            </a:r>
            <a:r>
              <a:rPr lang="en-US" altLang="ja-JP" sz="1400"/>
              <a:t>, </a:t>
            </a:r>
            <a:r>
              <a:rPr lang="ja-JP" altLang="en-US" sz="1400"/>
              <a:t>継</a:t>
            </a:r>
            <a:r>
              <a:rPr lang="en-US" altLang="ja-JP" sz="1400"/>
              <a:t>, </a:t>
            </a:r>
            <a:r>
              <a:rPr lang="ja-JP" altLang="en-US" sz="1400"/>
              <a:t>纒</a:t>
            </a:r>
            <a:r>
              <a:rPr lang="en-US" altLang="ja-JP" sz="1400"/>
              <a:t>, </a:t>
            </a:r>
            <a:r>
              <a:rPr lang="ja-JP" altLang="en-US" sz="1400"/>
              <a:t>起</a:t>
            </a:r>
            <a:r>
              <a:rPr lang="en-US" altLang="ja-JP" sz="1400"/>
              <a:t>, </a:t>
            </a:r>
            <a:r>
              <a:rPr lang="ja-JP" altLang="en-US" sz="1400"/>
              <a:t>集</a:t>
            </a:r>
            <a:r>
              <a:rPr lang="en-US" altLang="ja-JP" sz="1400"/>
              <a:t>, </a:t>
            </a:r>
            <a:r>
              <a:rPr lang="ja-JP" altLang="en-US" sz="1400"/>
              <a:t>離</a:t>
            </a:r>
            <a:r>
              <a:rPr lang="en-US" altLang="ja-JP" sz="1400"/>
              <a:t>, </a:t>
            </a:r>
            <a:r>
              <a:rPr lang="ja-JP" altLang="en-US" sz="1400"/>
              <a:t>静</a:t>
            </a:r>
            <a:r>
              <a:rPr lang="en-US" altLang="ja-JP" sz="1400"/>
              <a:t>, </a:t>
            </a:r>
            <a:r>
              <a:rPr lang="ja-JP" altLang="en-US" sz="1400"/>
              <a:t>ネス</a:t>
            </a:r>
            <a:r>
              <a:rPr lang="en-US" altLang="ja-JP" sz="1400"/>
              <a:t>, </a:t>
            </a:r>
            <a:r>
              <a:rPr lang="ja-JP" altLang="en-US" sz="1400"/>
              <a:t>ポー</a:t>
            </a:r>
            <a:r>
              <a:rPr lang="en-US" altLang="ja-JP" sz="1400"/>
              <a:t>, </a:t>
            </a:r>
            <a:r>
              <a:rPr lang="ja-JP" altLang="en-US" sz="1400"/>
              <a:t>下条</a:t>
            </a:r>
            <a:r>
              <a:rPr lang="en-US" altLang="ja-JP" sz="1400"/>
              <a:t>, </a:t>
            </a:r>
            <a:r>
              <a:rPr lang="ja-JP" altLang="en-US" sz="1400"/>
              <a:t>中野</a:t>
            </a:r>
            <a:r>
              <a:rPr lang="en-US" altLang="ja-JP" sz="1400"/>
              <a:t>, </a:t>
            </a:r>
            <a:r>
              <a:rPr lang="ja-JP" altLang="en-US" sz="1400"/>
              <a:t>丹後</a:t>
            </a:r>
            <a:r>
              <a:rPr lang="en-US" altLang="ja-JP" sz="1400"/>
              <a:t>, </a:t>
            </a:r>
            <a:r>
              <a:rPr lang="ja-JP" altLang="en-US" sz="1400"/>
              <a:t>京都</a:t>
            </a:r>
            <a:r>
              <a:rPr lang="en-US" altLang="ja-JP" sz="1400"/>
              <a:t>, </a:t>
            </a:r>
            <a:r>
              <a:rPr lang="ja-JP" altLang="en-US" sz="1400"/>
              <a:t>元岡</a:t>
            </a:r>
            <a:r>
              <a:rPr lang="en-US" altLang="ja-JP" sz="1400"/>
              <a:t>, </a:t>
            </a:r>
            <a:r>
              <a:rPr lang="ja-JP" altLang="en-US" sz="1400"/>
              <a:t>内保</a:t>
            </a:r>
            <a:r>
              <a:rPr lang="en-US" altLang="ja-JP" sz="1400"/>
              <a:t>, </a:t>
            </a:r>
            <a:r>
              <a:rPr lang="ja-JP" altLang="en-US" sz="1400"/>
              <a:t>土井</a:t>
            </a:r>
            <a:r>
              <a:rPr lang="en-US" altLang="ja-JP" sz="1400"/>
              <a:t>, </a:t>
            </a:r>
            <a:r>
              <a:rPr lang="ja-JP" altLang="en-US" sz="1400"/>
              <a:t>宮谷</a:t>
            </a:r>
            <a:r>
              <a:rPr lang="en-US" altLang="ja-JP" sz="1400"/>
              <a:t>, </a:t>
            </a:r>
            <a:r>
              <a:rPr lang="ja-JP" altLang="en-US" sz="1400"/>
              <a:t>山口</a:t>
            </a:r>
            <a:r>
              <a:rPr lang="en-US" altLang="ja-JP" sz="1400"/>
              <a:t>, </a:t>
            </a:r>
            <a:r>
              <a:rPr lang="ja-JP" altLang="en-US" sz="1400"/>
              <a:t>彦沢</a:t>
            </a:r>
            <a:r>
              <a:rPr lang="en-US" altLang="ja-JP" sz="1400"/>
              <a:t>, </a:t>
            </a:r>
            <a:r>
              <a:rPr lang="ja-JP" altLang="en-US" sz="1400"/>
              <a:t>日内</a:t>
            </a:r>
            <a:r>
              <a:rPr lang="en-US" altLang="ja-JP" sz="1400"/>
              <a:t>, </a:t>
            </a:r>
            <a:r>
              <a:rPr lang="ja-JP" altLang="en-US" sz="1400"/>
              <a:t>毛利</a:t>
            </a:r>
            <a:r>
              <a:rPr lang="en-US" altLang="ja-JP" sz="1400"/>
              <a:t>, </a:t>
            </a:r>
            <a:r>
              <a:rPr lang="ja-JP" altLang="en-US" sz="1400"/>
              <a:t>生葉</a:t>
            </a:r>
            <a:r>
              <a:rPr lang="en-US" altLang="ja-JP" sz="1400"/>
              <a:t>, </a:t>
            </a:r>
            <a:r>
              <a:rPr lang="ja-JP" altLang="en-US" sz="1400"/>
              <a:t>的場</a:t>
            </a:r>
            <a:r>
              <a:rPr lang="en-US" altLang="ja-JP" sz="1400"/>
              <a:t>, </a:t>
            </a:r>
            <a:r>
              <a:rPr lang="ja-JP" altLang="en-US" sz="1400"/>
              <a:t>福生</a:t>
            </a:r>
            <a:r>
              <a:rPr lang="en-US" altLang="ja-JP" sz="1400"/>
              <a:t>, </a:t>
            </a:r>
            <a:r>
              <a:rPr lang="ja-JP" altLang="en-US" sz="1400"/>
              <a:t>稲津</a:t>
            </a:r>
            <a:r>
              <a:rPr lang="en-US" altLang="ja-JP" sz="1400"/>
              <a:t>, </a:t>
            </a:r>
            <a:r>
              <a:rPr lang="ja-JP" altLang="en-US" sz="1400"/>
              <a:t>大学北</a:t>
            </a:r>
            <a:r>
              <a:rPr lang="en-US" altLang="ja-JP" sz="1400"/>
              <a:t>, </a:t>
            </a:r>
            <a:r>
              <a:rPr lang="ja-JP" altLang="en-US" sz="1400"/>
              <a:t>小笠原</a:t>
            </a:r>
            <a:r>
              <a:rPr lang="en-US" altLang="ja-JP" sz="1400"/>
              <a:t>, </a:t>
            </a:r>
            <a:r>
              <a:rPr lang="ja-JP" altLang="en-US" sz="1400"/>
              <a:t>東日本</a:t>
            </a:r>
            <a:r>
              <a:rPr lang="en-US" altLang="ja-JP" sz="1400"/>
              <a:t>, </a:t>
            </a:r>
            <a:r>
              <a:rPr lang="ja-JP" altLang="en-US" sz="1400"/>
              <a:t>琵琶湖</a:t>
            </a:r>
            <a:r>
              <a:rPr lang="en-US" altLang="ja-JP" sz="1400"/>
              <a:t>, </a:t>
            </a:r>
            <a:r>
              <a:rPr lang="ja-JP" altLang="en-US" sz="1400"/>
              <a:t>ベルゲン</a:t>
            </a:r>
            <a:r>
              <a:rPr lang="en-US" altLang="ja-JP" sz="1400"/>
              <a:t>, </a:t>
            </a:r>
            <a:r>
              <a:rPr lang="ja-JP" altLang="en-US" sz="1400"/>
              <a:t>ワシントン</a:t>
            </a:r>
            <a:r>
              <a:rPr lang="en-US" altLang="ja-JP" sz="1400"/>
              <a:t>, </a:t>
            </a:r>
            <a:r>
              <a:rPr lang="ja-JP" altLang="en-US" sz="1400"/>
              <a:t>マンチェスター</a:t>
            </a:r>
            <a:r>
              <a:rPr lang="en-US" altLang="ja-JP" sz="1400"/>
              <a:t>, </a:t>
            </a:r>
            <a:r>
              <a:rPr lang="en" altLang="ja-JP" sz="1400"/>
              <a:t>ATP</a:t>
            </a:r>
          </a:p>
        </p:txBody>
      </p:sp>
      <p:sp>
        <p:nvSpPr>
          <p:cNvPr id="14" name="テキスト ボックス 13">
            <a:extLst>
              <a:ext uri="{FF2B5EF4-FFF2-40B4-BE49-F238E27FC236}">
                <a16:creationId xmlns:a16="http://schemas.microsoft.com/office/drawing/2014/main" id="{C94994D4-CB44-7FED-88F4-CD690297D941}"/>
              </a:ext>
            </a:extLst>
          </p:cNvPr>
          <p:cNvSpPr txBox="1"/>
          <p:nvPr/>
        </p:nvSpPr>
        <p:spPr>
          <a:xfrm>
            <a:off x="6674732" y="4507916"/>
            <a:ext cx="4570482" cy="369332"/>
          </a:xfrm>
          <a:prstGeom prst="rect">
            <a:avLst/>
          </a:prstGeom>
          <a:noFill/>
        </p:spPr>
        <p:txBody>
          <a:bodyPr wrap="none" rtlCol="0">
            <a:spAutoFit/>
          </a:bodyPr>
          <a:lstStyle/>
          <a:p>
            <a:r>
              <a:rPr kumimoji="1" lang="ja-JP" altLang="en-US"/>
              <a:t>地名でないと判定された場合があるターム</a:t>
            </a:r>
          </a:p>
        </p:txBody>
      </p:sp>
      <p:sp>
        <p:nvSpPr>
          <p:cNvPr id="3" name="テキスト ボックス 2">
            <a:extLst>
              <a:ext uri="{FF2B5EF4-FFF2-40B4-BE49-F238E27FC236}">
                <a16:creationId xmlns:a16="http://schemas.microsoft.com/office/drawing/2014/main" id="{1AC3567B-D659-985B-5383-1843046D4AA0}"/>
              </a:ext>
            </a:extLst>
          </p:cNvPr>
          <p:cNvSpPr txBox="1"/>
          <p:nvPr/>
        </p:nvSpPr>
        <p:spPr>
          <a:xfrm>
            <a:off x="1442454" y="6440076"/>
            <a:ext cx="3707085" cy="276999"/>
          </a:xfrm>
          <a:prstGeom prst="rect">
            <a:avLst/>
          </a:prstGeom>
          <a:noFill/>
        </p:spPr>
        <p:txBody>
          <a:bodyPr wrap="square" rtlCol="0">
            <a:spAutoFit/>
          </a:bodyPr>
          <a:lstStyle/>
          <a:p>
            <a:r>
              <a:rPr kumimoji="1" lang="en-US" altLang="ja-JP" sz="1200" dirty="0"/>
              <a:t>※</a:t>
            </a:r>
            <a:r>
              <a:rPr kumimoji="1" lang="ja-JP" altLang="en-US" sz="1200"/>
              <a:t>決定は</a:t>
            </a:r>
            <a:r>
              <a:rPr kumimoji="1" lang="en-US" altLang="ja-JP" sz="1200" dirty="0"/>
              <a:t>2</a:t>
            </a:r>
            <a:r>
              <a:rPr kumimoji="1" lang="ja-JP" altLang="en-US" sz="1200"/>
              <a:t>種の</a:t>
            </a:r>
            <a:r>
              <a:rPr kumimoji="1" lang="en-US" altLang="ja-JP" sz="1200" dirty="0"/>
              <a:t>AI</a:t>
            </a:r>
            <a:r>
              <a:rPr kumimoji="1" lang="ja-JP" altLang="en-US" sz="1200"/>
              <a:t>、</a:t>
            </a:r>
            <a:r>
              <a:rPr kumimoji="1" lang="en-US" altLang="ja-JP" sz="1200" dirty="0"/>
              <a:t>3</a:t>
            </a:r>
            <a:r>
              <a:rPr kumimoji="1" lang="ja-JP" altLang="en-US" sz="1200"/>
              <a:t>名の人による各サイトの多数決</a:t>
            </a:r>
            <a:endParaRPr kumimoji="1" lang="en-US" altLang="ja-JP" sz="1200" dirty="0"/>
          </a:p>
        </p:txBody>
      </p:sp>
      <p:sp>
        <p:nvSpPr>
          <p:cNvPr id="7" name="テキスト ボックス 6">
            <a:extLst>
              <a:ext uri="{FF2B5EF4-FFF2-40B4-BE49-F238E27FC236}">
                <a16:creationId xmlns:a16="http://schemas.microsoft.com/office/drawing/2014/main" id="{EBC72453-F203-9733-C732-74FCECACCD22}"/>
              </a:ext>
            </a:extLst>
          </p:cNvPr>
          <p:cNvSpPr txBox="1"/>
          <p:nvPr/>
        </p:nvSpPr>
        <p:spPr>
          <a:xfrm>
            <a:off x="6731881" y="585694"/>
            <a:ext cx="2723823" cy="369332"/>
          </a:xfrm>
          <a:prstGeom prst="rect">
            <a:avLst/>
          </a:prstGeom>
          <a:noFill/>
        </p:spPr>
        <p:txBody>
          <a:bodyPr wrap="none" rtlCol="0">
            <a:spAutoFit/>
          </a:bodyPr>
          <a:lstStyle/>
          <a:p>
            <a:r>
              <a:rPr kumimoji="1" lang="ja-JP" altLang="en-US"/>
              <a:t>地名が出現した報告書数</a:t>
            </a:r>
          </a:p>
        </p:txBody>
      </p:sp>
      <p:pic>
        <p:nvPicPr>
          <p:cNvPr id="15" name="図 14">
            <a:extLst>
              <a:ext uri="{FF2B5EF4-FFF2-40B4-BE49-F238E27FC236}">
                <a16:creationId xmlns:a16="http://schemas.microsoft.com/office/drawing/2014/main" id="{F9380533-B022-AD19-01E0-1646732B0451}"/>
              </a:ext>
            </a:extLst>
          </p:cNvPr>
          <p:cNvPicPr>
            <a:picLocks noChangeAspect="1"/>
          </p:cNvPicPr>
          <p:nvPr/>
        </p:nvPicPr>
        <p:blipFill>
          <a:blip r:embed="rId4"/>
          <a:stretch>
            <a:fillRect/>
          </a:stretch>
        </p:blipFill>
        <p:spPr>
          <a:xfrm>
            <a:off x="7003278" y="997265"/>
            <a:ext cx="1185501" cy="750118"/>
          </a:xfrm>
          <a:prstGeom prst="rect">
            <a:avLst/>
          </a:prstGeom>
        </p:spPr>
      </p:pic>
    </p:spTree>
    <p:extLst>
      <p:ext uri="{BB962C8B-B14F-4D97-AF65-F5344CB8AC3E}">
        <p14:creationId xmlns:p14="http://schemas.microsoft.com/office/powerpoint/2010/main" val="2082332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9DA51-A403-7873-5F7E-B6D6929B0E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C6B37F8-D551-CB67-7D8F-C28C1E761DA6}"/>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まとめ</a:t>
            </a:r>
          </a:p>
        </p:txBody>
      </p:sp>
      <p:sp>
        <p:nvSpPr>
          <p:cNvPr id="3" name="テキスト ボックス 2">
            <a:extLst>
              <a:ext uri="{FF2B5EF4-FFF2-40B4-BE49-F238E27FC236}">
                <a16:creationId xmlns:a16="http://schemas.microsoft.com/office/drawing/2014/main" id="{ECA3ACB1-7262-E3EE-C4CE-FD8716E60AC9}"/>
              </a:ext>
            </a:extLst>
          </p:cNvPr>
          <p:cNvSpPr txBox="1"/>
          <p:nvPr/>
        </p:nvSpPr>
        <p:spPr>
          <a:xfrm>
            <a:off x="766119" y="816415"/>
            <a:ext cx="3896497" cy="646331"/>
          </a:xfrm>
          <a:prstGeom prst="rect">
            <a:avLst/>
          </a:prstGeom>
          <a:noFill/>
          <a:ln w="12700">
            <a:solidFill>
              <a:schemeClr val="tx1"/>
            </a:solidFill>
          </a:ln>
        </p:spPr>
        <p:txBody>
          <a:bodyPr wrap="square" rtlCol="0">
            <a:spAutoFit/>
          </a:bodyPr>
          <a:lstStyle/>
          <a:p>
            <a:r>
              <a:rPr lang="en-US" altLang="ja-JP"/>
              <a:t>NER</a:t>
            </a:r>
            <a:r>
              <a:rPr lang="ja-JP" altLang="en-US"/>
              <a:t>と判定との差が大きい</a:t>
            </a:r>
            <a:endParaRPr lang="en-US" altLang="ja-JP"/>
          </a:p>
          <a:p>
            <a:pPr marL="285750" indent="-285750">
              <a:buFont typeface="Arial" panose="020B0604020202020204" pitchFamily="34" charset="0"/>
              <a:buChar char="•"/>
            </a:pPr>
            <a:r>
              <a:rPr kumimoji="1" lang="en-US" altLang="ja-JP"/>
              <a:t>7%~34%</a:t>
            </a:r>
          </a:p>
        </p:txBody>
      </p:sp>
      <p:sp>
        <p:nvSpPr>
          <p:cNvPr id="7" name="テキスト ボックス 6">
            <a:extLst>
              <a:ext uri="{FF2B5EF4-FFF2-40B4-BE49-F238E27FC236}">
                <a16:creationId xmlns:a16="http://schemas.microsoft.com/office/drawing/2014/main" id="{9E2E33CE-9C6A-5290-EC10-6F434CA0EA20}"/>
              </a:ext>
            </a:extLst>
          </p:cNvPr>
          <p:cNvSpPr txBox="1"/>
          <p:nvPr/>
        </p:nvSpPr>
        <p:spPr>
          <a:xfrm>
            <a:off x="6096000" y="816415"/>
            <a:ext cx="5395783" cy="2862322"/>
          </a:xfrm>
          <a:prstGeom prst="rect">
            <a:avLst/>
          </a:prstGeom>
          <a:noFill/>
        </p:spPr>
        <p:txBody>
          <a:bodyPr wrap="square" rtlCol="0">
            <a:spAutoFit/>
          </a:bodyPr>
          <a:lstStyle/>
          <a:p>
            <a:r>
              <a:rPr kumimoji="1" lang="ja-JP" altLang="en-US"/>
              <a:t>日本語</a:t>
            </a:r>
            <a:r>
              <a:rPr kumimoji="1" lang="en-US" altLang="ja-JP"/>
              <a:t>NER</a:t>
            </a:r>
            <a:r>
              <a:rPr kumimoji="1" lang="ja-JP" altLang="en-US"/>
              <a:t>に関して</a:t>
            </a:r>
            <a:endParaRPr kumimoji="1" lang="en-US" altLang="ja-JP"/>
          </a:p>
          <a:p>
            <a:pPr marL="285750" indent="-285750">
              <a:buFont typeface="Arial" panose="020B0604020202020204" pitchFamily="34" charset="0"/>
              <a:buChar char="•"/>
            </a:pPr>
            <a:r>
              <a:rPr kumimoji="1" lang="ja-JP" altLang="en-US"/>
              <a:t>形態素解析のみでの解決は難しい</a:t>
            </a:r>
            <a:endParaRPr kumimoji="1" lang="en-US" altLang="ja-JP"/>
          </a:p>
          <a:p>
            <a:pPr marL="742950" lvl="1" indent="-285750">
              <a:buFont typeface="Arial" panose="020B0604020202020204" pitchFamily="34" charset="0"/>
              <a:buChar char="•"/>
            </a:pPr>
            <a:r>
              <a:rPr kumimoji="1" lang="ja-JP" altLang="en-US"/>
              <a:t>（人が見た時に）明らかに人名である場合も地名と認識する場合がかなりある</a:t>
            </a:r>
            <a:endParaRPr kumimoji="1" lang="en-US" altLang="ja-JP"/>
          </a:p>
          <a:p>
            <a:pPr marL="285750" indent="-285750">
              <a:buFont typeface="Arial" panose="020B0604020202020204" pitchFamily="34" charset="0"/>
              <a:buChar char="•"/>
            </a:pPr>
            <a:r>
              <a:rPr lang="ja-JP" altLang="en-US"/>
              <a:t>非常に細やかなルールの設定とエキスパートとしての訓練が必要であることを示唆している</a:t>
            </a:r>
            <a:endParaRPr lang="en-US" altLang="ja-JP"/>
          </a:p>
          <a:p>
            <a:endParaRPr lang="en-US" altLang="ja-JP"/>
          </a:p>
          <a:p>
            <a:r>
              <a:rPr lang="en-US" altLang="ja-JP"/>
              <a:t>AI</a:t>
            </a:r>
            <a:r>
              <a:rPr lang="ja-JP" altLang="en-US"/>
              <a:t>特有の問題</a:t>
            </a:r>
          </a:p>
          <a:p>
            <a:pPr marL="285750" indent="-285750">
              <a:buFont typeface="Arial" panose="020B0604020202020204" pitchFamily="34" charset="0"/>
              <a:buChar char="•"/>
            </a:pPr>
            <a:r>
              <a:rPr kumimoji="1" lang="ja-JP" altLang="en-US"/>
              <a:t>本研究は、</a:t>
            </a:r>
            <a:r>
              <a:rPr kumimoji="1" lang="en-US" altLang="ja-JP"/>
              <a:t>AI</a:t>
            </a:r>
            <a:r>
              <a:rPr kumimoji="1" lang="ja-JP" altLang="en-US"/>
              <a:t>に関しては判定よりも「出力形式」が問題となったケースであった。</a:t>
            </a:r>
          </a:p>
        </p:txBody>
      </p:sp>
      <p:sp>
        <p:nvSpPr>
          <p:cNvPr id="9" name="テキスト ボックス 8">
            <a:extLst>
              <a:ext uri="{FF2B5EF4-FFF2-40B4-BE49-F238E27FC236}">
                <a16:creationId xmlns:a16="http://schemas.microsoft.com/office/drawing/2014/main" id="{E1928388-C9F5-89BD-8736-99A9A7963599}"/>
              </a:ext>
            </a:extLst>
          </p:cNvPr>
          <p:cNvSpPr txBox="1"/>
          <p:nvPr/>
        </p:nvSpPr>
        <p:spPr>
          <a:xfrm>
            <a:off x="766119" y="1870569"/>
            <a:ext cx="3896497" cy="923330"/>
          </a:xfrm>
          <a:prstGeom prst="rect">
            <a:avLst/>
          </a:prstGeom>
          <a:noFill/>
          <a:ln w="12700">
            <a:solidFill>
              <a:schemeClr val="tx1"/>
            </a:solidFill>
          </a:ln>
        </p:spPr>
        <p:txBody>
          <a:bodyPr wrap="square" rtlCol="0">
            <a:spAutoFit/>
          </a:bodyPr>
          <a:lstStyle/>
          <a:p>
            <a:r>
              <a:rPr lang="ja-JP" altLang="en-US"/>
              <a:t>判定（者）間でも差が大きい</a:t>
            </a:r>
            <a:endParaRPr lang="en-US" altLang="ja-JP"/>
          </a:p>
          <a:p>
            <a:pPr marL="285750" indent="-285750">
              <a:buFont typeface="Arial" panose="020B0604020202020204" pitchFamily="34" charset="0"/>
              <a:buChar char="•"/>
            </a:pPr>
            <a:r>
              <a:rPr lang="ja-JP" altLang="en-US"/>
              <a:t>最大</a:t>
            </a:r>
            <a:r>
              <a:rPr lang="en-US" altLang="ja-JP"/>
              <a:t>34%</a:t>
            </a:r>
          </a:p>
          <a:p>
            <a:pPr marL="285750" indent="-285750">
              <a:buFont typeface="Arial" panose="020B0604020202020204" pitchFamily="34" charset="0"/>
              <a:buChar char="•"/>
            </a:pPr>
            <a:r>
              <a:rPr lang="ja-JP" altLang="en-US"/>
              <a:t>人と人でも</a:t>
            </a:r>
            <a:r>
              <a:rPr lang="en-US" altLang="ja-JP"/>
              <a:t>7%</a:t>
            </a:r>
          </a:p>
        </p:txBody>
      </p:sp>
      <p:sp>
        <p:nvSpPr>
          <p:cNvPr id="11" name="テキスト ボックス 10">
            <a:extLst>
              <a:ext uri="{FF2B5EF4-FFF2-40B4-BE49-F238E27FC236}">
                <a16:creationId xmlns:a16="http://schemas.microsoft.com/office/drawing/2014/main" id="{F601E439-4975-999E-D8D5-C26D7DD78E5A}"/>
              </a:ext>
            </a:extLst>
          </p:cNvPr>
          <p:cNvSpPr txBox="1"/>
          <p:nvPr/>
        </p:nvSpPr>
        <p:spPr>
          <a:xfrm>
            <a:off x="766119" y="3201722"/>
            <a:ext cx="3896496" cy="646331"/>
          </a:xfrm>
          <a:prstGeom prst="rect">
            <a:avLst/>
          </a:prstGeom>
          <a:noFill/>
          <a:ln w="12700">
            <a:solidFill>
              <a:schemeClr val="tx1"/>
            </a:solidFill>
          </a:ln>
        </p:spPr>
        <p:txBody>
          <a:bodyPr wrap="square" rtlCol="0">
            <a:spAutoFit/>
          </a:bodyPr>
          <a:lstStyle/>
          <a:p>
            <a:r>
              <a:rPr lang="en-US" altLang="ja-JP"/>
              <a:t>AI</a:t>
            </a:r>
            <a:r>
              <a:rPr lang="ja-JP" altLang="en-US"/>
              <a:t>の出力形式が課題</a:t>
            </a:r>
            <a:endParaRPr lang="en-US" altLang="ja-JP"/>
          </a:p>
          <a:p>
            <a:pPr marL="285750" indent="-285750">
              <a:buFont typeface="Arial" panose="020B0604020202020204" pitchFamily="34" charset="0"/>
              <a:buChar char="•"/>
            </a:pPr>
            <a:r>
              <a:rPr lang="ja-JP" altLang="en-US"/>
              <a:t>最大でも</a:t>
            </a:r>
            <a:r>
              <a:rPr lang="en-US" altLang="ja-JP"/>
              <a:t>75%</a:t>
            </a:r>
            <a:r>
              <a:rPr lang="ja-JP" altLang="en-US"/>
              <a:t>の適正率</a:t>
            </a:r>
            <a:endParaRPr lang="en-US" altLang="ja-JP"/>
          </a:p>
        </p:txBody>
      </p:sp>
      <p:sp>
        <p:nvSpPr>
          <p:cNvPr id="12" name="テキスト ボックス 11">
            <a:extLst>
              <a:ext uri="{FF2B5EF4-FFF2-40B4-BE49-F238E27FC236}">
                <a16:creationId xmlns:a16="http://schemas.microsoft.com/office/drawing/2014/main" id="{8880220B-4CFD-DE88-C97E-37E5DBC99497}"/>
              </a:ext>
            </a:extLst>
          </p:cNvPr>
          <p:cNvSpPr txBox="1"/>
          <p:nvPr/>
        </p:nvSpPr>
        <p:spPr>
          <a:xfrm>
            <a:off x="766119" y="4255876"/>
            <a:ext cx="3896496" cy="1200329"/>
          </a:xfrm>
          <a:prstGeom prst="rect">
            <a:avLst/>
          </a:prstGeom>
          <a:noFill/>
          <a:ln w="12700">
            <a:solidFill>
              <a:schemeClr val="tx1"/>
            </a:solidFill>
          </a:ln>
        </p:spPr>
        <p:txBody>
          <a:bodyPr wrap="square" rtlCol="0">
            <a:spAutoFit/>
          </a:bodyPr>
          <a:lstStyle/>
          <a:p>
            <a:r>
              <a:rPr lang="ja-JP" altLang="en-US"/>
              <a:t>指標（特徴化）の可能性</a:t>
            </a:r>
            <a:endParaRPr lang="en-US" altLang="ja-JP"/>
          </a:p>
          <a:p>
            <a:pPr marL="285750" indent="-285750">
              <a:buFont typeface="Arial" panose="020B0604020202020204" pitchFamily="34" charset="0"/>
              <a:buChar char="•"/>
            </a:pPr>
            <a:r>
              <a:rPr lang="ja-JP" altLang="en-US"/>
              <a:t>地名決定の精度が低いことを考慮しても大学ごとの特徴を捉えているように見える</a:t>
            </a:r>
            <a:endParaRPr lang="en-US" altLang="ja-JP"/>
          </a:p>
        </p:txBody>
      </p:sp>
    </p:spTree>
    <p:extLst>
      <p:ext uri="{BB962C8B-B14F-4D97-AF65-F5344CB8AC3E}">
        <p14:creationId xmlns:p14="http://schemas.microsoft.com/office/powerpoint/2010/main" val="134913515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1080</TotalTime>
  <Words>3121</Words>
  <Application>Microsoft Macintosh PowerPoint</Application>
  <PresentationFormat>ワイド画面</PresentationFormat>
  <Paragraphs>307</Paragraphs>
  <Slides>18</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18</vt:i4>
      </vt:variant>
    </vt:vector>
  </HeadingPairs>
  <TitlesOfParts>
    <vt:vector size="24"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マテリアル・方法（NER）</vt:lpstr>
      <vt:lpstr>マテリアル・方法（判定依頼プロンプト）</vt:lpstr>
      <vt:lpstr>マテリアル・方法（AI・人への依頼条件等）</vt:lpstr>
      <vt:lpstr>マテリアル・方法（JSON形式の例）</vt:lpstr>
      <vt:lpstr>結果(出力の例)</vt:lpstr>
      <vt:lpstr>結果(正しい出力形式)</vt:lpstr>
      <vt:lpstr>結果(NERに対する判定の差異)</vt:lpstr>
      <vt:lpstr>結果(NERに対する修正の程度)</vt:lpstr>
      <vt:lpstr>結果(決定された地名)</vt:lpstr>
      <vt:lpstr>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187</cp:revision>
  <dcterms:created xsi:type="dcterms:W3CDTF">2026-03-04T23:37:53Z</dcterms:created>
  <dcterms:modified xsi:type="dcterms:W3CDTF">2026-05-01T05:07:22Z</dcterms:modified>
</cp:coreProperties>
</file>