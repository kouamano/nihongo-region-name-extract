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6" r:id="rId3"/>
    <p:sldId id="303" r:id="rId4"/>
    <p:sldId id="304" r:id="rId5"/>
    <p:sldId id="306" r:id="rId6"/>
    <p:sldId id="313" r:id="rId7"/>
    <p:sldId id="305" r:id="rId8"/>
    <p:sldId id="307" r:id="rId9"/>
    <p:sldId id="308" r:id="rId10"/>
    <p:sldId id="309" r:id="rId11"/>
    <p:sldId id="310" r:id="rId12"/>
    <p:sldId id="312" r:id="rId1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92"/>
    <p:restoredTop sz="94658"/>
  </p:normalViewPr>
  <p:slideViewPr>
    <p:cSldViewPr snapToGrid="0">
      <p:cViewPr varScale="1">
        <p:scale>
          <a:sx n="120" d="100"/>
          <a:sy n="120" d="100"/>
        </p:scale>
        <p:origin x="81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2026/4/27</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ir.library.osaka-u.ac.jp/repo/ouka/all/93281/IPSJ-JNL_63_2_310.pdf" TargetMode="External"/><Relationship Id="rId2" Type="http://schemas.openxmlformats.org/officeDocument/2006/relationships/hyperlink" Target="https://www.anlp.jp/proceedings/annual_meeting/2024/pdf_dir/C8-5.pdf" TargetMode="External"/><Relationship Id="rId1" Type="http://schemas.openxmlformats.org/officeDocument/2006/relationships/slideLayout" Target="../slideLayouts/slideLayout2.xml"/><Relationship Id="rId4" Type="http://schemas.openxmlformats.org/officeDocument/2006/relationships/hyperlink" Target="https://aclanthology.org/C14-1147.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2292989" y="3842010"/>
            <a:ext cx="7606021"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830997"/>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801314"/>
          </a:xfrm>
          <a:prstGeom prst="rect">
            <a:avLst/>
          </a:prstGeom>
          <a:noFill/>
        </p:spPr>
        <p:txBody>
          <a:bodyPr wrap="square" rtlCol="0">
            <a:spAutoFit/>
          </a:bodyPr>
          <a:lstStyle/>
          <a:p>
            <a:r>
              <a:rPr lang="ja-JP" altLang="en-US"/>
              <a:t>文書（特に日本語）からの固有表現の抽出・判定に関して、</a:t>
            </a:r>
            <a:endParaRPr lang="en-US" altLang="ja-JP"/>
          </a:p>
          <a:p>
            <a:endParaRPr lang="en-US" altLang="ja-JP" b="1"/>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「地名」、「人名」、「固有現象名」等にかかる記述の特定（形態素の特徴量が十分か・正しいか）</a:t>
            </a:r>
            <a:endParaRPr lang="en-US" altLang="ja-JP"/>
          </a:p>
          <a:p>
            <a:pPr marL="742950" lvl="1" indent="-285750">
              <a:buFont typeface="Arial" panose="020B0604020202020204" pitchFamily="34" charset="0"/>
              <a:buChar char="•"/>
            </a:pPr>
            <a:r>
              <a:rPr lang="ja-JP" altLang="en-US"/>
              <a:t>例</a:t>
            </a:r>
            <a:r>
              <a:rPr lang="en-US" altLang="ja-JP"/>
              <a:t>: </a:t>
            </a:r>
            <a:r>
              <a:rPr lang="ja-JP" altLang="en-US"/>
              <a:t>人名を地名と特定する可能性が残る</a:t>
            </a:r>
            <a:endParaRPr lang="en-US" altLang="ja-JP" dirty="0"/>
          </a:p>
          <a:p>
            <a:pPr marL="285750" indent="-285750">
              <a:buFont typeface="Arial" panose="020B0604020202020204" pitchFamily="34" charset="0"/>
              <a:buChar char="•"/>
            </a:pPr>
            <a:r>
              <a:rPr lang="ja-JP" altLang="en-US"/>
              <a:t>特定する記述のレベル（複合語等）</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a:t>NER</a:t>
            </a:r>
            <a:r>
              <a:rPr lang="ja-JP" altLang="en-US"/>
              <a:t>にはないさらに上位の概念の付与）</a:t>
            </a:r>
            <a:endParaRPr lang="en-US" altLang="ja-JP" dirty="0"/>
          </a:p>
          <a:p>
            <a:endParaRPr lang="en-US" altLang="ja-JP" dirty="0"/>
          </a:p>
          <a:p>
            <a:r>
              <a:rPr lang="ja-JP" altLang="en-US" b="1"/>
              <a:t>◾️特に地名にかかる課題として</a:t>
            </a:r>
            <a:endParaRPr lang="en-US" altLang="ja-JP" b="1" dirty="0"/>
          </a:p>
          <a:p>
            <a:r>
              <a:rPr lang="ja-JP" altLang="en-US" b="1"/>
              <a:t>▪️名称そのもの</a:t>
            </a:r>
            <a:endParaRPr lang="en-US" altLang="ja-JP" b="1"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pPr marL="285750" indent="-285750">
              <a:buFont typeface="Arial" panose="020B0604020202020204" pitchFamily="34" charset="0"/>
              <a:buChar char="•"/>
            </a:pPr>
            <a:r>
              <a:rPr lang="ja-JP" altLang="en-US"/>
              <a:t>複合名詞の一部としての地名をどのように判定するか</a:t>
            </a:r>
            <a:endParaRPr lang="en-US" altLang="ja-JP" dirty="0"/>
          </a:p>
          <a:p>
            <a:endParaRPr lang="en-US" altLang="ja-JP" dirty="0"/>
          </a:p>
          <a:p>
            <a:r>
              <a:rPr lang="ja-JP" altLang="en-US" b="1"/>
              <a:t>▪️名称の関係性</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(https://www.tandfonline.com/doi/full/10.1080/13658816.2024.2405182)</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2"/>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3"/>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4"/>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2308324"/>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0" y="3644206"/>
            <a:ext cx="12192000" cy="1754326"/>
          </a:xfrm>
          <a:prstGeom prst="rect">
            <a:avLst/>
          </a:prstGeom>
          <a:noFill/>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曖昧性解決においても地理情報と結びつけて行うものがほとんど</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577517"/>
            <a:ext cx="12192000" cy="1754326"/>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870751" cy="369332"/>
          </a:xfrm>
          <a:prstGeom prst="rect">
            <a:avLst/>
          </a:prstGeom>
          <a:noFill/>
        </p:spPr>
        <p:txBody>
          <a:bodyPr wrap="none" rtlCol="0">
            <a:spAutoFit/>
          </a:bodyPr>
          <a:lstStyle/>
          <a:p>
            <a:r>
              <a:rPr kumimoji="1" lang="en-US" altLang="ja-JP"/>
              <a:t>n=200</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名による判定結果を選抜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78950"/>
            <a:ext cx="998991" cy="369332"/>
          </a:xfrm>
          <a:prstGeom prst="rect">
            <a:avLst/>
          </a:prstGeom>
          <a:noFill/>
        </p:spPr>
        <p:txBody>
          <a:bodyPr wrap="none" rtlCol="0">
            <a:spAutoFit/>
          </a:bodyPr>
          <a:lstStyle/>
          <a:p>
            <a:r>
              <a:rPr kumimoji="1" lang="en-US" altLang="ja-JP"/>
              <a:t>n=1200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11498"/>
            <a:ext cx="870751" cy="369332"/>
          </a:xfrm>
          <a:prstGeom prst="rect">
            <a:avLst/>
          </a:prstGeom>
          <a:noFill/>
        </p:spPr>
        <p:txBody>
          <a:bodyPr wrap="none" rtlCol="0">
            <a:spAutoFit/>
          </a:bodyPr>
          <a:lstStyle/>
          <a:p>
            <a:r>
              <a:rPr kumimoji="1" lang="en-US" altLang="ja-JP"/>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2428870" cy="369332"/>
          </a:xfrm>
          <a:prstGeom prst="rect">
            <a:avLst/>
          </a:prstGeom>
          <a:noFill/>
        </p:spPr>
        <p:txBody>
          <a:bodyPr wrap="none" rtlCol="0">
            <a:spAutoFit/>
          </a:bodyPr>
          <a:lstStyle/>
          <a:p>
            <a:r>
              <a:rPr lang="ja-JP" altLang="en-US"/>
              <a:t>（</a:t>
            </a:r>
            <a:r>
              <a:rPr lang="en-US" altLang="ja-JP"/>
              <a:t>99</a:t>
            </a:r>
            <a:r>
              <a:rPr lang="ja-JP" altLang="en-US"/>
              <a:t>報告書</a:t>
            </a:r>
            <a:r>
              <a:rPr lang="en-US" altLang="ja-JP"/>
              <a:t> x 5</a:t>
            </a:r>
            <a:r>
              <a:rPr lang="ja-JP" altLang="en-US"/>
              <a:t>判定）</a:t>
            </a:r>
            <a:endParaRPr kumimoji="1" lang="en-US" altLang="ja-JP"/>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405687" y="4050957"/>
            <a:ext cx="1619354" cy="276999"/>
          </a:xfrm>
          <a:prstGeom prst="rect">
            <a:avLst/>
          </a:prstGeom>
          <a:noFill/>
        </p:spPr>
        <p:txBody>
          <a:bodyPr wrap="none" rtlCol="0">
            <a:spAutoFit/>
          </a:bodyPr>
          <a:lstStyle/>
          <a:p>
            <a:r>
              <a:rPr kumimoji="1" lang="en-US" altLang="ja-JP" sz="1200"/>
              <a:t>3 AI</a:t>
            </a:r>
            <a:r>
              <a:rPr kumimoji="1" lang="ja-JP" altLang="en-US" sz="1200"/>
              <a:t>と</a:t>
            </a:r>
            <a:r>
              <a:rPr kumimoji="1" lang="en-US" altLang="ja-JP" sz="120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a:t>1</a:t>
            </a:r>
            <a:r>
              <a:rPr kumimoji="1" lang="en-US" altLang="ja-JP" sz="120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2350976" y="5626353"/>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8016240" y="1338244"/>
            <a:ext cx="2492990" cy="1754326"/>
          </a:xfrm>
          <a:prstGeom prst="rect">
            <a:avLst/>
          </a:prstGeom>
          <a:noFill/>
          <a:ln>
            <a:solidFill>
              <a:schemeClr val="dk1"/>
            </a:solidFill>
          </a:ln>
        </p:spPr>
        <p:txBody>
          <a:bodyPr wrap="none" rtlCol="0">
            <a:spAutoFit/>
          </a:bodyPr>
          <a:lstStyle/>
          <a:p>
            <a:r>
              <a:rPr kumimoji="1" lang="ja-JP" altLang="en-US"/>
              <a:t>修正の程度の差</a:t>
            </a:r>
            <a:endParaRPr kumimoji="1" lang="en-US" altLang="ja-JP"/>
          </a:p>
          <a:p>
            <a:r>
              <a:rPr lang="ja-JP" altLang="en-US"/>
              <a:t>・判定者による</a:t>
            </a:r>
            <a:endParaRPr lang="en-US" altLang="ja-JP"/>
          </a:p>
          <a:p>
            <a:r>
              <a:rPr lang="ja-JP" altLang="en-US"/>
              <a:t>　　・距離行列</a:t>
            </a:r>
            <a:endParaRPr lang="en-US" altLang="ja-JP"/>
          </a:p>
          <a:p>
            <a:r>
              <a:rPr lang="ja-JP" altLang="en-US"/>
              <a:t>　　・クラスタリング</a:t>
            </a:r>
            <a:endParaRPr lang="en-US" altLang="ja-JP"/>
          </a:p>
          <a:p>
            <a:r>
              <a:rPr kumimoji="1" lang="ja-JP" altLang="en-US"/>
              <a:t>・大学ごと</a:t>
            </a:r>
            <a:endParaRPr kumimoji="1" lang="en-US" altLang="ja-JP"/>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8016240" y="4491713"/>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a:p>
          <a:p>
            <a:r>
              <a:rPr kumimoji="1" lang="ja-JP" altLang="en-US"/>
              <a:t>・地名の例</a:t>
            </a:r>
            <a:endParaRPr kumimoji="1" lang="en-US" altLang="ja-JP"/>
          </a:p>
          <a:p>
            <a:r>
              <a:rPr lang="ja-JP" altLang="en-US"/>
              <a:t>・大学ごとの嗜好</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stCxn id="13" idx="3"/>
            <a:endCxn id="46" idx="1"/>
          </p:cNvCxnSpPr>
          <p:nvPr/>
        </p:nvCxnSpPr>
        <p:spPr>
          <a:xfrm flipV="1">
            <a:off x="4726307" y="2215407"/>
            <a:ext cx="3289933" cy="3072872"/>
          </a:xfrm>
          <a:prstGeom prst="bentConnector3">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953378"/>
            <a:ext cx="4400013" cy="1320003"/>
          </a:xfrm>
          <a:prstGeom prst="bentConnector3">
            <a:avLst>
              <a:gd name="adj1" fmla="val 80942"/>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Tree>
    <p:extLst>
      <p:ext uri="{BB962C8B-B14F-4D97-AF65-F5344CB8AC3E}">
        <p14:creationId xmlns:p14="http://schemas.microsoft.com/office/powerpoint/2010/main" val="29512899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0" y="1720840"/>
            <a:ext cx="12192000" cy="3416320"/>
          </a:xfrm>
          <a:prstGeom prst="rect">
            <a:avLst/>
          </a:prstGeom>
          <a:noFill/>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マテリアル・方法（使用した</a:t>
            </a:r>
            <a:r>
              <a:rPr kumimoji="1" lang="en-US" altLang="ja-JP" sz="3600" dirty="0"/>
              <a:t>AI</a:t>
            </a:r>
            <a:r>
              <a:rPr kumimoji="1" lang="ja-JP" altLang="en-US" sz="3600"/>
              <a:t>・人への依頼条件等）</a:t>
            </a:r>
          </a:p>
        </p:txBody>
      </p:sp>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endParaRPr kumimoji="1" lang="ja-JP" altLang="en-US" sz="3600"/>
          </a:p>
        </p:txBody>
      </p:sp>
    </p:spTree>
    <p:extLst>
      <p:ext uri="{BB962C8B-B14F-4D97-AF65-F5344CB8AC3E}">
        <p14:creationId xmlns:p14="http://schemas.microsoft.com/office/powerpoint/2010/main" val="263079619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595</TotalTime>
  <Words>1398</Words>
  <Application>Microsoft Macintosh PowerPoint</Application>
  <PresentationFormat>ワイド画面</PresentationFormat>
  <Paragraphs>152</Paragraphs>
  <Slides>12</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12</vt:i4>
      </vt:variant>
    </vt:vector>
  </HeadingPairs>
  <TitlesOfParts>
    <vt:vector size="18"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マテリアル・方法（JSON形式の例）</vt:lpstr>
      <vt:lpstr>マテリアル・方法（プロンプト）</vt:lpstr>
      <vt:lpstr>マテリアル・方法（使用したAI・人への依頼条件等）</vt:lpstr>
      <vt:lpstr>結果</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78</cp:revision>
  <dcterms:created xsi:type="dcterms:W3CDTF">2026-03-04T23:37:53Z</dcterms:created>
  <dcterms:modified xsi:type="dcterms:W3CDTF">2026-04-27T04:54:35Z</dcterms:modified>
</cp:coreProperties>
</file>